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2" r:id="rId11"/>
    <p:sldId id="265" r:id="rId12"/>
    <p:sldId id="266" r:id="rId13"/>
    <p:sldId id="267" r:id="rId14"/>
    <p:sldId id="271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Cost ($M)</c:v>
                </c:pt>
              </c:strCache>
            </c:strRef>
          </c:tx>
          <c:spPr>
            <a:solidFill>
              <a:srgbClr val="3D63D6"/>
            </a:solidFill>
            <a:effectLst/>
          </c:spPr>
          <c:invertIfNegative val="0"/>
          <c:dLbls>
            <c:numFmt formatCode="&quot;$&quot;0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2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DeepSeek-V3</c:v>
                </c:pt>
                <c:pt idx="1">
                  <c:v>LLaMA 3</c:v>
                </c:pt>
                <c:pt idx="2">
                  <c:v>GPT-4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</c:v>
                </c:pt>
                <c:pt idx="1">
                  <c:v>10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95-44E3-B788-ECCC184EA52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E3F0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C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AdamW</c:v>
                </c:pt>
              </c:strCache>
            </c:strRef>
          </c:tx>
          <c:spPr>
            <a:ln w="31750" cap="flat">
              <a:solidFill>
                <a:srgbClr val="838EA3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0</c:v>
                </c:pt>
                <c:pt idx="1">
                  <c:v>1k</c:v>
                </c:pt>
                <c:pt idx="2">
                  <c:v>2k</c:v>
                </c:pt>
                <c:pt idx="3">
                  <c:v>3k</c:v>
                </c:pt>
                <c:pt idx="4">
                  <c:v>4k</c:v>
                </c:pt>
                <c:pt idx="5">
                  <c:v>5k</c:v>
                </c:pt>
                <c:pt idx="6">
                  <c:v>6k</c:v>
                </c:pt>
                <c:pt idx="7">
                  <c:v>7k</c:v>
                </c:pt>
                <c:pt idx="8">
                  <c:v>8k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4.2</c:v>
                </c:pt>
                <c:pt idx="1">
                  <c:v>3.5</c:v>
                </c:pt>
                <c:pt idx="2">
                  <c:v>3.05</c:v>
                </c:pt>
                <c:pt idx="3">
                  <c:v>2.75</c:v>
                </c:pt>
                <c:pt idx="4">
                  <c:v>2.5499999999999998</c:v>
                </c:pt>
                <c:pt idx="5">
                  <c:v>2.4</c:v>
                </c:pt>
                <c:pt idx="6">
                  <c:v>2.2999999999999998</c:v>
                </c:pt>
                <c:pt idx="7">
                  <c:v>2.23</c:v>
                </c:pt>
                <c:pt idx="8">
                  <c:v>2.1800000000000002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5D0-4A4D-A838-62EBA906D85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Muon</c:v>
                </c:pt>
              </c:strCache>
            </c:strRef>
          </c:tx>
          <c:spPr>
            <a:ln w="31750" cap="flat">
              <a:solidFill>
                <a:srgbClr val="3D63D6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0</c:v>
                </c:pt>
                <c:pt idx="1">
                  <c:v>1k</c:v>
                </c:pt>
                <c:pt idx="2">
                  <c:v>2k</c:v>
                </c:pt>
                <c:pt idx="3">
                  <c:v>3k</c:v>
                </c:pt>
                <c:pt idx="4">
                  <c:v>4k</c:v>
                </c:pt>
                <c:pt idx="5">
                  <c:v>5k</c:v>
                </c:pt>
                <c:pt idx="6">
                  <c:v>6k</c:v>
                </c:pt>
                <c:pt idx="7">
                  <c:v>7k</c:v>
                </c:pt>
                <c:pt idx="8">
                  <c:v>8k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4.2</c:v>
                </c:pt>
                <c:pt idx="1">
                  <c:v>3.2</c:v>
                </c:pt>
                <c:pt idx="2">
                  <c:v>2.65</c:v>
                </c:pt>
                <c:pt idx="3">
                  <c:v>2.3199999999999998</c:v>
                </c:pt>
                <c:pt idx="4">
                  <c:v>2.1</c:v>
                </c:pt>
                <c:pt idx="5">
                  <c:v>1.95</c:v>
                </c:pt>
                <c:pt idx="6">
                  <c:v>1.85</c:v>
                </c:pt>
                <c:pt idx="7">
                  <c:v>1.78</c:v>
                </c:pt>
                <c:pt idx="8">
                  <c:v>1.73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5D0-4A4D-A838-62EBA906D8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E3F0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25C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3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DE3F0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25C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25C72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Probability</c:v>
                </c:pt>
              </c:strCache>
            </c:strRef>
          </c:tx>
          <c:spPr>
            <a:solidFill>
              <a:srgbClr val="7A4FD1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2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Paris</c:v>
                </c:pt>
                <c:pt idx="1">
                  <c:v>France</c:v>
                </c:pt>
                <c:pt idx="2">
                  <c:v>Lyon</c:v>
                </c:pt>
                <c:pt idx="3">
                  <c:v>Nice</c:v>
                </c:pt>
                <c:pt idx="4">
                  <c:v>a city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</c:v>
                </c:pt>
                <c:pt idx="1">
                  <c:v>9</c:v>
                </c:pt>
                <c:pt idx="2">
                  <c:v>5</c:v>
                </c:pt>
                <c:pt idx="3">
                  <c:v>2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4C-4D7A-BC12-85C36BB9F18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DE3F0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C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3423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18"/>
          <p:cNvSpPr/>
          <p:nvPr/>
        </p:nvSpPr>
        <p:spPr>
          <a:xfrm>
            <a:off x="352697" y="1180322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2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 LLM Architectures and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2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Methods Inspired by DeepSeek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352697" y="3009122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Mamba–Transformer architectures, efficient attention mechanisms, and modern optimizers for small-scale LLM research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52697" y="4014962"/>
            <a:ext cx="2926080" cy="0"/>
          </a:xfrm>
          <a:prstGeom prst="line">
            <a:avLst/>
          </a:prstGeom>
          <a:noFill/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52697" y="4197842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12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AIDS ·  SIES Graduate School of Technology
</a:t>
            </a:r>
            <a:r>
              <a:rPr lang="en-US" sz="125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[Student Names]   |   Guide: [Guide Name]   |   [Month]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6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3200" b="1" i="1" dirty="0">
                <a:solidFill>
                  <a:srgbClr val="12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“Better architecture, not bigger models.”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CF0FA"/>
          </a:solidFill>
          <a:ln w="12700">
            <a:solidFill>
              <a:srgbClr val="2740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63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8288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scale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214884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LLMs (GPT-4, Claude, Gemini) cost hundreds of millions of dollars to train — architectural innovation is the only realistic path to democratizing AI research.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04495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CF0FA"/>
          </a:solidFill>
          <a:ln w="12700">
            <a:solidFill>
              <a:srgbClr val="2740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3044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63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99923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DeepSeek's proof point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3319272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matched GPT-4-class performance at a fraction of the cost by rethinking architecture fundamentals, not by simply scaling up data and compute.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21538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CF0FA"/>
          </a:solidFill>
          <a:ln w="12700">
            <a:solidFill>
              <a:srgbClr val="2740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4215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63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4169664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over size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4489704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well-designed models can outperform larger ones — efficiency and architecture choices matter more than raw parameter count.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903720" y="17830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pretraining cost (USD)</a:t>
            </a:r>
            <a:endParaRPr lang="en-US" sz="115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6766560" y="2103120"/>
          <a:ext cx="48920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Text 1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3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6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research questions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spcAft>
                <a:spcPts val="600"/>
              </a:spcAft>
              <a:buNone/>
            </a:pPr>
            <a:r>
              <a:rPr lang="en-US" sz="145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Transformer architectures suffer from </a:t>
            </a:r>
            <a:r>
              <a:rPr lang="en-US" sz="1450" b="1" dirty="0">
                <a:solidFill>
                  <a:srgbClr val="D98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 attention complexity</a:t>
            </a:r>
            <a:r>
              <a:rPr lang="en-US" sz="145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inference becomes prohibitively expensive at scale.
Existing training methods (AdamW, full-precision weights) are </a:t>
            </a:r>
            <a:r>
              <a:rPr lang="en-US" sz="1450" b="1" dirty="0">
                <a:solidFill>
                  <a:srgbClr val="D98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compute-heavy</a:t>
            </a:r>
            <a:r>
              <a:rPr lang="en-US" sz="145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inaccessible for resource-constrained research.
</a:t>
            </a:r>
            <a:r>
              <a:rPr lang="en-US" sz="1450" b="1" dirty="0">
                <a:solidFill>
                  <a:srgbClr val="12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question: </a:t>
            </a:r>
            <a:r>
              <a:rPr lang="en-US" sz="1450" i="1" dirty="0">
                <a:solidFill>
                  <a:srgbClr val="12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replicate DeepSeek's architectural efficiency insights at 500M-parameter scale using free GPU compute?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2433828" y="342900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ECF0FA"/>
          </a:solidFill>
          <a:ln w="12700">
            <a:solidFill>
              <a:srgbClr val="2740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570988" y="3566160"/>
            <a:ext cx="365760" cy="365760"/>
          </a:xfrm>
          <a:prstGeom prst="ellipse">
            <a:avLst/>
          </a:prstGeom>
          <a:solidFill>
            <a:srgbClr val="3D63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570988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570988" y="3995928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2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design an architecture that's efficient in both training and inference?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930140" y="342900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ECF0FA"/>
          </a:solidFill>
          <a:ln w="12700">
            <a:solidFill>
              <a:srgbClr val="2740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067300" y="3566160"/>
            <a:ext cx="365760" cy="365760"/>
          </a:xfrm>
          <a:prstGeom prst="ellipse">
            <a:avLst/>
          </a:prstGeom>
          <a:solidFill>
            <a:srgbClr val="3D63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06730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67300" y="3995928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2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optimizer and training techniques yield the best quality / compute tradeoff?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426452" y="342900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ECF0FA"/>
          </a:solidFill>
          <a:ln w="12700">
            <a:solidFill>
              <a:srgbClr val="2740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563612" y="3566160"/>
            <a:ext cx="365760" cy="365760"/>
          </a:xfrm>
          <a:prstGeom prst="ellipse">
            <a:avLst/>
          </a:prstGeom>
          <a:solidFill>
            <a:srgbClr val="3D63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563612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563612" y="3995928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2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quantization-aware training match full-precision quality at small scale?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3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6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Standing on the shoulders of giants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5F7FB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1984248"/>
            <a:ext cx="128016" cy="128016"/>
          </a:xfrm>
          <a:prstGeom prst="rect">
            <a:avLst/>
          </a:prstGeom>
          <a:solidFill>
            <a:srgbClr val="3D63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337560" y="194767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3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22199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 Is All You Need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as the core building block of modern LLMs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5F7FB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72000" y="1984248"/>
            <a:ext cx="128016" cy="128016"/>
          </a:xfrm>
          <a:prstGeom prst="rect">
            <a:avLst/>
          </a:prstGeom>
          <a:solidFill>
            <a:srgbClr val="7A4FD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132320" y="194767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3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0" y="222199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Mamba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72000" y="274320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space models as a linear-complexity alternative to attention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78308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5F7FB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366760" y="1984248"/>
            <a:ext cx="128016" cy="128016"/>
          </a:xfrm>
          <a:prstGeom prst="rect">
            <a:avLst/>
          </a:prstGeom>
          <a:solidFill>
            <a:srgbClr val="D982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0927080" y="194767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3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366760" y="222199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DeepSeek-V3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366760" y="274320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+ MLA + efficient training = GPT-4 quality at ~1/10th cost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5F7FB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77240" y="4041648"/>
            <a:ext cx="128016" cy="128016"/>
          </a:xfrm>
          <a:prstGeom prst="rect">
            <a:avLst/>
          </a:prstGeom>
          <a:solidFill>
            <a:srgbClr val="D982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337560" y="400507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3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7240" y="427939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DeepSeek-R1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77240" y="480060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GRPO-based RL produces strong reasoning without human labeling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3400" y="384048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5F7FB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572000" y="4041648"/>
            <a:ext cx="128016" cy="128016"/>
          </a:xfrm>
          <a:prstGeom prst="rect">
            <a:avLst/>
          </a:prstGeom>
          <a:solidFill>
            <a:srgbClr val="1E9E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132320" y="400507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3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0" y="427939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Gemma 4 QAT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572000" y="480060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Quantization-aware training closely matches full-precision quality at low bit-widths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38160" y="384048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5F7FB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366760" y="4041648"/>
            <a:ext cx="128016" cy="128016"/>
          </a:xfrm>
          <a:prstGeom prst="rect">
            <a:avLst/>
          </a:prstGeom>
          <a:solidFill>
            <a:srgbClr val="D1435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10927080" y="400507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3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366760" y="427939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Muon Optimizer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8366760" y="480060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gradient updates outperform AdamW on LLM training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3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6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proposed model: a hybrid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645920" y="1216152"/>
            <a:ext cx="3200400" cy="566928"/>
          </a:xfrm>
          <a:prstGeom prst="roundRect">
            <a:avLst>
              <a:gd name="adj" fmla="val 11290"/>
            </a:avLst>
          </a:prstGeom>
          <a:solidFill>
            <a:srgbClr val="ECF0FA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783080" y="1216152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Tokens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145536" y="1801368"/>
            <a:ext cx="201168" cy="201168"/>
          </a:xfrm>
          <a:prstGeom prst="downArrow">
            <a:avLst/>
          </a:prstGeom>
          <a:solidFill>
            <a:srgbClr val="838E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645920" y="2039112"/>
            <a:ext cx="3200400" cy="566928"/>
          </a:xfrm>
          <a:prstGeom prst="roundRect">
            <a:avLst>
              <a:gd name="adj" fmla="val 11290"/>
            </a:avLst>
          </a:prstGeom>
          <a:solidFill>
            <a:srgbClr val="ECF0FA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783080" y="2039112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Embeddings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145536" y="2624328"/>
            <a:ext cx="201168" cy="201168"/>
          </a:xfrm>
          <a:prstGeom prst="downArrow">
            <a:avLst/>
          </a:prstGeom>
          <a:solidFill>
            <a:srgbClr val="838E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645920" y="2862072"/>
            <a:ext cx="3200400" cy="859536"/>
          </a:xfrm>
          <a:prstGeom prst="roundRect">
            <a:avLst>
              <a:gd name="adj" fmla="val 7447"/>
            </a:avLst>
          </a:prstGeom>
          <a:solidFill>
            <a:srgbClr val="27407A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783080" y="291693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Mamba Block  × 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783080" y="32278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8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complexity, long-range memory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45536" y="3739896"/>
            <a:ext cx="201168" cy="201168"/>
          </a:xfrm>
          <a:prstGeom prst="downArrow">
            <a:avLst/>
          </a:prstGeom>
          <a:solidFill>
            <a:srgbClr val="838E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645920" y="3977640"/>
            <a:ext cx="3200400" cy="859536"/>
          </a:xfrm>
          <a:prstGeom prst="roundRect">
            <a:avLst>
              <a:gd name="adj" fmla="val 7447"/>
            </a:avLst>
          </a:prstGeom>
          <a:solidFill>
            <a:srgbClr val="4B2E86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783080" y="403250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Block + MLA  × M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783080" y="4343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8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local reasoning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145536" y="4855464"/>
            <a:ext cx="201168" cy="201168"/>
          </a:xfrm>
          <a:prstGeom prst="downArrow">
            <a:avLst/>
          </a:prstGeom>
          <a:solidFill>
            <a:srgbClr val="838E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1645920" y="5093208"/>
            <a:ext cx="3200400" cy="859536"/>
          </a:xfrm>
          <a:prstGeom prst="roundRect">
            <a:avLst>
              <a:gd name="adj" fmla="val 7447"/>
            </a:avLst>
          </a:prstGeom>
          <a:solidFill>
            <a:srgbClr val="8C5A1E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783080" y="514807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Feed-Forward Layer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783080" y="5458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8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2–4 experts active per token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45536" y="5971032"/>
            <a:ext cx="201168" cy="201168"/>
          </a:xfrm>
          <a:prstGeom prst="downArrow">
            <a:avLst/>
          </a:prstGeom>
          <a:solidFill>
            <a:srgbClr val="838E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1645920" y="6208776"/>
            <a:ext cx="3200400" cy="566928"/>
          </a:xfrm>
          <a:prstGeom prst="roundRect">
            <a:avLst>
              <a:gd name="adj" fmla="val 11290"/>
            </a:avLst>
          </a:prstGeom>
          <a:solidFill>
            <a:srgbClr val="ECF0FA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783080" y="6208776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Logits → Next Token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178040" y="1965960"/>
            <a:ext cx="4480560" cy="1051560"/>
          </a:xfrm>
          <a:prstGeom prst="roundRect">
            <a:avLst>
              <a:gd name="adj" fmla="val 6957"/>
            </a:avLst>
          </a:prstGeom>
          <a:solidFill>
            <a:srgbClr val="F5F7FB"/>
          </a:solidFill>
          <a:ln w="15875">
            <a:solidFill>
              <a:srgbClr val="3D63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7406640" y="2167128"/>
            <a:ext cx="128016" cy="128016"/>
          </a:xfrm>
          <a:prstGeom prst="rect">
            <a:avLst/>
          </a:prstGeom>
          <a:solidFill>
            <a:srgbClr val="3D63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635240" y="20756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63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Mamba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406640" y="242316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complexity instead of O(n²)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178040" y="3246120"/>
            <a:ext cx="4480560" cy="1051560"/>
          </a:xfrm>
          <a:prstGeom prst="roundRect">
            <a:avLst>
              <a:gd name="adj" fmla="val 6957"/>
            </a:avLst>
          </a:prstGeom>
          <a:solidFill>
            <a:srgbClr val="F5F7FB"/>
          </a:solidFill>
          <a:ln w="15875">
            <a:solidFill>
              <a:srgbClr val="7A4F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7406640" y="3447288"/>
            <a:ext cx="128016" cy="128016"/>
          </a:xfrm>
          <a:prstGeom prst="rect">
            <a:avLst/>
          </a:prstGeom>
          <a:solidFill>
            <a:srgbClr val="7A4FD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635240" y="33558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4F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MLA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406640" y="370332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5–10× less KV-cache memory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178040" y="4526280"/>
            <a:ext cx="4480560" cy="1051560"/>
          </a:xfrm>
          <a:prstGeom prst="roundRect">
            <a:avLst>
              <a:gd name="adj" fmla="val 6957"/>
            </a:avLst>
          </a:prstGeom>
          <a:solidFill>
            <a:srgbClr val="F5F7FB"/>
          </a:solidFill>
          <a:ln w="15875">
            <a:solidFill>
              <a:srgbClr val="D982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7406640" y="4727448"/>
            <a:ext cx="128016" cy="128016"/>
          </a:xfrm>
          <a:prstGeom prst="rect">
            <a:avLst/>
          </a:prstGeom>
          <a:solidFill>
            <a:srgbClr val="D982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7635240" y="46360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8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MoE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406640" y="498348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37B of 671B params active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(DeepSeek-V3 analogy)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3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6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TECHNIQUES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Solving the long-context bottleneck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2743200"/>
          </a:xfrm>
          <a:prstGeom prst="roundRect">
            <a:avLst>
              <a:gd name="adj" fmla="val 2667"/>
            </a:avLst>
          </a:prstGeom>
          <a:solidFill>
            <a:srgbClr val="F5F7FB"/>
          </a:solidFill>
          <a:ln w="15875">
            <a:solidFill>
              <a:srgbClr val="3D63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63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CSA — Chunk Sparse Attention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395728"/>
            <a:ext cx="324612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‣"/>
            </a:pPr>
            <a:r>
              <a:rPr lang="en-US" sz="110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Divides sequence into fixed-size chunks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‣"/>
            </a:pPr>
            <a:r>
              <a:rPr lang="en-US" sz="110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computed only within chunks + a few global tokens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‣"/>
            </a:pPr>
            <a:r>
              <a:rPr lang="en-US" sz="110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O(n × chunk_size) instead of O(n²)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‣"/>
            </a:pPr>
            <a:r>
              <a:rPr lang="en-US" sz="110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long documents, codebases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43400" y="1737360"/>
            <a:ext cx="3611880" cy="2743200"/>
          </a:xfrm>
          <a:prstGeom prst="roundRect">
            <a:avLst>
              <a:gd name="adj" fmla="val 2667"/>
            </a:avLst>
          </a:prstGeom>
          <a:solidFill>
            <a:srgbClr val="F5F7FB"/>
          </a:solidFill>
          <a:ln w="15875">
            <a:solidFill>
              <a:srgbClr val="7A4F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26280" y="187452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4F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dCA — Differential Attention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26280" y="2395728"/>
            <a:ext cx="324612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‣"/>
            </a:pPr>
            <a:r>
              <a:rPr lang="en-US" sz="110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two attention maps, subtracts them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‣"/>
            </a:pPr>
            <a:r>
              <a:rPr lang="en-US" sz="110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Cancels out attention noise — irrelevant tokens get near-zero weight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‣"/>
            </a:pPr>
            <a:r>
              <a:rPr lang="en-US" sz="110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cleaner, more focused attention with less compute waste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38160" y="1737360"/>
            <a:ext cx="3611880" cy="2743200"/>
          </a:xfrm>
          <a:prstGeom prst="roundRect">
            <a:avLst>
              <a:gd name="adj" fmla="val 2667"/>
            </a:avLst>
          </a:prstGeom>
          <a:solidFill>
            <a:srgbClr val="F5F7FB"/>
          </a:solidFill>
          <a:ln w="15875">
            <a:solidFill>
              <a:srgbClr val="D982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321040" y="187452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8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Sliding Window Attention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21040" y="2395728"/>
            <a:ext cx="324612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‣"/>
            </a:pPr>
            <a:r>
              <a:rPr lang="en-US" sz="110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token attends only to a local window of W tokens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‣"/>
            </a:pPr>
            <a:r>
              <a:rPr lang="en-US" sz="110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Mistral and Gemma models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‣"/>
            </a:pPr>
            <a:r>
              <a:rPr lang="en-US" sz="110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with global attention tokens for long-range awareness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4937760"/>
            <a:ext cx="685800" cy="411480"/>
          </a:xfrm>
          <a:prstGeom prst="rect">
            <a:avLst/>
          </a:prstGeom>
          <a:solidFill>
            <a:srgbClr val="27407A"/>
          </a:solidFill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463040" y="4937760"/>
            <a:ext cx="685800" cy="411480"/>
          </a:xfrm>
          <a:prstGeom prst="rect">
            <a:avLst/>
          </a:prstGeom>
          <a:solidFill>
            <a:srgbClr val="3D63D6"/>
          </a:solidFill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194560" y="4937760"/>
            <a:ext cx="685800" cy="411480"/>
          </a:xfrm>
          <a:prstGeom prst="rect">
            <a:avLst/>
          </a:prstGeom>
          <a:solidFill>
            <a:srgbClr val="27407A"/>
          </a:solidFill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926080" y="4937760"/>
            <a:ext cx="685800" cy="411480"/>
          </a:xfrm>
          <a:prstGeom prst="rect">
            <a:avLst/>
          </a:prstGeom>
          <a:solidFill>
            <a:srgbClr val="3D63D6"/>
          </a:solidFill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31520" y="539496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3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split into attended chunks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4846320"/>
            <a:ext cx="685800" cy="548640"/>
          </a:xfrm>
          <a:prstGeom prst="rect">
            <a:avLst/>
          </a:prstGeom>
          <a:solidFill>
            <a:srgbClr val="4B2E86"/>
          </a:solidFill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394960" y="48920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760720" y="4846320"/>
            <a:ext cx="685800" cy="548640"/>
          </a:xfrm>
          <a:prstGeom prst="rect">
            <a:avLst/>
          </a:prstGeom>
          <a:solidFill>
            <a:srgbClr val="ECF0FA"/>
          </a:solidFill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92240" y="48920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858000" y="4846320"/>
            <a:ext cx="685800" cy="548640"/>
          </a:xfrm>
          <a:prstGeom prst="rect">
            <a:avLst/>
          </a:prstGeom>
          <a:solidFill>
            <a:srgbClr val="7A4FD1"/>
          </a:solidFill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526280" y="542239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3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attention maps, subtracted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321040" y="4937760"/>
            <a:ext cx="310896" cy="310896"/>
          </a:xfrm>
          <a:prstGeom prst="rect">
            <a:avLst/>
          </a:prstGeom>
          <a:solidFill>
            <a:srgbClr val="ECF0FA"/>
          </a:solidFill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686800" y="4937760"/>
            <a:ext cx="310896" cy="310896"/>
          </a:xfrm>
          <a:prstGeom prst="rect">
            <a:avLst/>
          </a:prstGeom>
          <a:solidFill>
            <a:srgbClr val="ECF0FA"/>
          </a:solidFill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9052560" y="4937760"/>
            <a:ext cx="310896" cy="310896"/>
          </a:xfrm>
          <a:prstGeom prst="rect">
            <a:avLst/>
          </a:prstGeom>
          <a:solidFill>
            <a:srgbClr val="ECF0FA"/>
          </a:solidFill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9418320" y="4937760"/>
            <a:ext cx="310896" cy="310896"/>
          </a:xfrm>
          <a:prstGeom prst="rect">
            <a:avLst/>
          </a:prstGeom>
          <a:solidFill>
            <a:srgbClr val="D9822A"/>
          </a:solidFill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9784080" y="4937760"/>
            <a:ext cx="310896" cy="310896"/>
          </a:xfrm>
          <a:prstGeom prst="rect">
            <a:avLst/>
          </a:prstGeom>
          <a:solidFill>
            <a:srgbClr val="D9822A"/>
          </a:solidFill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10149840" y="4937760"/>
            <a:ext cx="310896" cy="310896"/>
          </a:xfrm>
          <a:prstGeom prst="rect">
            <a:avLst/>
          </a:prstGeom>
          <a:solidFill>
            <a:srgbClr val="D9822A"/>
          </a:solidFill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10515600" y="4937760"/>
            <a:ext cx="310896" cy="310896"/>
          </a:xfrm>
          <a:prstGeom prst="rect">
            <a:avLst/>
          </a:prstGeom>
          <a:solidFill>
            <a:srgbClr val="D9822A"/>
          </a:solidFill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10881360" y="4937760"/>
            <a:ext cx="310896" cy="310896"/>
          </a:xfrm>
          <a:prstGeom prst="rect">
            <a:avLst/>
          </a:prstGeom>
          <a:solidFill>
            <a:srgbClr val="ECF0FA"/>
          </a:solidFill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11247120" y="4937760"/>
            <a:ext cx="310896" cy="310896"/>
          </a:xfrm>
          <a:prstGeom prst="rect">
            <a:avLst/>
          </a:prstGeom>
          <a:solidFill>
            <a:srgbClr val="ECF0FA"/>
          </a:solidFill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321040" y="539496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3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window of W tokens attended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3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6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DETAIL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mHC — Multi-Head Convolution for faster convergence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12064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‣"/>
            </a:pPr>
            <a:r>
              <a:rPr lang="en-US" sz="135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attention captures global relationships but misses local sequential patterns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‣"/>
            </a:pPr>
            <a:r>
              <a:rPr lang="en-US" sz="135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mHC adds depthwise convolution alongside attention heads — each head also runs a small convolutional filter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‣"/>
            </a:pPr>
            <a:r>
              <a:rPr lang="en-US" sz="135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model captures both local (convolutional) and global (attention) patterns simultaneously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‣"/>
            </a:pPr>
            <a:r>
              <a:rPr lang="en-US" sz="135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convergence — the convolutional pathway provides a strong inductive bias early in training, reducing the steps needed to reach good performance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172200" y="1417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Attention Head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172200" y="192024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ECF0FA"/>
          </a:solidFill>
          <a:ln w="12700">
            <a:solidFill>
              <a:srgbClr val="3D63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172200" y="19202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2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Tokens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269480" y="2450592"/>
            <a:ext cx="182880" cy="265176"/>
          </a:xfrm>
          <a:prstGeom prst="downArrow">
            <a:avLst/>
          </a:prstGeom>
          <a:solidFill>
            <a:srgbClr val="838E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172200" y="274320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27407A"/>
          </a:solidFill>
          <a:ln w="12700">
            <a:solidFill>
              <a:srgbClr val="3D63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172200" y="27432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269480" y="3255721"/>
            <a:ext cx="182880" cy="265176"/>
          </a:xfrm>
          <a:prstGeom prst="downArrow">
            <a:avLst/>
          </a:prstGeom>
          <a:solidFill>
            <a:srgbClr val="838E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172200" y="356616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ECF0FA"/>
          </a:solidFill>
          <a:ln w="12700">
            <a:solidFill>
              <a:srgbClr val="3D63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172200" y="3566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2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144000" y="1417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98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mHC Head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144000" y="192024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ECF0FA"/>
          </a:solidFill>
          <a:ln w="12700">
            <a:solidFill>
              <a:srgbClr val="D982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144000" y="19202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2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Tokens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727387" y="2450592"/>
            <a:ext cx="164592" cy="265176"/>
          </a:xfrm>
          <a:prstGeom prst="downArrow">
            <a:avLst/>
          </a:prstGeom>
          <a:solidFill>
            <a:srgbClr val="838E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10773461" y="2450592"/>
            <a:ext cx="164592" cy="265176"/>
          </a:xfrm>
          <a:prstGeom prst="downArrow">
            <a:avLst/>
          </a:prstGeom>
          <a:solidFill>
            <a:srgbClr val="838E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9144000" y="2743200"/>
            <a:ext cx="1093622" cy="502920"/>
          </a:xfrm>
          <a:prstGeom prst="roundRect">
            <a:avLst>
              <a:gd name="adj" fmla="val 10909"/>
            </a:avLst>
          </a:prstGeom>
          <a:solidFill>
            <a:srgbClr val="8C5A1E"/>
          </a:solidFill>
          <a:ln w="12700">
            <a:solidFill>
              <a:srgbClr val="D982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144000" y="2743200"/>
            <a:ext cx="109362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427818" y="2743200"/>
            <a:ext cx="1093622" cy="502920"/>
          </a:xfrm>
          <a:prstGeom prst="roundRect">
            <a:avLst>
              <a:gd name="adj" fmla="val 10909"/>
            </a:avLst>
          </a:prstGeom>
          <a:solidFill>
            <a:srgbClr val="4B2E86"/>
          </a:solidFill>
          <a:ln w="12700">
            <a:solidFill>
              <a:srgbClr val="7A4F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0427818" y="2743200"/>
            <a:ext cx="109362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Depthwise Conv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241280" y="3255721"/>
            <a:ext cx="182880" cy="265176"/>
          </a:xfrm>
          <a:prstGeom prst="downArrow">
            <a:avLst/>
          </a:prstGeom>
          <a:solidFill>
            <a:srgbClr val="838E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9144000" y="356616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ECF0FA"/>
          </a:solidFill>
          <a:ln w="12700">
            <a:solidFill>
              <a:srgbClr val="D982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9144000" y="3566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2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Output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3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6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AdamW — the Muon optimizer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14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with AdamW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‣"/>
            </a:pPr>
            <a:r>
              <a:rPr lang="en-US" sz="125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each parameter using gradient magnitude, which varies wildly across layers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‣"/>
            </a:pPr>
            <a:r>
              <a:rPr lang="en-US" sz="125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layers get under-updated, small layers get over-updated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Muon fixes this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‣"/>
            </a:pPr>
            <a:r>
              <a:rPr lang="en-US" sz="125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Newton–Schulz iteration to orthogonalize the gradient matrix before applying it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‣"/>
            </a:pPr>
            <a:r>
              <a:rPr lang="en-US" sz="125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each update is consistent in spectral magnitude regardless of layer size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‣"/>
            </a:pPr>
            <a:r>
              <a:rPr lang="en-US" sz="125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more uniform and effective parameter updates across all layers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521208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ECF0FA"/>
          </a:solidFill>
          <a:ln w="12700">
            <a:solidFill>
              <a:srgbClr val="1E9E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31520" y="5285232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2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result:  </a:t>
            </a:r>
            <a:r>
              <a:rPr lang="en-US" sz="115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Muon shows 15–25% faster convergence than AdamW on language-modeling benchmarks at comparable hyperparameters.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58000" y="17830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loss vs. steps</a:t>
            </a:r>
            <a:endParaRPr lang="en-US" sz="115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6766560" y="2103120"/>
          <a:ext cx="48920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9"/>
          <p:cNvSpPr/>
          <p:nvPr/>
        </p:nvSpPr>
        <p:spPr>
          <a:xfrm>
            <a:off x="6766560" y="576072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3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curves based on reported convergence trends (Muon paper, arXiv:2502.16982).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3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6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experimentation: conventional vs quantization-aware training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926080" cy="566928"/>
          </a:xfrm>
          <a:prstGeom prst="rect">
            <a:avLst/>
          </a:prstGeom>
          <a:solidFill>
            <a:srgbClr val="ECF0FA"/>
          </a:solidFill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0" y="1828800"/>
            <a:ext cx="4023360" cy="566928"/>
          </a:xfrm>
          <a:prstGeom prst="rect">
            <a:avLst/>
          </a:prstGeom>
          <a:solidFill>
            <a:srgbClr val="ECF0FA"/>
          </a:solidFill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11880" y="182880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6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— Conventional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498080" y="1828800"/>
            <a:ext cx="4023360" cy="566928"/>
          </a:xfrm>
          <a:prstGeom prst="rect">
            <a:avLst/>
          </a:prstGeom>
          <a:solidFill>
            <a:srgbClr val="ECF0FA"/>
          </a:solidFill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635240" y="182880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 — QAT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395728"/>
            <a:ext cx="29260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85800" y="2395728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precision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0" y="2395728"/>
            <a:ext cx="4023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611880" y="2395728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BF16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98080" y="2395728"/>
            <a:ext cx="4023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635240" y="2395728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INT4 (quantization-aware)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962656"/>
            <a:ext cx="2926080" cy="566928"/>
          </a:xfrm>
          <a:prstGeom prst="rect">
            <a:avLst/>
          </a:prstGeom>
          <a:solidFill>
            <a:srgbClr val="F5F7FB"/>
          </a:solidFill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85800" y="2962656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0" y="2962656"/>
            <a:ext cx="4023360" cy="566928"/>
          </a:xfrm>
          <a:prstGeom prst="rect">
            <a:avLst/>
          </a:prstGeom>
          <a:solidFill>
            <a:srgbClr val="F5F7FB"/>
          </a:solidFill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611880" y="2962656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98080" y="2962656"/>
            <a:ext cx="4023360" cy="566928"/>
          </a:xfrm>
          <a:prstGeom prst="rect">
            <a:avLst/>
          </a:prstGeom>
          <a:solidFill>
            <a:srgbClr val="F5F7FB"/>
          </a:solidFill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635240" y="2962656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Muon + QAT (day 1)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529584"/>
            <a:ext cx="29260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85800" y="3529584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74720" y="3529584"/>
            <a:ext cx="4023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611880" y="3529584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Mamba + Transformer + MoE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498080" y="3529584"/>
            <a:ext cx="4023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635240" y="3529584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hybrid architecture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096512"/>
            <a:ext cx="2926080" cy="566928"/>
          </a:xfrm>
          <a:prstGeom prst="rect">
            <a:avLst/>
          </a:prstGeom>
          <a:solidFill>
            <a:srgbClr val="F5F7FB"/>
          </a:solidFill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85800" y="4096512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flow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474720" y="4096512"/>
            <a:ext cx="4023360" cy="566928"/>
          </a:xfrm>
          <a:prstGeom prst="rect">
            <a:avLst/>
          </a:prstGeom>
          <a:solidFill>
            <a:srgbClr val="F5F7FB"/>
          </a:solidFill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611880" y="4096512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backprop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498080" y="4096512"/>
            <a:ext cx="4023360" cy="566928"/>
          </a:xfrm>
          <a:prstGeom prst="rect">
            <a:avLst/>
          </a:prstGeom>
          <a:solidFill>
            <a:srgbClr val="F5F7FB"/>
          </a:solidFill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7635240" y="4096512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Straight-Through Estimator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4663440"/>
            <a:ext cx="29260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85800" y="466344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Post-training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474720" y="4663440"/>
            <a:ext cx="4023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611880" y="466344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 + GRPO RL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498080" y="4663440"/>
            <a:ext cx="4023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7635240" y="466344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 + GRPO RL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5230368"/>
            <a:ext cx="2926080" cy="566928"/>
          </a:xfrm>
          <a:prstGeom prst="rect">
            <a:avLst/>
          </a:prstGeom>
          <a:solidFill>
            <a:srgbClr val="F5F7FB"/>
          </a:solidFill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85800" y="5230368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474720" y="5230368"/>
            <a:ext cx="4023360" cy="566928"/>
          </a:xfrm>
          <a:prstGeom prst="rect">
            <a:avLst/>
          </a:prstGeom>
          <a:solidFill>
            <a:srgbClr val="F5F7FB"/>
          </a:solidFill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611880" y="5230368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DeepSeek-inspired quality baseline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498080" y="5230368"/>
            <a:ext cx="4023360" cy="566928"/>
          </a:xfrm>
          <a:prstGeom prst="rect">
            <a:avLst/>
          </a:prstGeom>
          <a:solidFill>
            <a:srgbClr val="F5F7FB"/>
          </a:solidFill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7635240" y="5230368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Track A at 4× less memory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3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6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Quantization-Aware Training (QAT)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12064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‣"/>
            </a:pPr>
            <a:r>
              <a:rPr lang="en-US" sz="135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Post-training quantization (PTQ) rounds weights to low precision after training — the model never sees that rounding error during optimization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‣"/>
            </a:pPr>
            <a:r>
              <a:rPr lang="en-US" sz="135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 simulates low-precision rounding during training itself, so weights are optimized to tolerate quantization noise from the start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‣"/>
            </a:pPr>
            <a:r>
              <a:rPr lang="en-US" sz="135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pass: weights are "fake-quantized" to INT4 before use, so the network trains on the same rounding it will see at inference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‣"/>
            </a:pPr>
            <a:r>
              <a:rPr lang="en-US" sz="135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pass: a Straight-Through Estimator lets gradients flow through the non-differentiable rounding step, so full-precision weights keep updating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172200" y="1417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PTQ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172200" y="192024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ECF0FA"/>
          </a:solidFill>
          <a:ln w="12700">
            <a:solidFill>
              <a:srgbClr val="3D63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172200" y="19202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2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(BF16)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269480" y="2450592"/>
            <a:ext cx="182880" cy="265176"/>
          </a:xfrm>
          <a:prstGeom prst="downArrow">
            <a:avLst/>
          </a:prstGeom>
          <a:solidFill>
            <a:srgbClr val="838E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172200" y="274320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27407A"/>
          </a:solidFill>
          <a:ln w="12700">
            <a:solidFill>
              <a:srgbClr val="3D63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172200" y="27432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to INT4 post-hoc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269480" y="3255721"/>
            <a:ext cx="182880" cy="265176"/>
          </a:xfrm>
          <a:prstGeom prst="downArrow">
            <a:avLst/>
          </a:prstGeom>
          <a:solidFill>
            <a:srgbClr val="838E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172200" y="356616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ECF0FA"/>
          </a:solidFill>
          <a:ln w="12700">
            <a:solidFill>
              <a:srgbClr val="3D63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172200" y="3566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2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loss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144000" y="1417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98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144000" y="192024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ECF0FA"/>
          </a:solidFill>
          <a:ln w="12700">
            <a:solidFill>
              <a:srgbClr val="D982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144000" y="19202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2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update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727387" y="2450592"/>
            <a:ext cx="164592" cy="265176"/>
          </a:xfrm>
          <a:prstGeom prst="downArrow">
            <a:avLst/>
          </a:prstGeom>
          <a:solidFill>
            <a:srgbClr val="838E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10773461" y="2450592"/>
            <a:ext cx="164592" cy="265176"/>
          </a:xfrm>
          <a:prstGeom prst="downArrow">
            <a:avLst/>
          </a:prstGeom>
          <a:solidFill>
            <a:srgbClr val="838E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9144000" y="2743200"/>
            <a:ext cx="1093622" cy="502920"/>
          </a:xfrm>
          <a:prstGeom prst="roundRect">
            <a:avLst>
              <a:gd name="adj" fmla="val 10909"/>
            </a:avLst>
          </a:prstGeom>
          <a:solidFill>
            <a:srgbClr val="8C5A1E"/>
          </a:solidFill>
          <a:ln w="12700">
            <a:solidFill>
              <a:srgbClr val="D982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144000" y="2743200"/>
            <a:ext cx="109362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INT4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427818" y="2743200"/>
            <a:ext cx="1093622" cy="502920"/>
          </a:xfrm>
          <a:prstGeom prst="roundRect">
            <a:avLst>
              <a:gd name="adj" fmla="val 10909"/>
            </a:avLst>
          </a:prstGeom>
          <a:solidFill>
            <a:srgbClr val="4B2E86"/>
          </a:solidFill>
          <a:ln w="12700">
            <a:solidFill>
              <a:srgbClr val="7A4F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0427818" y="2743200"/>
            <a:ext cx="109362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 Gradient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241280" y="3255721"/>
            <a:ext cx="182880" cy="265176"/>
          </a:xfrm>
          <a:prstGeom prst="downArrow">
            <a:avLst/>
          </a:prstGeom>
          <a:solidFill>
            <a:srgbClr val="838E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9144000" y="356616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ECF0FA"/>
          </a:solidFill>
          <a:ln w="12700">
            <a:solidFill>
              <a:srgbClr val="D982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9144000" y="3566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2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Quantization-robust weights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3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6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from giants — distillation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206240" cy="685800"/>
          </a:xfrm>
          <a:prstGeom prst="roundRect">
            <a:avLst>
              <a:gd name="adj" fmla="val 9333"/>
            </a:avLst>
          </a:prstGeom>
          <a:solidFill>
            <a:srgbClr val="ECF0FA"/>
          </a:solidFill>
          <a:ln w="12700">
            <a:solidFill>
              <a:srgbClr val="3D63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9476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6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r>
              <a:rPr lang="en-US" sz="1300" dirty="0">
                <a:solidFill>
                  <a:srgbClr val="12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DeepSeek-R1 / LLaMA 3.1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2219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open-source, free to use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51176" y="2743200"/>
            <a:ext cx="201168" cy="365760"/>
          </a:xfrm>
          <a:prstGeom prst="downArrow">
            <a:avLst/>
          </a:prstGeom>
          <a:solidFill>
            <a:srgbClr val="838E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soft probability distributions over every token for each training example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551176" y="3840480"/>
            <a:ext cx="201168" cy="365760"/>
          </a:xfrm>
          <a:prstGeom prst="downArrow">
            <a:avLst/>
          </a:prstGeom>
          <a:solidFill>
            <a:srgbClr val="838E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48640" y="4343400"/>
            <a:ext cx="4206240" cy="822960"/>
          </a:xfrm>
          <a:prstGeom prst="roundRect">
            <a:avLst>
              <a:gd name="adj" fmla="val 7778"/>
            </a:avLst>
          </a:prstGeom>
          <a:solidFill>
            <a:srgbClr val="8C5A1E"/>
          </a:solidFill>
          <a:ln w="12700">
            <a:solidFill>
              <a:srgbClr val="D982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31520" y="4434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500M hybrid model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72744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EFE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to match the teacher's full probability distribution, not just the top-1 answer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257800" y="178308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soft labels matter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257800" y="2194560"/>
            <a:ext cx="6309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label:  </a:t>
            </a:r>
            <a:r>
              <a:rPr lang="en-US" sz="125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answer is Paris” — 1 bit of information
</a:t>
            </a:r>
            <a:r>
              <a:rPr lang="en-US" sz="1250" b="1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label:  </a:t>
            </a:r>
            <a:r>
              <a:rPr lang="en-US" sz="125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probabilities across many plausible tokens
Student learns the teacher's reasoning patterns, not just its answers.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257800" y="352044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3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soft distribution for "The capital of France is ___"</a:t>
            </a:r>
            <a:endParaRPr lang="en-US" sz="11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5257800" y="3840480"/>
          <a:ext cx="630936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3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6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building and how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F5F7FB"/>
          </a:solidFill>
          <a:ln w="15875">
            <a:solidFill>
              <a:srgbClr val="3D63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94767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63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specs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324612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50"/>
              </a:lnSpc>
              <a:spcAft>
                <a:spcPts val="700"/>
              </a:spcAft>
              <a:buSzPct val="100000"/>
              <a:buChar char="‣"/>
            </a:pPr>
            <a:r>
              <a:rPr lang="en-US" sz="115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 ~500M</a:t>
            </a:r>
            <a:endParaRPr lang="en-US" sz="1150" dirty="0"/>
          </a:p>
          <a:p>
            <a:pPr marL="342900" indent="-342900">
              <a:lnSpc>
                <a:spcPts val="1550"/>
              </a:lnSpc>
              <a:spcAft>
                <a:spcPts val="700"/>
              </a:spcAft>
              <a:buSzPct val="100000"/>
              <a:buChar char="‣"/>
            </a:pPr>
            <a:r>
              <a:rPr lang="en-US" sz="115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Mamba + Transformer hybrid with MLA and MoE</a:t>
            </a:r>
            <a:endParaRPr lang="en-US" sz="1150" dirty="0"/>
          </a:p>
          <a:p>
            <a:pPr marL="342900" indent="-342900">
              <a:lnSpc>
                <a:spcPts val="1550"/>
              </a:lnSpc>
              <a:spcAft>
                <a:spcPts val="700"/>
              </a:spcAft>
              <a:buSzPct val="100000"/>
              <a:buChar char="‣"/>
            </a:pPr>
            <a:r>
              <a:rPr lang="en-US" sz="115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 BF16 (Track A) / INT4 quantization-aware training (Track B)</a:t>
            </a:r>
            <a:endParaRPr lang="en-US" sz="1150" dirty="0"/>
          </a:p>
          <a:p>
            <a:pPr marL="342900" indent="-342900">
              <a:lnSpc>
                <a:spcPts val="1550"/>
              </a:lnSpc>
              <a:spcAft>
                <a:spcPts val="700"/>
              </a:spcAft>
              <a:buSzPct val="100000"/>
              <a:buChar char="‣"/>
            </a:pPr>
            <a:r>
              <a:rPr lang="en-US" sz="115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length: 2048–4096 tokens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178308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F5F7FB"/>
          </a:solidFill>
          <a:ln w="15875">
            <a:solidFill>
              <a:srgbClr val="7A4F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26280" y="194767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4F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26280" y="2423160"/>
            <a:ext cx="324612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50"/>
              </a:lnSpc>
              <a:spcAft>
                <a:spcPts val="700"/>
              </a:spcAft>
              <a:buSzPct val="100000"/>
              <a:buChar char="‣"/>
            </a:pPr>
            <a:r>
              <a:rPr lang="en-US" sz="115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Kaggle Notebooks (free)</a:t>
            </a:r>
            <a:endParaRPr lang="en-US" sz="1150" dirty="0"/>
          </a:p>
          <a:p>
            <a:pPr marL="342900" indent="-342900">
              <a:lnSpc>
                <a:spcPts val="1550"/>
              </a:lnSpc>
              <a:spcAft>
                <a:spcPts val="700"/>
              </a:spcAft>
              <a:buSzPct val="100000"/>
              <a:buChar char="‣"/>
            </a:pPr>
            <a:r>
              <a:rPr lang="en-US" sz="115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GPU: NVIDIA T4 / P100 (16GB VRAM)</a:t>
            </a:r>
            <a:endParaRPr lang="en-US" sz="1150" dirty="0"/>
          </a:p>
          <a:p>
            <a:pPr marL="342900" indent="-342900">
              <a:lnSpc>
                <a:spcPts val="1550"/>
              </a:lnSpc>
              <a:spcAft>
                <a:spcPts val="700"/>
              </a:spcAft>
              <a:buSzPct val="100000"/>
              <a:buChar char="‣"/>
            </a:pPr>
            <a:r>
              <a:rPr lang="en-US" sz="115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40 GPU-hours / week</a:t>
            </a:r>
            <a:endParaRPr lang="en-US" sz="1150" dirty="0"/>
          </a:p>
          <a:p>
            <a:pPr marL="342900" indent="-342900">
              <a:lnSpc>
                <a:spcPts val="1550"/>
              </a:lnSpc>
              <a:spcAft>
                <a:spcPts val="700"/>
              </a:spcAft>
              <a:buSzPct val="100000"/>
              <a:buChar char="‣"/>
            </a:pPr>
            <a:r>
              <a:rPr lang="en-US" sz="115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PyTorch + FlashAttention 2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38160" y="178308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F5F7FB"/>
          </a:solidFill>
          <a:ln w="15875">
            <a:solidFill>
              <a:srgbClr val="D982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321040" y="194767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8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data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21040" y="2423160"/>
            <a:ext cx="324612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50"/>
              </a:lnSpc>
              <a:spcAft>
                <a:spcPts val="700"/>
              </a:spcAft>
              <a:buSzPct val="100000"/>
              <a:buChar char="‣"/>
            </a:pPr>
            <a:r>
              <a:rPr lang="en-US" sz="115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 from open-source teacher</a:t>
            </a:r>
            <a:endParaRPr lang="en-US" sz="1150" dirty="0"/>
          </a:p>
          <a:p>
            <a:pPr marL="342900" indent="-342900">
              <a:lnSpc>
                <a:spcPts val="1550"/>
              </a:lnSpc>
              <a:spcAft>
                <a:spcPts val="700"/>
              </a:spcAft>
              <a:buSzPct val="100000"/>
              <a:buChar char="‣"/>
            </a:pPr>
            <a:r>
              <a:rPr lang="en-US" sz="115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FineWeb / RedPajama / The Pile (open datasets)</a:t>
            </a:r>
            <a:endParaRPr lang="en-US" sz="1150" dirty="0"/>
          </a:p>
          <a:p>
            <a:pPr marL="342900" indent="-342900">
              <a:lnSpc>
                <a:spcPts val="1550"/>
              </a:lnSpc>
              <a:spcAft>
                <a:spcPts val="700"/>
              </a:spcAft>
              <a:buSzPct val="100000"/>
              <a:buChar char="‣"/>
            </a:pPr>
            <a:r>
              <a:rPr lang="en-US" sz="115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filtered and deduplicated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4937760"/>
            <a:ext cx="2377440" cy="685800"/>
          </a:xfrm>
          <a:prstGeom prst="roundRect">
            <a:avLst>
              <a:gd name="adj" fmla="val 9333"/>
            </a:avLst>
          </a:prstGeom>
          <a:solidFill>
            <a:srgbClr val="ECF0FA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2960" y="49377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2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GPU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73552" y="5161788"/>
            <a:ext cx="356616" cy="237744"/>
          </a:xfrm>
          <a:prstGeom prst="rightArrow">
            <a:avLst/>
          </a:prstGeom>
          <a:solidFill>
            <a:srgbClr val="838E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703320" y="4937760"/>
            <a:ext cx="2377440" cy="685800"/>
          </a:xfrm>
          <a:prstGeom prst="roundRect">
            <a:avLst>
              <a:gd name="adj" fmla="val 9333"/>
            </a:avLst>
          </a:prstGeom>
          <a:solidFill>
            <a:srgbClr val="27407A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703320" y="49377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2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Loop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53912" y="5161788"/>
            <a:ext cx="356616" cy="237744"/>
          </a:xfrm>
          <a:prstGeom prst="rightArrow">
            <a:avLst/>
          </a:prstGeom>
          <a:solidFill>
            <a:srgbClr val="838E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583680" y="4937760"/>
            <a:ext cx="2377440" cy="685800"/>
          </a:xfrm>
          <a:prstGeom prst="roundRect">
            <a:avLst>
              <a:gd name="adj" fmla="val 9333"/>
            </a:avLst>
          </a:prstGeom>
          <a:solidFill>
            <a:srgbClr val="ECF0FA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583680" y="49377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2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2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34272" y="5161788"/>
            <a:ext cx="356616" cy="237744"/>
          </a:xfrm>
          <a:prstGeom prst="rightArrow">
            <a:avLst/>
          </a:prstGeom>
          <a:solidFill>
            <a:srgbClr val="838E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9464040" y="4937760"/>
            <a:ext cx="2377440" cy="685800"/>
          </a:xfrm>
          <a:prstGeom prst="roundRect">
            <a:avLst>
              <a:gd name="adj" fmla="val 9333"/>
            </a:avLst>
          </a:prstGeom>
          <a:solidFill>
            <a:srgbClr val="27407A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9464040" y="49377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3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6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we'll measure success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377440" cy="475488"/>
          </a:xfrm>
          <a:prstGeom prst="rect">
            <a:avLst/>
          </a:prstGeom>
          <a:solidFill>
            <a:srgbClr val="ECF0FA"/>
          </a:solidFill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67512" y="1828800"/>
            <a:ext cx="21396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6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926080" y="1828800"/>
            <a:ext cx="3017520" cy="475488"/>
          </a:xfrm>
          <a:prstGeom prst="rect">
            <a:avLst/>
          </a:prstGeom>
          <a:solidFill>
            <a:srgbClr val="ECF0FA"/>
          </a:solidFill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044952" y="1828800"/>
            <a:ext cx="27797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6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tests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304288"/>
            <a:ext cx="2377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67512" y="2304288"/>
            <a:ext cx="21396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HellaSwag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926080" y="2304288"/>
            <a:ext cx="3017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044952" y="2304288"/>
            <a:ext cx="27797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Common-sense reasoning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779776"/>
            <a:ext cx="2377440" cy="475488"/>
          </a:xfrm>
          <a:prstGeom prst="rect">
            <a:avLst/>
          </a:prstGeom>
          <a:solidFill>
            <a:srgbClr val="F5F7FB"/>
          </a:solidFill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67512" y="2779776"/>
            <a:ext cx="21396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ARC-Challenge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926080" y="2779776"/>
            <a:ext cx="3017520" cy="475488"/>
          </a:xfrm>
          <a:prstGeom prst="rect">
            <a:avLst/>
          </a:prstGeom>
          <a:solidFill>
            <a:srgbClr val="F5F7FB"/>
          </a:solidFill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044952" y="2779776"/>
            <a:ext cx="27797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question answering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255264"/>
            <a:ext cx="2377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67512" y="3255264"/>
            <a:ext cx="21396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MMLU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926080" y="3255264"/>
            <a:ext cx="3017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44952" y="3255264"/>
            <a:ext cx="27797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world knowledge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730752"/>
            <a:ext cx="2377440" cy="475488"/>
          </a:xfrm>
          <a:prstGeom prst="rect">
            <a:avLst/>
          </a:prstGeom>
          <a:solidFill>
            <a:srgbClr val="F5F7FB"/>
          </a:solidFill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67512" y="3730752"/>
            <a:ext cx="21396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GSM8K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926080" y="3730752"/>
            <a:ext cx="3017520" cy="475488"/>
          </a:xfrm>
          <a:prstGeom prst="rect">
            <a:avLst/>
          </a:prstGeom>
          <a:solidFill>
            <a:srgbClr val="F5F7FB"/>
          </a:solidFill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044952" y="3730752"/>
            <a:ext cx="27797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reasoning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206240"/>
            <a:ext cx="2377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67512" y="4206240"/>
            <a:ext cx="21396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HumanEval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926080" y="4206240"/>
            <a:ext cx="3017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044952" y="4206240"/>
            <a:ext cx="27797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681728"/>
            <a:ext cx="2377440" cy="475488"/>
          </a:xfrm>
          <a:prstGeom prst="rect">
            <a:avLst/>
          </a:prstGeom>
          <a:solidFill>
            <a:srgbClr val="F5F7FB"/>
          </a:solidFill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67512" y="4681728"/>
            <a:ext cx="21396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(test set)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926080" y="4681728"/>
            <a:ext cx="3017520" cy="475488"/>
          </a:xfrm>
          <a:prstGeom prst="rect">
            <a:avLst/>
          </a:prstGeom>
          <a:solidFill>
            <a:srgbClr val="F5F7FB"/>
          </a:solidFill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044952" y="4681728"/>
            <a:ext cx="27797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language-modeling quality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3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D6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papers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93392"/>
            <a:ext cx="91440" cy="91440"/>
          </a:xfrm>
          <a:prstGeom prst="ellipse">
            <a:avLst/>
          </a:prstGeom>
          <a:solidFill>
            <a:srgbClr val="3D63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2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Vaswani et al., 2017  —  </a:t>
            </a:r>
            <a:r>
              <a:rPr lang="en-US" sz="145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Is All You Need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91440" cy="91440"/>
          </a:xfrm>
          <a:prstGeom prst="ellipse">
            <a:avLst/>
          </a:prstGeom>
          <a:solidFill>
            <a:srgbClr val="3D63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8680" y="257860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2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 &amp; Dao, 2023  —  </a:t>
            </a:r>
            <a:r>
              <a:rPr lang="en-US" sz="145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Mamba: Linear-Time Sequence Modeling with Selective State Spaces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310128"/>
            <a:ext cx="91440" cy="91440"/>
          </a:xfrm>
          <a:prstGeom prst="ellipse">
            <a:avLst/>
          </a:prstGeom>
          <a:solidFill>
            <a:srgbClr val="3D63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68680" y="3236976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2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DeepSeek-AI, 2024  —  </a:t>
            </a:r>
            <a:r>
              <a:rPr lang="en-US" sz="145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DeepSeek-V3 Technical Report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968496"/>
            <a:ext cx="91440" cy="91440"/>
          </a:xfrm>
          <a:prstGeom prst="ellipse">
            <a:avLst/>
          </a:prstGeom>
          <a:solidFill>
            <a:srgbClr val="3D63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68680" y="3895344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2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DeepSeek-AI, 2025  —  </a:t>
            </a:r>
            <a:r>
              <a:rPr lang="en-US" sz="145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DeepSeek-R1 Technical Report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626864"/>
            <a:ext cx="91440" cy="91440"/>
          </a:xfrm>
          <a:prstGeom prst="ellipse">
            <a:avLst/>
          </a:prstGeom>
          <a:solidFill>
            <a:srgbClr val="3D63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68680" y="455371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2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Team, Google DeepMind, 2026  —  </a:t>
            </a:r>
            <a:r>
              <a:rPr lang="en-US" sz="145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Technical Report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5285232"/>
            <a:ext cx="91440" cy="91440"/>
          </a:xfrm>
          <a:prstGeom prst="ellipse">
            <a:avLst/>
          </a:prstGeom>
          <a:solidFill>
            <a:srgbClr val="3D63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68680" y="5212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2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Kosson et al., 2024  —  </a:t>
            </a:r>
            <a:r>
              <a:rPr lang="en-US" sz="1450" dirty="0">
                <a:solidFill>
                  <a:srgbClr val="52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Muon Optimizer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38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1252</Words>
  <Application>Microsoft Office PowerPoint</Application>
  <PresentationFormat>Widescreen</PresentationFormat>
  <Paragraphs>230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POTTEKAT AKHILESH SUNIL</cp:lastModifiedBy>
  <cp:revision>6</cp:revision>
  <dcterms:created xsi:type="dcterms:W3CDTF">2026-07-12T14:37:21Z</dcterms:created>
  <dcterms:modified xsi:type="dcterms:W3CDTF">2026-07-12T15:51:26Z</dcterms:modified>
</cp:coreProperties>
</file>