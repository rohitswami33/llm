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the topic: modern large language models are shaped as much by how they are trained as by their architecture. This presentation walks through the full pipeline: pretraining, post-training, preference optimization, and reasoning training, grounded in the papers behind GPT, Llama, DeepSeek, Qwen and related systems. Introduce team members and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an LLM as a neural network trained on the next-token prediction objective. Emphasize the key thesis of this talk: architecture sets capacity, but training — pretraining plus post-training — determines actual competence, safety, and usefulness. Walk through the pipeline diagram: raw web text -&gt; pretraining produces a base model -&gt; post-training (SFT, RLHF/DPO) produces a deployable chat model. Name the six model families this talk draws examples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pretraining as self-supervised next-token prediction over massive corpora. Walk through the diagram left to right. Cite Radford et al. (GPT) for the original generative pretraining objective, and Brown et al. (GPT-3) for the scale argument. Explain causal masking, tokenization tradeoffs (vocabulary size vs sequence length), and why curriculum ordering of data improves training stability and convergence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comparison table of modern pretraining enhancements. Emphasize Multi-Token Prediction as DeepSeek-V3's key densification trick, and long-context training via RoPE scaling as used in Llama 3 and Qwen2. Note that synthetic data and careful data-mixture tuning are now first-class levers, not afterthoughts, citing the DeepSeek-V3, Llama 3, and Qwen2 technical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transition from a raw base model to a usable chat assistant. Walk through the three-stage diagram: base model, SFT into a chat model, and further preference tuning into an aligned assistant. Define Supervised Fine-Tuning as training on curated instruction-response pairs, cite FLAN and Self-Instruct for instruction tuning, and describe chat fine-tuning's use of role-tagged multi-turn 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SFT -&gt; RLHF -&gt; DPO -&gt; GRPO evolution diagram, then the comparison table. Explain RLHF's two-stage reward-model-plus-RL approach, PPO as the classic RL optimizer (citing InstructGPT), DPO's reformulation as a single classification loss (Rafailov et al.), ORPO's merging of SFT and alignment (Hong et al.), and GRPO's group-relative ranking without a value network (Shao et al., DeepSeekMath). Explain why DeepSeek-R1 specifically favors GRPO for verifiable-reward reasoning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2x3 grid of reasoning techniques. Distinguish inference-time techniques (chain-of-thought, self-consistency, reflection, self-refinement, test-time compute) from architectural ones (latent reasoning). Tie back to DeepSeek-R1 as the paper demonstrating that reinforcement learning on verifiable reasoning rewards, combined with test-time compute scaling, produces strong emergent reasoning without dense human-labeled chains of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comparison table across GPT-4, Llama 3, DeepSeek, Claude, and Gemini. Emphasize that open publications (Llama 3, DeepSeek-V3/R1, Qwen2) let us confirm specific techniques such as GRPO and MTP, whereas closed labs like OpenAI, Anthropic, and Google disclose far less about their exact post-training recipes. Long-context figures are approximate and public-facing, not internal training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each future direction briefly: HRM's multi-timescale planning, tiny recursive models' repeated self-refinement, latent reasoning in continuous space, hybrid Transformer-Mamba architectures for long-context efficiency, MoE for sparse scaling, memory-augmented approaches, and test-time scaling. Close with the thesis that future progress may increasingly come from smarter use of reasoning and inference compute rather than raw parameter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four takeaways: training matters as much as architecture; better data often beats bigger models; post-training is what makes a model instructable and useful; and modern LLM quality is the product of multiple compounding training stages rather than any single trick. Close by pointing to the stacked summary diagram showing how each stage builds on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twelve papers form the citation basis for the presentation. Each in-text bracket number [1]-[12] corresponds to this IEEE-style reference list. Links are clickable in the exported PDF/PPTX where the viewer supports hyperlinks.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on any stage of the pipeline — pretraining, post-training, preference optimization, reasoning training, or the future directions discussed.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Text 1"/>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5A5A5A"/>
                </a:solidFill>
                <a:latin typeface="Calibri" pitchFamily="34" charset="0"/>
                <a:ea typeface="Calibri" pitchFamily="34" charset="-122"/>
                <a:cs typeface="Calibri" pitchFamily="34" charset="-120"/>
              </a:rPr>
              <a:t>SIES Graduate School of Technology  |  Dept. of AI &amp; DS</a:t>
            </a:r>
            <a:endParaRPr lang="en-US" sz="900" dirty="0"/>
          </a:p>
        </p:txBody>
      </p:sp>
      <p:sp>
        <p:nvSpPr>
          <p:cNvPr id="25" name="Slide Number Placeholder 0"/>
          <p:cNvSpPr>
            <a:spLocks noGrp="1"/>
          </p:cNvSpPr>
          <p:nvPr>
            <p:ph type="sldNum" sz="quarter" idx="4294967295"/>
          </p:nvPr>
        </p:nvSpPr>
        <p:spPr>
          <a:xfrm>
            <a:off x="1154887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4887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dn.openai.com/research-covers/language-unsupervised/language_understanding_paper.pdf" TargetMode="Externa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26317A"/>
          </a:solidFill>
          <a:ln/>
        </p:spPr>
      </p:sp>
      <p:sp>
        <p:nvSpPr>
          <p:cNvPr id="3" name="Shape 1"/>
          <p:cNvSpPr/>
          <p:nvPr/>
        </p:nvSpPr>
        <p:spPr>
          <a:xfrm>
            <a:off x="-2286000" y="4389120"/>
            <a:ext cx="5029200" cy="5029200"/>
          </a:xfrm>
          <a:prstGeom prst="ellipse">
            <a:avLst/>
          </a:prstGeom>
          <a:solidFill>
            <a:srgbClr val="182052"/>
          </a:solidFill>
          <a:ln/>
        </p:spPr>
      </p:sp>
      <p:sp>
        <p:nvSpPr>
          <p:cNvPr id="4" name="Text 2"/>
          <p:cNvSpPr/>
          <p:nvPr/>
        </p:nvSpPr>
        <p:spPr>
          <a:xfrm>
            <a:off x="731520" y="1371600"/>
            <a:ext cx="10698480" cy="365760"/>
          </a:xfrm>
          <a:prstGeom prst="rect">
            <a:avLst/>
          </a:prstGeom>
          <a:noFill/>
          <a:ln/>
        </p:spPr>
        <p:txBody>
          <a:bodyPr wrap="square"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THIRD YEAR B.E. — ARTIFICIAL INTELLIGENCE &amp; DATA SCIENCE  |  MINI PROJECT</a:t>
            </a:r>
            <a:endParaRPr lang="en-US" sz="1300" dirty="0"/>
          </a:p>
        </p:txBody>
      </p:sp>
      <p:sp>
        <p:nvSpPr>
          <p:cNvPr id="5" name="Text 3"/>
          <p:cNvSpPr/>
          <p:nvPr/>
        </p:nvSpPr>
        <p:spPr>
          <a:xfrm>
            <a:off x="731520" y="1874520"/>
            <a:ext cx="10698480" cy="1828800"/>
          </a:xfrm>
          <a:prstGeom prst="rect">
            <a:avLst/>
          </a:prstGeom>
          <a:noFill/>
          <a:ln/>
        </p:spPr>
        <p:txBody>
          <a:bodyPr wrap="square"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Exploring Pretraining and Post-Training Techniques to Improve Large Language Models</a:t>
            </a:r>
            <a:endParaRPr lang="en-US" sz="3400" dirty="0"/>
          </a:p>
        </p:txBody>
      </p:sp>
      <p:sp>
        <p:nvSpPr>
          <p:cNvPr id="6" name="Text 4"/>
          <p:cNvSpPr/>
          <p:nvPr/>
        </p:nvSpPr>
        <p:spPr>
          <a:xfrm>
            <a:off x="731520" y="3703320"/>
            <a:ext cx="9601200" cy="548640"/>
          </a:xfrm>
          <a:prstGeom prst="rect">
            <a:avLst/>
          </a:prstGeom>
          <a:noFill/>
          <a:ln/>
        </p:spPr>
        <p:txBody>
          <a:bodyPr wrap="square"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From raw internet text to production-grade chat models: a study of the modern LLM training pipeline</a:t>
            </a:r>
            <a:endParaRPr lang="en-US" sz="1500" dirty="0"/>
          </a:p>
        </p:txBody>
      </p:sp>
      <p:sp>
        <p:nvSpPr>
          <p:cNvPr id="7" name="Shape 5"/>
          <p:cNvSpPr/>
          <p:nvPr/>
        </p:nvSpPr>
        <p:spPr>
          <a:xfrm>
            <a:off x="731520" y="4526280"/>
            <a:ext cx="2377440" cy="18288"/>
          </a:xfrm>
          <a:prstGeom prst="rect">
            <a:avLst/>
          </a:prstGeom>
          <a:solidFill>
            <a:srgbClr val="3D5AFE"/>
          </a:solidFill>
          <a:ln/>
        </p:spPr>
      </p:sp>
      <p:sp>
        <p:nvSpPr>
          <p:cNvPr id="8" name="Text 6"/>
          <p:cNvSpPr/>
          <p:nvPr/>
        </p:nvSpPr>
        <p:spPr>
          <a:xfrm>
            <a:off x="731520" y="4709160"/>
            <a:ext cx="5943600" cy="1005840"/>
          </a:xfrm>
          <a:prstGeom prst="rect">
            <a:avLst/>
          </a:prstGeom>
          <a:noFill/>
          <a:ln/>
        </p:spPr>
        <p:txBody>
          <a:bodyPr wrap="square" rtlCol="0" anchor="ctr"/>
          <a:lstStyle/>
          <a:p>
            <a:pPr indent="0" marL="0">
              <a:lnSpc>
                <a:spcPct val="130000"/>
              </a:lnSpc>
              <a:buNone/>
            </a:pPr>
            <a:r>
              <a:rPr lang="en-US" sz="1400" b="1" dirty="0">
                <a:solidFill>
                  <a:srgbClr val="FFFFFF"/>
                </a:solidFill>
                <a:latin typeface="Calibri" pitchFamily="34" charset="0"/>
                <a:ea typeface="Calibri" pitchFamily="34" charset="-122"/>
                <a:cs typeface="Calibri" pitchFamily="34" charset="-120"/>
              </a:rPr>
              <a:t>Rohit Swami   </a:t>
            </a:r>
            <a:pPr indent="0" marL="0">
              <a:lnSpc>
                <a:spcPct val="130000"/>
              </a:lnSpc>
              <a:buNone/>
            </a:pPr>
            <a:r>
              <a:rPr lang="en-US" sz="1400" dirty="0">
                <a:solidFill>
                  <a:srgbClr val="CADCFC"/>
                </a:solidFill>
                <a:latin typeface="Calibri" pitchFamily="34" charset="0"/>
                <a:ea typeface="Calibri" pitchFamily="34" charset="-122"/>
                <a:cs typeface="Calibri" pitchFamily="34" charset="-120"/>
              </a:rPr>
              <a:t>124A8113
</a:t>
            </a:r>
            <a:pPr indent="0" marL="0">
              <a:lnSpc>
                <a:spcPct val="130000"/>
              </a:lnSpc>
              <a:buNone/>
            </a:pPr>
            <a:r>
              <a:rPr lang="en-US" sz="1400" b="1" dirty="0">
                <a:solidFill>
                  <a:srgbClr val="FFFFFF"/>
                </a:solidFill>
                <a:latin typeface="Calibri" pitchFamily="34" charset="0"/>
                <a:ea typeface="Calibri" pitchFamily="34" charset="-122"/>
                <a:cs typeface="Calibri" pitchFamily="34" charset="-120"/>
              </a:rPr>
              <a:t>Namish Sharma   </a:t>
            </a:r>
            <a:pPr indent="0" marL="0">
              <a:lnSpc>
                <a:spcPct val="130000"/>
              </a:lnSpc>
              <a:buNone/>
            </a:pPr>
            <a:r>
              <a:rPr lang="en-US" sz="1400" dirty="0">
                <a:solidFill>
                  <a:srgbClr val="CADCFC"/>
                </a:solidFill>
                <a:latin typeface="Calibri" pitchFamily="34" charset="0"/>
                <a:ea typeface="Calibri" pitchFamily="34" charset="-122"/>
                <a:cs typeface="Calibri" pitchFamily="34" charset="-120"/>
              </a:rPr>
              <a:t>124A8102
</a:t>
            </a:r>
            <a:pPr indent="0" marL="0">
              <a:lnSpc>
                <a:spcPct val="130000"/>
              </a:lnSpc>
              <a:buNone/>
            </a:pPr>
            <a:r>
              <a:rPr lang="en-US" sz="1400" b="1" dirty="0">
                <a:solidFill>
                  <a:srgbClr val="FFFFFF"/>
                </a:solidFill>
                <a:latin typeface="Calibri" pitchFamily="34" charset="0"/>
                <a:ea typeface="Calibri" pitchFamily="34" charset="-122"/>
                <a:cs typeface="Calibri" pitchFamily="34" charset="-120"/>
              </a:rPr>
              <a:t>Akhilesh Pottekat   </a:t>
            </a:r>
            <a:pPr indent="0" marL="0">
              <a:lnSpc>
                <a:spcPct val="130000"/>
              </a:lnSpc>
              <a:buNone/>
            </a:pPr>
            <a:r>
              <a:rPr lang="en-US" sz="1400" dirty="0">
                <a:solidFill>
                  <a:srgbClr val="CADCFC"/>
                </a:solidFill>
                <a:latin typeface="Calibri" pitchFamily="34" charset="0"/>
                <a:ea typeface="Calibri" pitchFamily="34" charset="-122"/>
                <a:cs typeface="Calibri" pitchFamily="34" charset="-120"/>
              </a:rPr>
              <a:t>124A8087</a:t>
            </a:r>
            <a:endParaRPr lang="en-US" sz="1400" dirty="0"/>
          </a:p>
        </p:txBody>
      </p:sp>
      <p:sp>
        <p:nvSpPr>
          <p:cNvPr id="9" name="Text 7"/>
          <p:cNvSpPr/>
          <p:nvPr/>
        </p:nvSpPr>
        <p:spPr>
          <a:xfrm>
            <a:off x="731520" y="5943600"/>
            <a:ext cx="7315200" cy="64008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SIES Graduate School of Technology</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Department of Artificial Intelligence &amp; Data Science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84048"/>
            <a:ext cx="5486400" cy="274320"/>
          </a:xfrm>
          <a:prstGeom prst="rect">
            <a:avLst/>
          </a:prstGeom>
          <a:noFill/>
          <a:ln/>
        </p:spPr>
        <p:txBody>
          <a:bodyPr wrap="square" rtlCol="0" anchor="ctr"/>
          <a:lstStyle/>
          <a:p>
            <a:pPr indent="0" marL="0">
              <a:buNone/>
            </a:pPr>
            <a:r>
              <a:rPr lang="en-US" sz="1100" b="1" spc="200" kern="0" dirty="0">
                <a:solidFill>
                  <a:srgbClr val="3D5AFE"/>
                </a:solidFill>
                <a:latin typeface="Calibri" pitchFamily="34" charset="0"/>
                <a:ea typeface="Calibri" pitchFamily="34" charset="-122"/>
                <a:cs typeface="Calibri" pitchFamily="34" charset="-120"/>
              </a:rPr>
              <a:t>INTRODUCTION</a:t>
            </a:r>
            <a:endParaRPr lang="en-US" sz="1100" dirty="0"/>
          </a:p>
        </p:txBody>
      </p:sp>
      <p:sp>
        <p:nvSpPr>
          <p:cNvPr id="3" name="Text 1"/>
          <p:cNvSpPr/>
          <p:nvPr/>
        </p:nvSpPr>
        <p:spPr>
          <a:xfrm>
            <a:off x="457200" y="59436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Makes a Large Language Model?</a:t>
            </a:r>
            <a:endParaRPr lang="en-US" sz="3000" dirty="0"/>
          </a:p>
        </p:txBody>
      </p:sp>
      <p:sp>
        <p:nvSpPr>
          <p:cNvPr id="4" name="Text 2"/>
          <p:cNvSpPr/>
          <p:nvPr/>
        </p:nvSpPr>
        <p:spPr>
          <a:xfrm>
            <a:off x="457200" y="1691640"/>
            <a:ext cx="5212080" cy="1920240"/>
          </a:xfrm>
          <a:prstGeom prst="rect">
            <a:avLst/>
          </a:prstGeom>
          <a:noFill/>
          <a:ln/>
        </p:spPr>
        <p:txBody>
          <a:bodyPr wrap="square" rtlCol="0" anchor="t"/>
          <a:lstStyle/>
          <a:p>
            <a:pPr indent="0" marL="0">
              <a:lnSpc>
                <a:spcPct val="125000"/>
              </a:lnSpc>
              <a:buNone/>
            </a:pPr>
            <a:r>
              <a:rPr lang="en-US" sz="1350" dirty="0">
                <a:solidFill>
                  <a:srgbClr val="0A0A0A"/>
                </a:solidFill>
                <a:latin typeface="Calibri" pitchFamily="34" charset="0"/>
                <a:ea typeface="Calibri" pitchFamily="34" charset="-122"/>
                <a:cs typeface="Calibri" pitchFamily="34" charset="-120"/>
              </a:rPr>
              <a:t>A Large Language Model (LLM) is a neural network — typically a Transformer — trained to predict the next token in a sequence of text, and thereby learn broad statistical structure of language. </a:t>
            </a:r>
            <a:pPr indent="0" marL="0">
              <a:lnSpc>
                <a:spcPct val="125000"/>
              </a:lnSpc>
              <a:buNone/>
            </a:pPr>
            <a:r>
              <a:rPr lang="en-US" sz="1350" b="1" dirty="0">
                <a:solidFill>
                  <a:srgbClr val="1E2761"/>
                </a:solidFill>
                <a:latin typeface="Calibri" pitchFamily="34" charset="0"/>
                <a:ea typeface="Calibri" pitchFamily="34" charset="-122"/>
                <a:cs typeface="Calibri" pitchFamily="34" charset="-120"/>
              </a:rPr>
              <a:t>Architecture defines capacity; training determines competence.</a:t>
            </a:r>
            <a:endParaRPr lang="en-US" sz="1350" dirty="0"/>
          </a:p>
        </p:txBody>
      </p:sp>
      <p:sp>
        <p:nvSpPr>
          <p:cNvPr id="5" name="Shape 3"/>
          <p:cNvSpPr/>
          <p:nvPr/>
        </p:nvSpPr>
        <p:spPr>
          <a:xfrm>
            <a:off x="457200" y="3703320"/>
            <a:ext cx="384048" cy="384048"/>
          </a:xfrm>
          <a:prstGeom prst="ellipse">
            <a:avLst/>
          </a:prstGeom>
          <a:solidFill>
            <a:srgbClr val="3D5AFE"/>
          </a:solidFill>
          <a:ln/>
        </p:spPr>
      </p:sp>
      <p:sp>
        <p:nvSpPr>
          <p:cNvPr id="6" name="Text 4"/>
          <p:cNvSpPr/>
          <p:nvPr/>
        </p:nvSpPr>
        <p:spPr>
          <a:xfrm>
            <a:off x="457200" y="370332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960120" y="3657600"/>
            <a:ext cx="192024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Architecture</a:t>
            </a:r>
            <a:endParaRPr lang="en-US" sz="1300" dirty="0"/>
          </a:p>
        </p:txBody>
      </p:sp>
      <p:sp>
        <p:nvSpPr>
          <p:cNvPr id="8" name="Text 6"/>
          <p:cNvSpPr/>
          <p:nvPr/>
        </p:nvSpPr>
        <p:spPr>
          <a:xfrm>
            <a:off x="960120" y="3959352"/>
            <a:ext cx="4663440" cy="457200"/>
          </a:xfrm>
          <a:prstGeom prst="rect">
            <a:avLst/>
          </a:prstGeom>
          <a:noFill/>
          <a:ln/>
        </p:spPr>
        <p:txBody>
          <a:bodyPr wrap="square" rtlCol="0" anchor="ctr"/>
          <a:lstStyle/>
          <a:p>
            <a:pPr indent="0" marL="0">
              <a:buNone/>
            </a:pPr>
            <a:r>
              <a:rPr lang="en-US" sz="1150" dirty="0">
                <a:solidFill>
                  <a:srgbClr val="5A5A5A"/>
                </a:solidFill>
                <a:latin typeface="Calibri" pitchFamily="34" charset="0"/>
                <a:ea typeface="Calibri" pitchFamily="34" charset="-122"/>
                <a:cs typeface="Calibri" pitchFamily="34" charset="-120"/>
              </a:rPr>
              <a:t>Transformer layers, attention heads, parameter count — the 'engine'</a:t>
            </a:r>
            <a:endParaRPr lang="en-US" sz="1150" dirty="0"/>
          </a:p>
        </p:txBody>
      </p:sp>
      <p:sp>
        <p:nvSpPr>
          <p:cNvPr id="9" name="Shape 7"/>
          <p:cNvSpPr/>
          <p:nvPr/>
        </p:nvSpPr>
        <p:spPr>
          <a:xfrm>
            <a:off x="457200" y="4544568"/>
            <a:ext cx="384048" cy="384048"/>
          </a:xfrm>
          <a:prstGeom prst="ellipse">
            <a:avLst/>
          </a:prstGeom>
          <a:solidFill>
            <a:srgbClr val="3D5AFE"/>
          </a:solidFill>
          <a:ln/>
        </p:spPr>
      </p:sp>
      <p:sp>
        <p:nvSpPr>
          <p:cNvPr id="10" name="Text 8"/>
          <p:cNvSpPr/>
          <p:nvPr/>
        </p:nvSpPr>
        <p:spPr>
          <a:xfrm>
            <a:off x="457200" y="4544568"/>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960120" y="4498848"/>
            <a:ext cx="192024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Training</a:t>
            </a:r>
            <a:endParaRPr lang="en-US" sz="1300" dirty="0"/>
          </a:p>
        </p:txBody>
      </p:sp>
      <p:sp>
        <p:nvSpPr>
          <p:cNvPr id="12" name="Text 10"/>
          <p:cNvSpPr/>
          <p:nvPr/>
        </p:nvSpPr>
        <p:spPr>
          <a:xfrm>
            <a:off x="960120" y="4800600"/>
            <a:ext cx="4663440" cy="457200"/>
          </a:xfrm>
          <a:prstGeom prst="rect">
            <a:avLst/>
          </a:prstGeom>
          <a:noFill/>
          <a:ln/>
        </p:spPr>
        <p:txBody>
          <a:bodyPr wrap="square" rtlCol="0" anchor="ctr"/>
          <a:lstStyle/>
          <a:p>
            <a:pPr indent="0" marL="0">
              <a:buNone/>
            </a:pPr>
            <a:r>
              <a:rPr lang="en-US" sz="1150" dirty="0">
                <a:solidFill>
                  <a:srgbClr val="5A5A5A"/>
                </a:solidFill>
                <a:latin typeface="Calibri" pitchFamily="34" charset="0"/>
                <a:ea typeface="Calibri" pitchFamily="34" charset="-122"/>
                <a:cs typeface="Calibri" pitchFamily="34" charset="-120"/>
              </a:rPr>
              <a:t>What data, objectives, and feedback shape the engine's behaviour</a:t>
            </a:r>
            <a:endParaRPr lang="en-US" sz="1150" dirty="0"/>
          </a:p>
        </p:txBody>
      </p:sp>
      <p:sp>
        <p:nvSpPr>
          <p:cNvPr id="13" name="Shape 11"/>
          <p:cNvSpPr/>
          <p:nvPr/>
        </p:nvSpPr>
        <p:spPr>
          <a:xfrm>
            <a:off x="457200" y="5385816"/>
            <a:ext cx="384048" cy="384048"/>
          </a:xfrm>
          <a:prstGeom prst="ellipse">
            <a:avLst/>
          </a:prstGeom>
          <a:solidFill>
            <a:srgbClr val="3D5AFE"/>
          </a:solidFill>
          <a:ln/>
        </p:spPr>
      </p:sp>
      <p:sp>
        <p:nvSpPr>
          <p:cNvPr id="14" name="Text 12"/>
          <p:cNvSpPr/>
          <p:nvPr/>
        </p:nvSpPr>
        <p:spPr>
          <a:xfrm>
            <a:off x="457200" y="5385816"/>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960120" y="5340096"/>
            <a:ext cx="192024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Why it matters</a:t>
            </a:r>
            <a:endParaRPr lang="en-US" sz="1300" dirty="0"/>
          </a:p>
        </p:txBody>
      </p:sp>
      <p:sp>
        <p:nvSpPr>
          <p:cNvPr id="16" name="Text 14"/>
          <p:cNvSpPr/>
          <p:nvPr/>
        </p:nvSpPr>
        <p:spPr>
          <a:xfrm>
            <a:off x="960120" y="5641848"/>
            <a:ext cx="4663440" cy="457200"/>
          </a:xfrm>
          <a:prstGeom prst="rect">
            <a:avLst/>
          </a:prstGeom>
          <a:noFill/>
          <a:ln/>
        </p:spPr>
        <p:txBody>
          <a:bodyPr wrap="square" rtlCol="0" anchor="ctr"/>
          <a:lstStyle/>
          <a:p>
            <a:pPr indent="0" marL="0">
              <a:buNone/>
            </a:pPr>
            <a:r>
              <a:rPr lang="en-US" sz="1150" dirty="0">
                <a:solidFill>
                  <a:srgbClr val="5A5A5A"/>
                </a:solidFill>
                <a:latin typeface="Calibri" pitchFamily="34" charset="0"/>
                <a:ea typeface="Calibri" pitchFamily="34" charset="-122"/>
                <a:cs typeface="Calibri" pitchFamily="34" charset="-120"/>
              </a:rPr>
              <a:t>Two models with identical architecture can differ drastically after training</a:t>
            </a:r>
            <a:endParaRPr lang="en-US" sz="1150" dirty="0"/>
          </a:p>
        </p:txBody>
      </p:sp>
      <p:sp>
        <p:nvSpPr>
          <p:cNvPr id="17" name="Shape 15"/>
          <p:cNvSpPr/>
          <p:nvPr/>
        </p:nvSpPr>
        <p:spPr>
          <a:xfrm>
            <a:off x="6126480" y="1920240"/>
            <a:ext cx="1298448" cy="960120"/>
          </a:xfrm>
          <a:prstGeom prst="roundRect">
            <a:avLst>
              <a:gd name="adj" fmla="val 7619"/>
            </a:avLst>
          </a:prstGeom>
          <a:solidFill>
            <a:srgbClr val="1E2761"/>
          </a:solidFill>
          <a:ln/>
          <a:effectLst>
            <a:outerShdw sx="100000" sy="100000" kx="0" ky="0" algn="bl" rotWithShape="0" blurRad="76200" dist="25400" dir="5400000">
              <a:srgbClr val="1E2761">
                <a:alpha val="18000"/>
              </a:srgbClr>
            </a:outerShdw>
          </a:effectLst>
        </p:spPr>
      </p:sp>
      <p:sp>
        <p:nvSpPr>
          <p:cNvPr id="18" name="Text 16"/>
          <p:cNvSpPr/>
          <p:nvPr/>
        </p:nvSpPr>
        <p:spPr>
          <a:xfrm>
            <a:off x="6172200" y="1920240"/>
            <a:ext cx="1207008" cy="9601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Raw Web</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Text</a:t>
            </a:r>
            <a:endParaRPr lang="en-US" sz="1150" dirty="0"/>
          </a:p>
        </p:txBody>
      </p:sp>
      <p:sp>
        <p:nvSpPr>
          <p:cNvPr id="19" name="Shape 17"/>
          <p:cNvSpPr/>
          <p:nvPr/>
        </p:nvSpPr>
        <p:spPr>
          <a:xfrm>
            <a:off x="7443216" y="2290572"/>
            <a:ext cx="219456" cy="228600"/>
          </a:xfrm>
          <a:prstGeom prst="rightArrow">
            <a:avLst/>
          </a:prstGeom>
          <a:solidFill>
            <a:srgbClr val="CADCFC"/>
          </a:solidFill>
          <a:ln/>
        </p:spPr>
      </p:sp>
      <p:sp>
        <p:nvSpPr>
          <p:cNvPr id="20" name="Shape 18"/>
          <p:cNvSpPr/>
          <p:nvPr/>
        </p:nvSpPr>
        <p:spPr>
          <a:xfrm>
            <a:off x="7680960" y="1920240"/>
            <a:ext cx="1298448" cy="960120"/>
          </a:xfrm>
          <a:prstGeom prst="roundRect">
            <a:avLst>
              <a:gd name="adj" fmla="val 7619"/>
            </a:avLst>
          </a:prstGeom>
          <a:solidFill>
            <a:srgbClr val="1E2761"/>
          </a:solidFill>
          <a:ln/>
          <a:effectLst>
            <a:outerShdw sx="100000" sy="100000" kx="0" ky="0" algn="bl" rotWithShape="0" blurRad="76200" dist="25400" dir="5400000">
              <a:srgbClr val="1E2761">
                <a:alpha val="18000"/>
              </a:srgbClr>
            </a:outerShdw>
          </a:effectLst>
        </p:spPr>
      </p:sp>
      <p:sp>
        <p:nvSpPr>
          <p:cNvPr id="21" name="Text 19"/>
          <p:cNvSpPr/>
          <p:nvPr/>
        </p:nvSpPr>
        <p:spPr>
          <a:xfrm>
            <a:off x="7726680" y="1920240"/>
            <a:ext cx="1207008" cy="9601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Pretraining</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(Base Model)</a:t>
            </a:r>
            <a:endParaRPr lang="en-US" sz="1150" dirty="0"/>
          </a:p>
        </p:txBody>
      </p:sp>
      <p:sp>
        <p:nvSpPr>
          <p:cNvPr id="22" name="Shape 20"/>
          <p:cNvSpPr/>
          <p:nvPr/>
        </p:nvSpPr>
        <p:spPr>
          <a:xfrm>
            <a:off x="8997696" y="2290572"/>
            <a:ext cx="219456" cy="228600"/>
          </a:xfrm>
          <a:prstGeom prst="rightArrow">
            <a:avLst/>
          </a:prstGeom>
          <a:solidFill>
            <a:srgbClr val="CADCFC"/>
          </a:solidFill>
          <a:ln/>
        </p:spPr>
      </p:sp>
      <p:sp>
        <p:nvSpPr>
          <p:cNvPr id="23" name="Shape 21"/>
          <p:cNvSpPr/>
          <p:nvPr/>
        </p:nvSpPr>
        <p:spPr>
          <a:xfrm>
            <a:off x="9235440" y="1920240"/>
            <a:ext cx="1298448" cy="960120"/>
          </a:xfrm>
          <a:prstGeom prst="roundRect">
            <a:avLst>
              <a:gd name="adj" fmla="val 7619"/>
            </a:avLst>
          </a:prstGeom>
          <a:solidFill>
            <a:srgbClr val="1E2761"/>
          </a:solidFill>
          <a:ln/>
          <a:effectLst>
            <a:outerShdw sx="100000" sy="100000" kx="0" ky="0" algn="bl" rotWithShape="0" blurRad="76200" dist="25400" dir="5400000">
              <a:srgbClr val="1E2761">
                <a:alpha val="18000"/>
              </a:srgbClr>
            </a:outerShdw>
          </a:effectLst>
        </p:spPr>
      </p:sp>
      <p:sp>
        <p:nvSpPr>
          <p:cNvPr id="24" name="Text 22"/>
          <p:cNvSpPr/>
          <p:nvPr/>
        </p:nvSpPr>
        <p:spPr>
          <a:xfrm>
            <a:off x="9281160" y="1920240"/>
            <a:ext cx="1207008" cy="9601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Post-Training</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(SFT + RLHF/DPO)</a:t>
            </a:r>
            <a:endParaRPr lang="en-US" sz="1150" dirty="0"/>
          </a:p>
        </p:txBody>
      </p:sp>
      <p:sp>
        <p:nvSpPr>
          <p:cNvPr id="25" name="Shape 23"/>
          <p:cNvSpPr/>
          <p:nvPr/>
        </p:nvSpPr>
        <p:spPr>
          <a:xfrm>
            <a:off x="10552176" y="2290572"/>
            <a:ext cx="219456" cy="228600"/>
          </a:xfrm>
          <a:prstGeom prst="rightArrow">
            <a:avLst/>
          </a:prstGeom>
          <a:solidFill>
            <a:srgbClr val="CADCFC"/>
          </a:solidFill>
          <a:ln/>
        </p:spPr>
      </p:sp>
      <p:sp>
        <p:nvSpPr>
          <p:cNvPr id="26" name="Shape 24"/>
          <p:cNvSpPr/>
          <p:nvPr/>
        </p:nvSpPr>
        <p:spPr>
          <a:xfrm>
            <a:off x="10789920" y="1920240"/>
            <a:ext cx="1298448" cy="960120"/>
          </a:xfrm>
          <a:prstGeom prst="roundRect">
            <a:avLst>
              <a:gd name="adj" fmla="val 7619"/>
            </a:avLst>
          </a:prstGeom>
          <a:solidFill>
            <a:srgbClr val="3D5AFE"/>
          </a:solidFill>
          <a:ln/>
          <a:effectLst>
            <a:outerShdw sx="100000" sy="100000" kx="0" ky="0" algn="bl" rotWithShape="0" blurRad="76200" dist="25400" dir="5400000">
              <a:srgbClr val="1E2761">
                <a:alpha val="18000"/>
              </a:srgbClr>
            </a:outerShdw>
          </a:effectLst>
        </p:spPr>
      </p:sp>
      <p:sp>
        <p:nvSpPr>
          <p:cNvPr id="27" name="Text 25"/>
          <p:cNvSpPr/>
          <p:nvPr/>
        </p:nvSpPr>
        <p:spPr>
          <a:xfrm>
            <a:off x="10835640" y="1920240"/>
            <a:ext cx="1207008" cy="9601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Deployed</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Chat Model</a:t>
            </a:r>
            <a:endParaRPr lang="en-US" sz="1150" dirty="0"/>
          </a:p>
        </p:txBody>
      </p:sp>
      <p:sp>
        <p:nvSpPr>
          <p:cNvPr id="28" name="Text 26"/>
          <p:cNvSpPr/>
          <p:nvPr/>
        </p:nvSpPr>
        <p:spPr>
          <a:xfrm>
            <a:off x="6126480" y="3108960"/>
            <a:ext cx="5577840" cy="274320"/>
          </a:xfrm>
          <a:prstGeom prst="rect">
            <a:avLst/>
          </a:prstGeom>
          <a:noFill/>
          <a:ln/>
        </p:spPr>
        <p:txBody>
          <a:bodyPr wrap="square" rtlCol="0" anchor="ctr"/>
          <a:lstStyle/>
          <a:p>
            <a:pPr algn="ctr" indent="0" marL="0">
              <a:buNone/>
            </a:pPr>
            <a:r>
              <a:rPr lang="en-US" sz="1000" i="1" dirty="0">
                <a:solidFill>
                  <a:srgbClr val="5A5A5A"/>
                </a:solidFill>
                <a:latin typeface="Calibri" pitchFamily="34" charset="0"/>
                <a:ea typeface="Calibri" pitchFamily="34" charset="-122"/>
                <a:cs typeface="Calibri" pitchFamily="34" charset="-120"/>
              </a:rPr>
              <a:t>Figure: End-to-end LLM production pipeline</a:t>
            </a:r>
            <a:endParaRPr lang="en-US" sz="1000" dirty="0"/>
          </a:p>
        </p:txBody>
      </p:sp>
      <p:sp>
        <p:nvSpPr>
          <p:cNvPr id="29" name="Shape 27"/>
          <p:cNvSpPr/>
          <p:nvPr/>
        </p:nvSpPr>
        <p:spPr>
          <a:xfrm>
            <a:off x="6126480" y="3566160"/>
            <a:ext cx="5577840" cy="18288"/>
          </a:xfrm>
          <a:prstGeom prst="rect">
            <a:avLst/>
          </a:prstGeom>
          <a:solidFill>
            <a:srgbClr val="CADCFC"/>
          </a:solidFill>
          <a:ln/>
        </p:spPr>
      </p:sp>
      <p:sp>
        <p:nvSpPr>
          <p:cNvPr id="30" name="Text 28"/>
          <p:cNvSpPr/>
          <p:nvPr/>
        </p:nvSpPr>
        <p:spPr>
          <a:xfrm>
            <a:off x="6126480" y="3977640"/>
            <a:ext cx="5577840" cy="914400"/>
          </a:xfrm>
          <a:prstGeom prst="rect">
            <a:avLst/>
          </a:prstGeom>
          <a:noFill/>
          <a:ln/>
        </p:spPr>
        <p:txBody>
          <a:bodyPr wrap="square" rtlCol="0" anchor="t"/>
          <a:lstStyle/>
          <a:p>
            <a:pPr indent="0" marL="0">
              <a:buNone/>
            </a:pPr>
            <a:r>
              <a:rPr lang="en-US" sz="1250" i="1" dirty="0">
                <a:solidFill>
                  <a:srgbClr val="1E2761"/>
                </a:solidFill>
                <a:latin typeface="Calibri" pitchFamily="34" charset="0"/>
                <a:ea typeface="Calibri" pitchFamily="34" charset="-122"/>
                <a:cs typeface="Calibri" pitchFamily="34" charset="-120"/>
              </a:rPr>
              <a:t>Two models, same architecture, different training data / objectives, can differ by 10s of points on reasoning and instruction-following benchmarks.</a:t>
            </a:r>
            <a:endParaRPr lang="en-US" sz="1250" dirty="0"/>
          </a:p>
        </p:txBody>
      </p:sp>
      <p:sp>
        <p:nvSpPr>
          <p:cNvPr id="31" name="Shape 29"/>
          <p:cNvSpPr/>
          <p:nvPr/>
        </p:nvSpPr>
        <p:spPr>
          <a:xfrm>
            <a:off x="6126480" y="5074920"/>
            <a:ext cx="1783080" cy="548640"/>
          </a:xfrm>
          <a:prstGeom prst="roundRect">
            <a:avLst>
              <a:gd name="adj" fmla="val 13333"/>
            </a:avLst>
          </a:prstGeom>
          <a:solidFill>
            <a:srgbClr val="F4F6FB"/>
          </a:solidFill>
          <a:ln/>
          <a:effectLst>
            <a:outerShdw sx="100000" sy="100000" kx="0" ky="0" algn="bl" rotWithShape="0" blurRad="76200" dist="25400" dir="5400000">
              <a:srgbClr val="1E2761">
                <a:alpha val="18000"/>
              </a:srgbClr>
            </a:outerShdw>
          </a:effectLst>
        </p:spPr>
      </p:sp>
      <p:sp>
        <p:nvSpPr>
          <p:cNvPr id="32" name="Text 30"/>
          <p:cNvSpPr/>
          <p:nvPr/>
        </p:nvSpPr>
        <p:spPr>
          <a:xfrm>
            <a:off x="6172200" y="5074920"/>
            <a:ext cx="1691640" cy="54864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GPT-4</a:t>
            </a:r>
            <a:endParaRPr lang="en-US" sz="1100" dirty="0"/>
          </a:p>
        </p:txBody>
      </p:sp>
      <p:sp>
        <p:nvSpPr>
          <p:cNvPr id="33" name="Shape 31"/>
          <p:cNvSpPr/>
          <p:nvPr/>
        </p:nvSpPr>
        <p:spPr>
          <a:xfrm>
            <a:off x="8028432" y="5074920"/>
            <a:ext cx="1783080" cy="548640"/>
          </a:xfrm>
          <a:prstGeom prst="roundRect">
            <a:avLst>
              <a:gd name="adj" fmla="val 13333"/>
            </a:avLst>
          </a:prstGeom>
          <a:solidFill>
            <a:srgbClr val="F4F6FB"/>
          </a:solidFill>
          <a:ln/>
          <a:effectLst>
            <a:outerShdw sx="100000" sy="100000" kx="0" ky="0" algn="bl" rotWithShape="0" blurRad="76200" dist="25400" dir="5400000">
              <a:srgbClr val="1E2761">
                <a:alpha val="18000"/>
              </a:srgbClr>
            </a:outerShdw>
          </a:effectLst>
        </p:spPr>
      </p:sp>
      <p:sp>
        <p:nvSpPr>
          <p:cNvPr id="34" name="Text 32"/>
          <p:cNvSpPr/>
          <p:nvPr/>
        </p:nvSpPr>
        <p:spPr>
          <a:xfrm>
            <a:off x="8074152" y="5074920"/>
            <a:ext cx="1691640" cy="54864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DeepSeek-V3 / R1</a:t>
            </a:r>
            <a:endParaRPr lang="en-US" sz="1100" dirty="0"/>
          </a:p>
        </p:txBody>
      </p:sp>
      <p:sp>
        <p:nvSpPr>
          <p:cNvPr id="35" name="Shape 33"/>
          <p:cNvSpPr/>
          <p:nvPr/>
        </p:nvSpPr>
        <p:spPr>
          <a:xfrm>
            <a:off x="9930384" y="5074920"/>
            <a:ext cx="1783080" cy="548640"/>
          </a:xfrm>
          <a:prstGeom prst="roundRect">
            <a:avLst>
              <a:gd name="adj" fmla="val 13333"/>
            </a:avLst>
          </a:prstGeom>
          <a:solidFill>
            <a:srgbClr val="F4F6FB"/>
          </a:solidFill>
          <a:ln/>
          <a:effectLst>
            <a:outerShdw sx="100000" sy="100000" kx="0" ky="0" algn="bl" rotWithShape="0" blurRad="76200" dist="25400" dir="5400000">
              <a:srgbClr val="1E2761">
                <a:alpha val="18000"/>
              </a:srgbClr>
            </a:outerShdw>
          </a:effectLst>
        </p:spPr>
      </p:sp>
      <p:sp>
        <p:nvSpPr>
          <p:cNvPr id="36" name="Text 34"/>
          <p:cNvSpPr/>
          <p:nvPr/>
        </p:nvSpPr>
        <p:spPr>
          <a:xfrm>
            <a:off x="9976104" y="5074920"/>
            <a:ext cx="1691640" cy="54864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Llama 3</a:t>
            </a:r>
            <a:endParaRPr lang="en-US" sz="1100" dirty="0"/>
          </a:p>
        </p:txBody>
      </p:sp>
      <p:sp>
        <p:nvSpPr>
          <p:cNvPr id="37" name="Shape 35"/>
          <p:cNvSpPr/>
          <p:nvPr/>
        </p:nvSpPr>
        <p:spPr>
          <a:xfrm>
            <a:off x="6126480" y="5742432"/>
            <a:ext cx="1783080" cy="548640"/>
          </a:xfrm>
          <a:prstGeom prst="roundRect">
            <a:avLst>
              <a:gd name="adj" fmla="val 13333"/>
            </a:avLst>
          </a:prstGeom>
          <a:solidFill>
            <a:srgbClr val="F4F6FB"/>
          </a:solidFill>
          <a:ln/>
          <a:effectLst>
            <a:outerShdw sx="100000" sy="100000" kx="0" ky="0" algn="bl" rotWithShape="0" blurRad="76200" dist="25400" dir="5400000">
              <a:srgbClr val="1E2761">
                <a:alpha val="18000"/>
              </a:srgbClr>
            </a:outerShdw>
          </a:effectLst>
        </p:spPr>
      </p:sp>
      <p:sp>
        <p:nvSpPr>
          <p:cNvPr id="38" name="Text 36"/>
          <p:cNvSpPr/>
          <p:nvPr/>
        </p:nvSpPr>
        <p:spPr>
          <a:xfrm>
            <a:off x="6172200" y="5742432"/>
            <a:ext cx="1691640" cy="54864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Qwen</a:t>
            </a:r>
            <a:endParaRPr lang="en-US" sz="1100" dirty="0"/>
          </a:p>
        </p:txBody>
      </p:sp>
      <p:sp>
        <p:nvSpPr>
          <p:cNvPr id="39" name="Shape 37"/>
          <p:cNvSpPr/>
          <p:nvPr/>
        </p:nvSpPr>
        <p:spPr>
          <a:xfrm>
            <a:off x="8028432" y="5742432"/>
            <a:ext cx="1783080" cy="548640"/>
          </a:xfrm>
          <a:prstGeom prst="roundRect">
            <a:avLst>
              <a:gd name="adj" fmla="val 13333"/>
            </a:avLst>
          </a:prstGeom>
          <a:solidFill>
            <a:srgbClr val="F4F6FB"/>
          </a:solidFill>
          <a:ln/>
          <a:effectLst>
            <a:outerShdw sx="100000" sy="100000" kx="0" ky="0" algn="bl" rotWithShape="0" blurRad="76200" dist="25400" dir="5400000">
              <a:srgbClr val="1E2761">
                <a:alpha val="18000"/>
              </a:srgbClr>
            </a:outerShdw>
          </a:effectLst>
        </p:spPr>
      </p:sp>
      <p:sp>
        <p:nvSpPr>
          <p:cNvPr id="40" name="Text 38"/>
          <p:cNvSpPr/>
          <p:nvPr/>
        </p:nvSpPr>
        <p:spPr>
          <a:xfrm>
            <a:off x="8074152" y="5742432"/>
            <a:ext cx="1691640" cy="54864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Claude</a:t>
            </a:r>
            <a:endParaRPr lang="en-US" sz="1100" dirty="0"/>
          </a:p>
        </p:txBody>
      </p:sp>
      <p:sp>
        <p:nvSpPr>
          <p:cNvPr id="41" name="Shape 39"/>
          <p:cNvSpPr/>
          <p:nvPr/>
        </p:nvSpPr>
        <p:spPr>
          <a:xfrm>
            <a:off x="9930384" y="5742432"/>
            <a:ext cx="1783080" cy="548640"/>
          </a:xfrm>
          <a:prstGeom prst="roundRect">
            <a:avLst>
              <a:gd name="adj" fmla="val 13333"/>
            </a:avLst>
          </a:prstGeom>
          <a:solidFill>
            <a:srgbClr val="F4F6FB"/>
          </a:solidFill>
          <a:ln/>
          <a:effectLst>
            <a:outerShdw sx="100000" sy="100000" kx="0" ky="0" algn="bl" rotWithShape="0" blurRad="76200" dist="25400" dir="5400000">
              <a:srgbClr val="1E2761">
                <a:alpha val="18000"/>
              </a:srgbClr>
            </a:outerShdw>
          </a:effectLst>
        </p:spPr>
      </p:sp>
      <p:sp>
        <p:nvSpPr>
          <p:cNvPr id="42" name="Text 40"/>
          <p:cNvSpPr/>
          <p:nvPr/>
        </p:nvSpPr>
        <p:spPr>
          <a:xfrm>
            <a:off x="9976104" y="5742432"/>
            <a:ext cx="1691640" cy="54864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Gemini</a:t>
            </a:r>
            <a:endParaRPr lang="en-US" sz="1100" dirty="0"/>
          </a:p>
        </p:txBody>
      </p:sp>
      <p:sp>
        <p:nvSpPr>
          <p:cNvPr id="25" name="Slide Number Placeholder 0"/>
          <p:cNvSpPr>
            <a:spLocks noGrp="1"/>
          </p:cNvSpPr>
          <p:nvPr>
            <p:ph type="sldNum" sz="quarter" idx="4294967295"/>
          </p:nvPr>
        </p:nvSpPr>
        <p:spPr>
          <a:xfrm>
            <a:off x="1154887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84048"/>
            <a:ext cx="5486400" cy="274320"/>
          </a:xfrm>
          <a:prstGeom prst="rect">
            <a:avLst/>
          </a:prstGeom>
          <a:noFill/>
          <a:ln/>
        </p:spPr>
        <p:txBody>
          <a:bodyPr wrap="square" rtlCol="0" anchor="ctr"/>
          <a:lstStyle/>
          <a:p>
            <a:pPr indent="0" marL="0">
              <a:buNone/>
            </a:pPr>
            <a:r>
              <a:rPr lang="en-US" sz="1100" b="1" spc="200" kern="0" dirty="0">
                <a:solidFill>
                  <a:srgbClr val="3D5AFE"/>
                </a:solidFill>
                <a:latin typeface="Calibri" pitchFamily="34" charset="0"/>
                <a:ea typeface="Calibri" pitchFamily="34" charset="-122"/>
                <a:cs typeface="Calibri" pitchFamily="34" charset="-120"/>
              </a:rPr>
              <a:t>PRETRAINING</a:t>
            </a:r>
            <a:endParaRPr lang="en-US" sz="1100" dirty="0"/>
          </a:p>
        </p:txBody>
      </p:sp>
      <p:sp>
        <p:nvSpPr>
          <p:cNvPr id="3" name="Text 1"/>
          <p:cNvSpPr/>
          <p:nvPr/>
        </p:nvSpPr>
        <p:spPr>
          <a:xfrm>
            <a:off x="457200" y="59436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Pretraining: Learning Language from Raw Text</a:t>
            </a:r>
            <a:endParaRPr lang="en-US" sz="3000" dirty="0"/>
          </a:p>
        </p:txBody>
      </p:sp>
      <p:sp>
        <p:nvSpPr>
          <p:cNvPr id="4" name="Text 2"/>
          <p:cNvSpPr/>
          <p:nvPr/>
        </p:nvSpPr>
        <p:spPr>
          <a:xfrm>
            <a:off x="457200" y="1691640"/>
            <a:ext cx="11247120" cy="594360"/>
          </a:xfrm>
          <a:prstGeom prst="rect">
            <a:avLst/>
          </a:prstGeom>
          <a:noFill/>
          <a:ln/>
        </p:spPr>
        <p:txBody>
          <a:bodyPr wrap="square" rtlCol="0" anchor="t"/>
          <a:lstStyle/>
          <a:p>
            <a:pPr indent="0" marL="0">
              <a:buNone/>
            </a:pPr>
            <a:r>
              <a:rPr lang="en-US" sz="1300" dirty="0">
                <a:solidFill>
                  <a:srgbClr val="0A0A0A"/>
                </a:solidFill>
                <a:latin typeface="Calibri" pitchFamily="34" charset="0"/>
                <a:ea typeface="Calibri" pitchFamily="34" charset="-122"/>
                <a:cs typeface="Calibri" pitchFamily="34" charset="-120"/>
              </a:rPr>
              <a:t>Pretraining exposes a Transformer to trillions of tokens scraped from the web, books, and code, using a simple self-supervised objective: predict the next token given all previous ones.</a:t>
            </a:r>
            <a:endParaRPr lang="en-US" sz="1300" dirty="0"/>
          </a:p>
        </p:txBody>
      </p:sp>
      <p:sp>
        <p:nvSpPr>
          <p:cNvPr id="5" name="Shape 3"/>
          <p:cNvSpPr/>
          <p:nvPr/>
        </p:nvSpPr>
        <p:spPr>
          <a:xfrm>
            <a:off x="457200" y="2514600"/>
            <a:ext cx="1965960" cy="1051560"/>
          </a:xfrm>
          <a:prstGeom prst="roundRect">
            <a:avLst>
              <a:gd name="adj" fmla="val 6957"/>
            </a:avLst>
          </a:prstGeom>
          <a:solidFill>
            <a:srgbClr val="1E2761"/>
          </a:solidFill>
          <a:ln/>
          <a:effectLst>
            <a:outerShdw sx="100000" sy="100000" kx="0" ky="0" algn="bl" rotWithShape="0" blurRad="76200" dist="25400" dir="5400000">
              <a:srgbClr val="1E2761">
                <a:alpha val="18000"/>
              </a:srgbClr>
            </a:outerShdw>
          </a:effectLst>
        </p:spPr>
      </p:sp>
      <p:sp>
        <p:nvSpPr>
          <p:cNvPr id="6" name="Text 4"/>
          <p:cNvSpPr/>
          <p:nvPr/>
        </p:nvSpPr>
        <p:spPr>
          <a:xfrm>
            <a:off x="502920" y="2514600"/>
            <a:ext cx="1874520" cy="10515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Raw Corpus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(Web, Books, Code)</a:t>
            </a:r>
            <a:endParaRPr lang="en-US" sz="1100" dirty="0"/>
          </a:p>
        </p:txBody>
      </p:sp>
      <p:sp>
        <p:nvSpPr>
          <p:cNvPr id="7" name="Shape 5"/>
          <p:cNvSpPr/>
          <p:nvPr/>
        </p:nvSpPr>
        <p:spPr>
          <a:xfrm>
            <a:off x="2441448" y="2930652"/>
            <a:ext cx="219456" cy="228600"/>
          </a:xfrm>
          <a:prstGeom prst="rightArrow">
            <a:avLst/>
          </a:prstGeom>
          <a:solidFill>
            <a:srgbClr val="CADCFC"/>
          </a:solidFill>
          <a:ln/>
        </p:spPr>
      </p:sp>
      <p:sp>
        <p:nvSpPr>
          <p:cNvPr id="8" name="Shape 6"/>
          <p:cNvSpPr/>
          <p:nvPr/>
        </p:nvSpPr>
        <p:spPr>
          <a:xfrm>
            <a:off x="2679192" y="2514600"/>
            <a:ext cx="1965960" cy="1051560"/>
          </a:xfrm>
          <a:prstGeom prst="roundRect">
            <a:avLst>
              <a:gd name="adj" fmla="val 6957"/>
            </a:avLst>
          </a:prstGeom>
          <a:solidFill>
            <a:srgbClr val="1E2761"/>
          </a:solidFill>
          <a:ln/>
          <a:effectLst>
            <a:outerShdw sx="100000" sy="100000" kx="0" ky="0" algn="bl" rotWithShape="0" blurRad="76200" dist="25400" dir="5400000">
              <a:srgbClr val="1E2761">
                <a:alpha val="18000"/>
              </a:srgbClr>
            </a:outerShdw>
          </a:effectLst>
        </p:spPr>
      </p:sp>
      <p:sp>
        <p:nvSpPr>
          <p:cNvPr id="9" name="Text 7"/>
          <p:cNvSpPr/>
          <p:nvPr/>
        </p:nvSpPr>
        <p:spPr>
          <a:xfrm>
            <a:off x="2724912" y="2514600"/>
            <a:ext cx="1874520" cy="10515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Tokenization</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(BPE / SentencePiece)</a:t>
            </a:r>
            <a:endParaRPr lang="en-US" sz="1100" dirty="0"/>
          </a:p>
        </p:txBody>
      </p:sp>
      <p:sp>
        <p:nvSpPr>
          <p:cNvPr id="10" name="Shape 8"/>
          <p:cNvSpPr/>
          <p:nvPr/>
        </p:nvSpPr>
        <p:spPr>
          <a:xfrm>
            <a:off x="4663440" y="2930652"/>
            <a:ext cx="219456" cy="228600"/>
          </a:xfrm>
          <a:prstGeom prst="rightArrow">
            <a:avLst/>
          </a:prstGeom>
          <a:solidFill>
            <a:srgbClr val="CADCFC"/>
          </a:solidFill>
          <a:ln/>
        </p:spPr>
      </p:sp>
      <p:sp>
        <p:nvSpPr>
          <p:cNvPr id="11" name="Shape 9"/>
          <p:cNvSpPr/>
          <p:nvPr/>
        </p:nvSpPr>
        <p:spPr>
          <a:xfrm>
            <a:off x="4901184" y="2514600"/>
            <a:ext cx="1965960" cy="1051560"/>
          </a:xfrm>
          <a:prstGeom prst="roundRect">
            <a:avLst>
              <a:gd name="adj" fmla="val 6957"/>
            </a:avLst>
          </a:prstGeom>
          <a:solidFill>
            <a:srgbClr val="1E2761"/>
          </a:solidFill>
          <a:ln/>
          <a:effectLst>
            <a:outerShdw sx="100000" sy="100000" kx="0" ky="0" algn="bl" rotWithShape="0" blurRad="76200" dist="25400" dir="5400000">
              <a:srgbClr val="1E2761">
                <a:alpha val="18000"/>
              </a:srgbClr>
            </a:outerShdw>
          </a:effectLst>
        </p:spPr>
      </p:sp>
      <p:sp>
        <p:nvSpPr>
          <p:cNvPr id="12" name="Text 10"/>
          <p:cNvSpPr/>
          <p:nvPr/>
        </p:nvSpPr>
        <p:spPr>
          <a:xfrm>
            <a:off x="4946904" y="2514600"/>
            <a:ext cx="1874520" cy="10515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Causal LM</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Next-Token Prediction</a:t>
            </a:r>
            <a:endParaRPr lang="en-US" sz="1100" dirty="0"/>
          </a:p>
        </p:txBody>
      </p:sp>
      <p:sp>
        <p:nvSpPr>
          <p:cNvPr id="13" name="Shape 11"/>
          <p:cNvSpPr/>
          <p:nvPr/>
        </p:nvSpPr>
        <p:spPr>
          <a:xfrm>
            <a:off x="6885432" y="2930652"/>
            <a:ext cx="219456" cy="228600"/>
          </a:xfrm>
          <a:prstGeom prst="rightArrow">
            <a:avLst/>
          </a:prstGeom>
          <a:solidFill>
            <a:srgbClr val="CADCFC"/>
          </a:solidFill>
          <a:ln/>
        </p:spPr>
      </p:sp>
      <p:sp>
        <p:nvSpPr>
          <p:cNvPr id="14" name="Shape 12"/>
          <p:cNvSpPr/>
          <p:nvPr/>
        </p:nvSpPr>
        <p:spPr>
          <a:xfrm>
            <a:off x="7123176" y="2514600"/>
            <a:ext cx="1965960" cy="1051560"/>
          </a:xfrm>
          <a:prstGeom prst="roundRect">
            <a:avLst>
              <a:gd name="adj" fmla="val 6957"/>
            </a:avLst>
          </a:prstGeom>
          <a:solidFill>
            <a:srgbClr val="1E2761"/>
          </a:solidFill>
          <a:ln/>
          <a:effectLst>
            <a:outerShdw sx="100000" sy="100000" kx="0" ky="0" algn="bl" rotWithShape="0" blurRad="76200" dist="25400" dir="5400000">
              <a:srgbClr val="1E2761">
                <a:alpha val="18000"/>
              </a:srgbClr>
            </a:outerShdw>
          </a:effectLst>
        </p:spPr>
      </p:sp>
      <p:sp>
        <p:nvSpPr>
          <p:cNvPr id="15" name="Text 13"/>
          <p:cNvSpPr/>
          <p:nvPr/>
        </p:nvSpPr>
        <p:spPr>
          <a:xfrm>
            <a:off x="7168896" y="2514600"/>
            <a:ext cx="1874520" cy="10515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Curriculum</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Ordering</a:t>
            </a:r>
            <a:endParaRPr lang="en-US" sz="1100" dirty="0"/>
          </a:p>
        </p:txBody>
      </p:sp>
      <p:sp>
        <p:nvSpPr>
          <p:cNvPr id="16" name="Shape 14"/>
          <p:cNvSpPr/>
          <p:nvPr/>
        </p:nvSpPr>
        <p:spPr>
          <a:xfrm>
            <a:off x="9107424" y="2930652"/>
            <a:ext cx="219456" cy="228600"/>
          </a:xfrm>
          <a:prstGeom prst="rightArrow">
            <a:avLst/>
          </a:prstGeom>
          <a:solidFill>
            <a:srgbClr val="CADCFC"/>
          </a:solidFill>
          <a:ln/>
        </p:spPr>
      </p:sp>
      <p:sp>
        <p:nvSpPr>
          <p:cNvPr id="17" name="Shape 15"/>
          <p:cNvSpPr/>
          <p:nvPr/>
        </p:nvSpPr>
        <p:spPr>
          <a:xfrm>
            <a:off x="9345168" y="2514600"/>
            <a:ext cx="1965960" cy="1051560"/>
          </a:xfrm>
          <a:prstGeom prst="roundRect">
            <a:avLst>
              <a:gd name="adj" fmla="val 6957"/>
            </a:avLst>
          </a:prstGeom>
          <a:solidFill>
            <a:srgbClr val="3D5AFE"/>
          </a:solidFill>
          <a:ln/>
          <a:effectLst>
            <a:outerShdw sx="100000" sy="100000" kx="0" ky="0" algn="bl" rotWithShape="0" blurRad="76200" dist="25400" dir="5400000">
              <a:srgbClr val="1E2761">
                <a:alpha val="18000"/>
              </a:srgbClr>
            </a:outerShdw>
          </a:effectLst>
        </p:spPr>
      </p:sp>
      <p:sp>
        <p:nvSpPr>
          <p:cNvPr id="18" name="Text 16"/>
          <p:cNvSpPr/>
          <p:nvPr/>
        </p:nvSpPr>
        <p:spPr>
          <a:xfrm>
            <a:off x="9390888" y="2514600"/>
            <a:ext cx="1874520" cy="10515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Base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p>
        </p:txBody>
      </p:sp>
      <p:sp>
        <p:nvSpPr>
          <p:cNvPr id="19" name="Text 17"/>
          <p:cNvSpPr/>
          <p:nvPr/>
        </p:nvSpPr>
        <p:spPr>
          <a:xfrm>
            <a:off x="457200" y="3749040"/>
            <a:ext cx="10972800" cy="274320"/>
          </a:xfrm>
          <a:prstGeom prst="rect">
            <a:avLst/>
          </a:prstGeom>
          <a:noFill/>
          <a:ln/>
        </p:spPr>
        <p:txBody>
          <a:bodyPr wrap="square" rtlCol="0" anchor="ctr"/>
          <a:lstStyle/>
          <a:p>
            <a:pPr algn="ctr" indent="0" marL="0">
              <a:buNone/>
            </a:pPr>
            <a:r>
              <a:rPr lang="en-US" sz="1000" i="1" dirty="0">
                <a:solidFill>
                  <a:srgbClr val="5A5A5A"/>
                </a:solidFill>
                <a:latin typeface="Calibri" pitchFamily="34" charset="0"/>
                <a:ea typeface="Calibri" pitchFamily="34" charset="-122"/>
                <a:cs typeface="Calibri" pitchFamily="34" charset="-120"/>
              </a:rPr>
              <a:t>Figure: Pretraining pipeline — from corpus to base model</a:t>
            </a:r>
            <a:endParaRPr lang="en-US" sz="1000" dirty="0"/>
          </a:p>
        </p:txBody>
      </p:sp>
      <p:sp>
        <p:nvSpPr>
          <p:cNvPr id="20" name="Text 18"/>
          <p:cNvSpPr/>
          <p:nvPr/>
        </p:nvSpPr>
        <p:spPr>
          <a:xfrm>
            <a:off x="457200" y="3977640"/>
            <a:ext cx="11247120" cy="384048"/>
          </a:xfrm>
          <a:prstGeom prst="rect">
            <a:avLst/>
          </a:prstGeom>
          <a:noFill/>
          <a:ln/>
        </p:spPr>
        <p:txBody>
          <a:bodyPr wrap="square"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Next Token Prediction (NTP):  </a:t>
            </a:r>
            <a:pPr indent="0" marL="0">
              <a:buNone/>
            </a:pPr>
            <a:r>
              <a:rPr lang="en-US" sz="1200" dirty="0">
                <a:solidFill>
                  <a:srgbClr val="0A0A0A"/>
                </a:solidFill>
                <a:latin typeface="Calibri" pitchFamily="34" charset="0"/>
                <a:ea typeface="Calibri" pitchFamily="34" charset="-122"/>
                <a:cs typeface="Calibri" pitchFamily="34" charset="-120"/>
              </a:rPr>
              <a:t>Model learns P(token | preceding context); the sole pretraining loss for GPT-style models [1]</a:t>
            </a:r>
            <a:endParaRPr lang="en-US" sz="1200" dirty="0"/>
          </a:p>
        </p:txBody>
      </p:sp>
      <p:sp>
        <p:nvSpPr>
          <p:cNvPr id="21" name="Text 19"/>
          <p:cNvSpPr/>
          <p:nvPr/>
        </p:nvSpPr>
        <p:spPr>
          <a:xfrm>
            <a:off x="457200" y="4379976"/>
            <a:ext cx="11247120" cy="384048"/>
          </a:xfrm>
          <a:prstGeom prst="rect">
            <a:avLst/>
          </a:prstGeom>
          <a:noFill/>
          <a:ln/>
        </p:spPr>
        <p:txBody>
          <a:bodyPr wrap="square"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Causal Language Modeling:  </a:t>
            </a:r>
            <a:pPr indent="0" marL="0">
              <a:buNone/>
            </a:pPr>
            <a:r>
              <a:rPr lang="en-US" sz="1200" dirty="0">
                <a:solidFill>
                  <a:srgbClr val="0A0A0A"/>
                </a:solidFill>
                <a:latin typeface="Calibri" pitchFamily="34" charset="0"/>
                <a:ea typeface="Calibri" pitchFamily="34" charset="-122"/>
                <a:cs typeface="Calibri" pitchFamily="34" charset="-120"/>
              </a:rPr>
              <a:t>Attention is masked so each position only sees the past — enables autoregressive generation</a:t>
            </a:r>
            <a:endParaRPr lang="en-US" sz="1200" dirty="0"/>
          </a:p>
        </p:txBody>
      </p:sp>
      <p:sp>
        <p:nvSpPr>
          <p:cNvPr id="22" name="Text 20"/>
          <p:cNvSpPr/>
          <p:nvPr/>
        </p:nvSpPr>
        <p:spPr>
          <a:xfrm>
            <a:off x="457200" y="4782312"/>
            <a:ext cx="11247120" cy="384048"/>
          </a:xfrm>
          <a:prstGeom prst="rect">
            <a:avLst/>
          </a:prstGeom>
          <a:noFill/>
          <a:ln/>
        </p:spPr>
        <p:txBody>
          <a:bodyPr wrap="square"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Large-Scale Datasets:  </a:t>
            </a:r>
            <a:pPr indent="0" marL="0">
              <a:buNone/>
            </a:pPr>
            <a:r>
              <a:rPr lang="en-US" sz="1200" dirty="0">
                <a:solidFill>
                  <a:srgbClr val="0A0A0A"/>
                </a:solidFill>
                <a:latin typeface="Calibri" pitchFamily="34" charset="0"/>
                <a:ea typeface="Calibri" pitchFamily="34" charset="-122"/>
                <a:cs typeface="Calibri" pitchFamily="34" charset="-120"/>
              </a:rPr>
              <a:t>Common Crawl, books, code, and curated web text; scale of tokens strongly predicts downstream ability [2]</a:t>
            </a:r>
            <a:endParaRPr lang="en-US" sz="1200" dirty="0"/>
          </a:p>
        </p:txBody>
      </p:sp>
      <p:sp>
        <p:nvSpPr>
          <p:cNvPr id="23" name="Text 21"/>
          <p:cNvSpPr/>
          <p:nvPr/>
        </p:nvSpPr>
        <p:spPr>
          <a:xfrm>
            <a:off x="457200" y="5184648"/>
            <a:ext cx="11247120" cy="384048"/>
          </a:xfrm>
          <a:prstGeom prst="rect">
            <a:avLst/>
          </a:prstGeom>
          <a:noFill/>
          <a:ln/>
        </p:spPr>
        <p:txBody>
          <a:bodyPr wrap="square"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Tokenization:  </a:t>
            </a:r>
            <a:pPr indent="0" marL="0">
              <a:buNone/>
            </a:pPr>
            <a:r>
              <a:rPr lang="en-US" sz="1200" dirty="0">
                <a:solidFill>
                  <a:srgbClr val="0A0A0A"/>
                </a:solidFill>
                <a:latin typeface="Calibri" pitchFamily="34" charset="0"/>
                <a:ea typeface="Calibri" pitchFamily="34" charset="-122"/>
                <a:cs typeface="Calibri" pitchFamily="34" charset="-120"/>
              </a:rPr>
              <a:t>Byte-Pair Encoding / SentencePiece splits text into sub-word units, balancing vocabulary size and sequence length</a:t>
            </a:r>
            <a:endParaRPr lang="en-US" sz="1200" dirty="0"/>
          </a:p>
        </p:txBody>
      </p:sp>
      <p:sp>
        <p:nvSpPr>
          <p:cNvPr id="24" name="Text 22"/>
          <p:cNvSpPr/>
          <p:nvPr/>
        </p:nvSpPr>
        <p:spPr>
          <a:xfrm>
            <a:off x="457200" y="5586984"/>
            <a:ext cx="11247120" cy="384048"/>
          </a:xfrm>
          <a:prstGeom prst="rect">
            <a:avLst/>
          </a:prstGeom>
          <a:noFill/>
          <a:ln/>
        </p:spPr>
        <p:txBody>
          <a:bodyPr wrap="square"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Curriculum Learning:  </a:t>
            </a:r>
            <a:pPr indent="0" marL="0">
              <a:buNone/>
            </a:pPr>
            <a:r>
              <a:rPr lang="en-US" sz="1200" dirty="0">
                <a:solidFill>
                  <a:srgbClr val="0A0A0A"/>
                </a:solidFill>
                <a:latin typeface="Calibri" pitchFamily="34" charset="0"/>
                <a:ea typeface="Calibri" pitchFamily="34" charset="-122"/>
                <a:cs typeface="Calibri" pitchFamily="34" charset="-120"/>
              </a:rPr>
              <a:t>Ordering data from easy/general to specialized/hard improves sample efficiency and stability</a:t>
            </a:r>
            <a:endParaRPr lang="en-US" sz="1200" dirty="0"/>
          </a:p>
        </p:txBody>
      </p:sp>
      <p:sp>
        <p:nvSpPr>
          <p:cNvPr id="25" name="Slide Number Placeholder 0"/>
          <p:cNvSpPr>
            <a:spLocks noGrp="1"/>
          </p:cNvSpPr>
          <p:nvPr>
            <p:ph type="sldNum" sz="quarter" idx="4294967295"/>
          </p:nvPr>
        </p:nvSpPr>
        <p:spPr>
          <a:xfrm>
            <a:off x="1154887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84048"/>
            <a:ext cx="5486400" cy="274320"/>
          </a:xfrm>
          <a:prstGeom prst="rect">
            <a:avLst/>
          </a:prstGeom>
          <a:noFill/>
          <a:ln/>
        </p:spPr>
        <p:txBody>
          <a:bodyPr wrap="square" rtlCol="0" anchor="ctr"/>
          <a:lstStyle/>
          <a:p>
            <a:pPr indent="0" marL="0">
              <a:buNone/>
            </a:pPr>
            <a:r>
              <a:rPr lang="en-US" sz="1100" b="1" spc="200" kern="0" dirty="0">
                <a:solidFill>
                  <a:srgbClr val="3D5AFE"/>
                </a:solidFill>
                <a:latin typeface="Calibri" pitchFamily="34" charset="0"/>
                <a:ea typeface="Calibri" pitchFamily="34" charset="-122"/>
                <a:cs typeface="Calibri" pitchFamily="34" charset="-120"/>
              </a:rPr>
              <a:t>PRETRAINING — ADVANCES</a:t>
            </a:r>
            <a:endParaRPr lang="en-US" sz="1100" dirty="0"/>
          </a:p>
        </p:txBody>
      </p:sp>
      <p:sp>
        <p:nvSpPr>
          <p:cNvPr id="3" name="Text 1"/>
          <p:cNvSpPr/>
          <p:nvPr/>
        </p:nvSpPr>
        <p:spPr>
          <a:xfrm>
            <a:off x="457200" y="59436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Modern Pretraining Improvements</a:t>
            </a:r>
            <a:endParaRPr lang="en-US" sz="3000" dirty="0"/>
          </a:p>
        </p:txBody>
      </p:sp>
      <p:sp>
        <p:nvSpPr>
          <p:cNvPr id="4" name="Text 2"/>
          <p:cNvSpPr/>
          <p:nvPr/>
        </p:nvSpPr>
        <p:spPr>
          <a:xfrm>
            <a:off x="457200" y="1691640"/>
            <a:ext cx="11247120" cy="457200"/>
          </a:xfrm>
          <a:prstGeom prst="rect">
            <a:avLst/>
          </a:prstGeom>
          <a:noFill/>
          <a:ln/>
        </p:spPr>
        <p:txBody>
          <a:bodyPr wrap="square" rtlCol="0" anchor="ctr"/>
          <a:lstStyle/>
          <a:p>
            <a:pPr indent="0" marL="0">
              <a:buNone/>
            </a:pPr>
            <a:r>
              <a:rPr lang="en-US" sz="1300" dirty="0">
                <a:solidFill>
                  <a:srgbClr val="0A0A0A"/>
                </a:solidFill>
                <a:latin typeface="Calibri" pitchFamily="34" charset="0"/>
                <a:ea typeface="Calibri" pitchFamily="34" charset="-122"/>
                <a:cs typeface="Calibri" pitchFamily="34" charset="-120"/>
              </a:rPr>
              <a:t>Beyond vanilla next-token prediction, recent models add auxiliary objectives and smarter data strategies to squeeze more signal from every token.</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286000"/>
          <a:ext cx="11247120" cy="3383280"/>
        </p:xfrm>
        <a:graphic>
          <a:graphicData uri="http://schemas.openxmlformats.org/drawingml/2006/table">
            <a:tbl>
              <a:tblPr/>
              <a:tblGrid>
                <a:gridCol w="2834640"/>
                <a:gridCol w="6126480"/>
                <a:gridCol w="2286000"/>
              </a:tblGrid>
              <a:tr h="548640">
                <a:tc>
                  <a:txBody>
                    <a:bodyPr/>
                    <a:lstStyle/>
                    <a:p>
                      <a:pPr algn="l" indent="0" marL="0">
                        <a:buNone/>
                      </a:pPr>
                      <a:r>
                        <a:rPr lang="en-US" sz="1200" b="1" dirty="0">
                          <a:solidFill>
                            <a:srgbClr val="FFFFFF"/>
                          </a:solidFill>
                        </a:rPr>
                        <a:t>Technique</a:t>
                      </a:r>
                      <a:endParaRPr lang="en-US" sz="12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rPr>
                        <a:t>What it does</a:t>
                      </a:r>
                      <a:endParaRPr lang="en-US" sz="12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rPr>
                        <a:t>Used by</a:t>
                      </a:r>
                      <a:endParaRPr lang="en-US" sz="12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1E2761"/>
                    </a:solidFill>
                  </a:tcPr>
                </a:tc>
              </a:tr>
              <a:tr h="548640">
                <a:tc>
                  <a:txBody>
                    <a:bodyPr/>
                    <a:lstStyle/>
                    <a:p>
                      <a:pPr algn="l" indent="0" marL="0">
                        <a:buNone/>
                      </a:pPr>
                      <a:r>
                        <a:rPr lang="en-US" sz="1100" b="1" dirty="0">
                          <a:solidFill>
                            <a:srgbClr val="1E2761"/>
                          </a:solidFill>
                        </a:rPr>
                        <a:t>Multi-Token Prediction (MTP)</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A0A0A"/>
                          </a:solidFill>
                        </a:rPr>
                        <a:t>Predicts several future tokens per step, densifying the training signal</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A0A0A"/>
                          </a:solidFill>
                        </a:rPr>
                        <a:t>DeepSeek-V3 [10]</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r>
              <a:tr h="548640">
                <a:tc>
                  <a:txBody>
                    <a:bodyPr/>
                    <a:lstStyle/>
                    <a:p>
                      <a:pPr algn="l" indent="0" marL="0">
                        <a:buNone/>
                      </a:pPr>
                      <a:r>
                        <a:rPr lang="en-US" sz="1100" b="1" dirty="0">
                          <a:solidFill>
                            <a:srgbClr val="1E2761"/>
                          </a:solidFill>
                        </a:rPr>
                        <a:t>Fill-in-the-Middle (FIM)</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l" indent="0" marL="0">
                        <a:buNone/>
                      </a:pPr>
                      <a:r>
                        <a:rPr lang="en-US" sz="1100" dirty="0">
                          <a:solidFill>
                            <a:srgbClr val="0A0A0A"/>
                          </a:solidFill>
                        </a:rPr>
                        <a:t>Trains on (prefix, suffix) -&gt; middle, enabling code/text infilling</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00" dirty="0">
                          <a:solidFill>
                            <a:srgbClr val="0A0A0A"/>
                          </a:solidFill>
                        </a:rPr>
                        <a:t>GPT / Code models</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r>
              <a:tr h="548640">
                <a:tc>
                  <a:txBody>
                    <a:bodyPr/>
                    <a:lstStyle/>
                    <a:p>
                      <a:pPr algn="l" indent="0" marL="0">
                        <a:buNone/>
                      </a:pPr>
                      <a:r>
                        <a:rPr lang="en-US" sz="1100" b="1" dirty="0">
                          <a:solidFill>
                            <a:srgbClr val="1E2761"/>
                          </a:solidFill>
                        </a:rPr>
                        <a:t>Span Corruption</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A0A0A"/>
                          </a:solidFill>
                        </a:rPr>
                        <a:t>Masks contiguous spans instead of single tokens (T5-style denoising)</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A0A0A"/>
                          </a:solidFill>
                        </a:rPr>
                        <a:t>Encoder-decoder LMs</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r>
              <a:tr h="548640">
                <a:tc>
                  <a:txBody>
                    <a:bodyPr/>
                    <a:lstStyle/>
                    <a:p>
                      <a:pPr algn="l" indent="0" marL="0">
                        <a:buNone/>
                      </a:pPr>
                      <a:r>
                        <a:rPr lang="en-US" sz="1100" b="1" dirty="0">
                          <a:solidFill>
                            <a:srgbClr val="1E2761"/>
                          </a:solidFill>
                        </a:rPr>
                        <a:t>Long-Context Training</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l" indent="0" marL="0">
                        <a:buNone/>
                      </a:pPr>
                      <a:r>
                        <a:rPr lang="en-US" sz="1100" dirty="0">
                          <a:solidFill>
                            <a:srgbClr val="0A0A0A"/>
                          </a:solidFill>
                        </a:rPr>
                        <a:t>Progressive context-length extension (RoPE scaling, position interpolation)</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00" dirty="0">
                          <a:solidFill>
                            <a:srgbClr val="0A0A0A"/>
                          </a:solidFill>
                        </a:rPr>
                        <a:t>Llama 3 [11], Qwen2 [12]</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r>
              <a:tr h="548640">
                <a:tc>
                  <a:txBody>
                    <a:bodyPr/>
                    <a:lstStyle/>
                    <a:p>
                      <a:pPr algn="l" indent="0" marL="0">
                        <a:buNone/>
                      </a:pPr>
                      <a:r>
                        <a:rPr lang="en-US" sz="1100" b="1" dirty="0">
                          <a:solidFill>
                            <a:srgbClr val="1E2761"/>
                          </a:solidFill>
                        </a:rPr>
                        <a:t>Synthetic Data</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A0A0A"/>
                          </a:solidFill>
                        </a:rPr>
                        <a:t>Model-generated text augments scarce/high-quality domains</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A0A0A"/>
                          </a:solidFill>
                        </a:rPr>
                        <a:t>Qwen2, Phi-series</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r>
              <a:tr h="548640">
                <a:tc>
                  <a:txBody>
                    <a:bodyPr/>
                    <a:lstStyle/>
                    <a:p>
                      <a:pPr algn="l" indent="0" marL="0">
                        <a:buNone/>
                      </a:pPr>
                      <a:r>
                        <a:rPr lang="en-US" sz="1100" b="1" dirty="0">
                          <a:solidFill>
                            <a:srgbClr val="1E2761"/>
                          </a:solidFill>
                        </a:rPr>
                        <a:t>Data Mixture Strategies</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l" indent="0" marL="0">
                        <a:buNone/>
                      </a:pPr>
                      <a:r>
                        <a:rPr lang="en-US" sz="1100" dirty="0">
                          <a:solidFill>
                            <a:srgbClr val="0A0A0A"/>
                          </a:solidFill>
                        </a:rPr>
                        <a:t>Tuned sampling ratios across web/code/math/books for balanced competence</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00" dirty="0">
                          <a:solidFill>
                            <a:srgbClr val="0A0A0A"/>
                          </a:solidFill>
                        </a:rPr>
                        <a:t>DeepSeek-V3, Llama 3</a:t>
                      </a:r>
                      <a:endParaRPr lang="en-US" sz="11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r>
            </a:tbl>
          </a:graphicData>
        </a:graphic>
      </p:graphicFrame>
      <p:sp>
        <p:nvSpPr>
          <p:cNvPr id="6" name="Text 3"/>
          <p:cNvSpPr/>
          <p:nvPr/>
        </p:nvSpPr>
        <p:spPr>
          <a:xfrm>
            <a:off x="457200" y="5806440"/>
            <a:ext cx="11247120" cy="457200"/>
          </a:xfrm>
          <a:prstGeom prst="rect">
            <a:avLst/>
          </a:prstGeom>
          <a:noFill/>
          <a:ln/>
        </p:spPr>
        <p:txBody>
          <a:bodyPr wrap="square" rtlCol="0" anchor="ctr"/>
          <a:lstStyle/>
          <a:p>
            <a:pPr indent="0" marL="0">
              <a:buNone/>
            </a:pPr>
            <a:r>
              <a:rPr lang="en-US" sz="1150" i="1" dirty="0">
                <a:solidFill>
                  <a:srgbClr val="1E2761"/>
                </a:solidFill>
                <a:latin typeface="Calibri" pitchFamily="34" charset="0"/>
                <a:ea typeface="Calibri" pitchFamily="34" charset="-122"/>
                <a:cs typeface="Calibri" pitchFamily="34" charset="-120"/>
              </a:rPr>
              <a:t>DeepSeek-V3 combines MTP with an auxiliary-loss-free Mixture-of-Experts (MoE) load-balancing scheme, achieving strong performance at a fraction of typical training compute [10].</a:t>
            </a:r>
            <a:endParaRPr lang="en-US" sz="1150" dirty="0"/>
          </a:p>
        </p:txBody>
      </p:sp>
      <p:sp>
        <p:nvSpPr>
          <p:cNvPr id="25" name="Slide Number Placeholder 0"/>
          <p:cNvSpPr>
            <a:spLocks noGrp="1"/>
          </p:cNvSpPr>
          <p:nvPr>
            <p:ph type="sldNum" sz="quarter" idx="4294967295"/>
          </p:nvPr>
        </p:nvSpPr>
        <p:spPr>
          <a:xfrm>
            <a:off x="1154887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84048"/>
            <a:ext cx="5486400" cy="274320"/>
          </a:xfrm>
          <a:prstGeom prst="rect">
            <a:avLst/>
          </a:prstGeom>
          <a:noFill/>
          <a:ln/>
        </p:spPr>
        <p:txBody>
          <a:bodyPr wrap="square" rtlCol="0" anchor="ctr"/>
          <a:lstStyle/>
          <a:p>
            <a:pPr indent="0" marL="0">
              <a:buNone/>
            </a:pPr>
            <a:r>
              <a:rPr lang="en-US" sz="1100" b="1" spc="200" kern="0" dirty="0">
                <a:solidFill>
                  <a:srgbClr val="3D5AFE"/>
                </a:solidFill>
                <a:latin typeface="Calibri" pitchFamily="34" charset="0"/>
                <a:ea typeface="Calibri" pitchFamily="34" charset="-122"/>
                <a:cs typeface="Calibri" pitchFamily="34" charset="-120"/>
              </a:rPr>
              <a:t>POST-TRAINING</a:t>
            </a:r>
            <a:endParaRPr lang="en-US" sz="1100" dirty="0"/>
          </a:p>
        </p:txBody>
      </p:sp>
      <p:sp>
        <p:nvSpPr>
          <p:cNvPr id="3" name="Text 1"/>
          <p:cNvSpPr/>
          <p:nvPr/>
        </p:nvSpPr>
        <p:spPr>
          <a:xfrm>
            <a:off x="457200" y="59436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Post-Training: From Base Model to Chat Model</a:t>
            </a:r>
            <a:endParaRPr lang="en-US" sz="3000" dirty="0"/>
          </a:p>
        </p:txBody>
      </p:sp>
      <p:sp>
        <p:nvSpPr>
          <p:cNvPr id="4" name="Text 2"/>
          <p:cNvSpPr/>
          <p:nvPr/>
        </p:nvSpPr>
        <p:spPr>
          <a:xfrm>
            <a:off x="457200" y="1691640"/>
            <a:ext cx="11247120" cy="548640"/>
          </a:xfrm>
          <a:prstGeom prst="rect">
            <a:avLst/>
          </a:prstGeom>
          <a:noFill/>
          <a:ln/>
        </p:spPr>
        <p:txBody>
          <a:bodyPr wrap="square" rtlCol="0" anchor="ctr"/>
          <a:lstStyle/>
          <a:p>
            <a:pPr indent="0" marL="0">
              <a:buNone/>
            </a:pPr>
            <a:r>
              <a:rPr lang="en-US" sz="1300" dirty="0">
                <a:solidFill>
                  <a:srgbClr val="0A0A0A"/>
                </a:solidFill>
                <a:latin typeface="Calibri" pitchFamily="34" charset="0"/>
                <a:ea typeface="Calibri" pitchFamily="34" charset="-122"/>
                <a:cs typeface="Calibri" pitchFamily="34" charset="-120"/>
              </a:rPr>
              <a:t>A base model predicts plausible continuations — it does not know how to follow instructions or hold a conversation. Post-training teaches it to behave like an assistant.</a:t>
            </a:r>
            <a:endParaRPr lang="en-US" sz="1300" dirty="0"/>
          </a:p>
        </p:txBody>
      </p:sp>
      <p:sp>
        <p:nvSpPr>
          <p:cNvPr id="5" name="Shape 3"/>
          <p:cNvSpPr/>
          <p:nvPr/>
        </p:nvSpPr>
        <p:spPr>
          <a:xfrm>
            <a:off x="457200" y="2514600"/>
            <a:ext cx="2743200" cy="1188720"/>
          </a:xfrm>
          <a:prstGeom prst="roundRect">
            <a:avLst>
              <a:gd name="adj" fmla="val 6154"/>
            </a:avLst>
          </a:prstGeom>
          <a:solidFill>
            <a:srgbClr val="1E2761"/>
          </a:solidFill>
          <a:ln/>
          <a:effectLst>
            <a:outerShdw sx="100000" sy="100000" kx="0" ky="0" algn="bl" rotWithShape="0" blurRad="76200" dist="25400" dir="5400000">
              <a:srgbClr val="1E2761">
                <a:alpha val="18000"/>
              </a:srgbClr>
            </a:outerShdw>
          </a:effectLst>
        </p:spPr>
      </p:sp>
      <p:sp>
        <p:nvSpPr>
          <p:cNvPr id="6" name="Text 4"/>
          <p:cNvSpPr/>
          <p:nvPr/>
        </p:nvSpPr>
        <p:spPr>
          <a:xfrm>
            <a:off x="502920" y="2514600"/>
            <a:ext cx="2651760" cy="11887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BASE MODEL</a:t>
            </a:r>
            <a:endParaRPr lang="en-US" sz="1200" dirty="0"/>
          </a:p>
          <a:p>
            <a:pPr algn="ctr" indent="0" marL="0">
              <a:buNone/>
            </a:pP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'Completes text,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mimics web style'</a:t>
            </a:r>
            <a:endParaRPr lang="en-US" sz="1200" dirty="0"/>
          </a:p>
        </p:txBody>
      </p:sp>
      <p:sp>
        <p:nvSpPr>
          <p:cNvPr id="7" name="Shape 5"/>
          <p:cNvSpPr/>
          <p:nvPr/>
        </p:nvSpPr>
        <p:spPr>
          <a:xfrm>
            <a:off x="3337560" y="2999232"/>
            <a:ext cx="822960" cy="228600"/>
          </a:xfrm>
          <a:prstGeom prst="rightArrow">
            <a:avLst/>
          </a:prstGeom>
          <a:solidFill>
            <a:srgbClr val="CADCFC"/>
          </a:solidFill>
          <a:ln/>
        </p:spPr>
      </p:sp>
      <p:sp>
        <p:nvSpPr>
          <p:cNvPr id="8" name="Text 6"/>
          <p:cNvSpPr/>
          <p:nvPr/>
        </p:nvSpPr>
        <p:spPr>
          <a:xfrm>
            <a:off x="4206240" y="2377440"/>
            <a:ext cx="3291840" cy="457200"/>
          </a:xfrm>
          <a:prstGeom prst="rect">
            <a:avLst/>
          </a:prstGeom>
          <a:noFill/>
          <a:ln/>
        </p:spPr>
        <p:txBody>
          <a:bodyPr wrap="square" rtlCol="0" anchor="ctr"/>
          <a:lstStyle/>
          <a:p>
            <a:pPr algn="ctr" indent="0" marL="0">
              <a:buNone/>
            </a:pPr>
            <a:r>
              <a:rPr lang="en-US" sz="1050" i="1" dirty="0">
                <a:solidFill>
                  <a:srgbClr val="5A5A5A"/>
                </a:solidFill>
                <a:latin typeface="Calibri" pitchFamily="34" charset="0"/>
                <a:ea typeface="Calibri" pitchFamily="34" charset="-122"/>
                <a:cs typeface="Calibri" pitchFamily="34" charset="-120"/>
              </a:rPr>
              <a:t>Supervised Fine-Tuning</a:t>
            </a:r>
            <a:endParaRPr lang="en-US" sz="1050" dirty="0"/>
          </a:p>
          <a:p>
            <a:pPr algn="ctr" indent="0" marL="0">
              <a:buNone/>
            </a:pPr>
            <a:r>
              <a:rPr lang="en-US" sz="1050" i="1" dirty="0">
                <a:solidFill>
                  <a:srgbClr val="5A5A5A"/>
                </a:solidFill>
                <a:latin typeface="Calibri" pitchFamily="34" charset="0"/>
                <a:ea typeface="Calibri" pitchFamily="34" charset="-122"/>
                <a:cs typeface="Calibri" pitchFamily="34" charset="-120"/>
              </a:rPr>
              <a:t>on instruction–response pairs</a:t>
            </a:r>
            <a:endParaRPr lang="en-US" sz="1050" dirty="0"/>
          </a:p>
        </p:txBody>
      </p:sp>
      <p:sp>
        <p:nvSpPr>
          <p:cNvPr id="9" name="Shape 7"/>
          <p:cNvSpPr/>
          <p:nvPr/>
        </p:nvSpPr>
        <p:spPr>
          <a:xfrm>
            <a:off x="4206240" y="2514600"/>
            <a:ext cx="3291840" cy="1188720"/>
          </a:xfrm>
          <a:prstGeom prst="roundRect">
            <a:avLst>
              <a:gd name="adj" fmla="val 6154"/>
            </a:avLst>
          </a:prstGeom>
          <a:solidFill>
            <a:srgbClr val="3D5AFE"/>
          </a:solidFill>
          <a:ln/>
          <a:effectLst>
            <a:outerShdw sx="100000" sy="100000" kx="0" ky="0" algn="bl" rotWithShape="0" blurRad="76200" dist="25400" dir="5400000">
              <a:srgbClr val="1E2761">
                <a:alpha val="18000"/>
              </a:srgbClr>
            </a:outerShdw>
          </a:effectLst>
        </p:spPr>
      </p:sp>
      <p:sp>
        <p:nvSpPr>
          <p:cNvPr id="10" name="Text 8"/>
          <p:cNvSpPr/>
          <p:nvPr/>
        </p:nvSpPr>
        <p:spPr>
          <a:xfrm>
            <a:off x="4251960" y="2514600"/>
            <a:ext cx="3200400" cy="11887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CHAT MODEL</a:t>
            </a:r>
            <a:endParaRPr lang="en-US" sz="1200" dirty="0"/>
          </a:p>
          <a:p>
            <a:pPr algn="ctr" indent="0" marL="0">
              <a:buNone/>
            </a:pP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'Follows instructions,</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adopts assistant persona'</a:t>
            </a:r>
            <a:endParaRPr lang="en-US" sz="1200" dirty="0"/>
          </a:p>
        </p:txBody>
      </p:sp>
      <p:sp>
        <p:nvSpPr>
          <p:cNvPr id="11" name="Shape 9"/>
          <p:cNvSpPr/>
          <p:nvPr/>
        </p:nvSpPr>
        <p:spPr>
          <a:xfrm>
            <a:off x="7635240" y="2999232"/>
            <a:ext cx="822960" cy="228600"/>
          </a:xfrm>
          <a:prstGeom prst="rightArrow">
            <a:avLst/>
          </a:prstGeom>
          <a:solidFill>
            <a:srgbClr val="CADCFC"/>
          </a:solidFill>
          <a:ln/>
        </p:spPr>
      </p:sp>
      <p:sp>
        <p:nvSpPr>
          <p:cNvPr id="12" name="Shape 10"/>
          <p:cNvSpPr/>
          <p:nvPr/>
        </p:nvSpPr>
        <p:spPr>
          <a:xfrm>
            <a:off x="8595360" y="2514600"/>
            <a:ext cx="3108960" cy="1188720"/>
          </a:xfrm>
          <a:prstGeom prst="roundRect">
            <a:avLst>
              <a:gd name="adj" fmla="val 6154"/>
            </a:avLst>
          </a:prstGeom>
          <a:solidFill>
            <a:srgbClr val="182052"/>
          </a:solidFill>
          <a:ln/>
          <a:effectLst>
            <a:outerShdw sx="100000" sy="100000" kx="0" ky="0" algn="bl" rotWithShape="0" blurRad="76200" dist="25400" dir="5400000">
              <a:srgbClr val="1E2761">
                <a:alpha val="18000"/>
              </a:srgbClr>
            </a:outerShdw>
          </a:effectLst>
        </p:spPr>
      </p:sp>
      <p:sp>
        <p:nvSpPr>
          <p:cNvPr id="13" name="Text 11"/>
          <p:cNvSpPr/>
          <p:nvPr/>
        </p:nvSpPr>
        <p:spPr>
          <a:xfrm>
            <a:off x="8641080" y="2514600"/>
            <a:ext cx="3017520" cy="11887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ALIGNED</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ASSISTANT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 preference tuning)</a:t>
            </a:r>
            <a:endParaRPr lang="en-US" sz="1200" dirty="0"/>
          </a:p>
        </p:txBody>
      </p:sp>
      <p:sp>
        <p:nvSpPr>
          <p:cNvPr id="14" name="Shape 12"/>
          <p:cNvSpPr/>
          <p:nvPr/>
        </p:nvSpPr>
        <p:spPr>
          <a:xfrm>
            <a:off x="457200" y="4114800"/>
            <a:ext cx="384048" cy="384048"/>
          </a:xfrm>
          <a:prstGeom prst="ellipse">
            <a:avLst/>
          </a:prstGeom>
          <a:solidFill>
            <a:srgbClr val="3D5AFE"/>
          </a:solidFill>
          <a:ln/>
        </p:spPr>
      </p:sp>
      <p:sp>
        <p:nvSpPr>
          <p:cNvPr id="15" name="Text 13"/>
          <p:cNvSpPr/>
          <p:nvPr/>
        </p:nvSpPr>
        <p:spPr>
          <a:xfrm>
            <a:off x="457200" y="411480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1005840" y="4059936"/>
            <a:ext cx="10698480" cy="5029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Supervised Fine-Tuning (SFT):  </a:t>
            </a:r>
            <a:pPr indent="0" marL="0">
              <a:buNone/>
            </a:pPr>
            <a:r>
              <a:rPr lang="en-US" sz="1200" dirty="0">
                <a:solidFill>
                  <a:srgbClr val="0A0A0A"/>
                </a:solidFill>
                <a:latin typeface="Calibri" pitchFamily="34" charset="0"/>
                <a:ea typeface="Calibri" pitchFamily="34" charset="-122"/>
                <a:cs typeface="Calibri" pitchFamily="34" charset="-120"/>
              </a:rPr>
              <a:t>Trains on curated (prompt, ideal-response) pairs so the model imitates high-quality demonstrations</a:t>
            </a:r>
            <a:endParaRPr lang="en-US" sz="1200" dirty="0"/>
          </a:p>
        </p:txBody>
      </p:sp>
      <p:sp>
        <p:nvSpPr>
          <p:cNvPr id="17" name="Shape 15"/>
          <p:cNvSpPr/>
          <p:nvPr/>
        </p:nvSpPr>
        <p:spPr>
          <a:xfrm>
            <a:off x="457200" y="4736592"/>
            <a:ext cx="384048" cy="384048"/>
          </a:xfrm>
          <a:prstGeom prst="ellipse">
            <a:avLst/>
          </a:prstGeom>
          <a:solidFill>
            <a:srgbClr val="3D5AFE"/>
          </a:solidFill>
          <a:ln/>
        </p:spPr>
      </p:sp>
      <p:sp>
        <p:nvSpPr>
          <p:cNvPr id="18" name="Text 16"/>
          <p:cNvSpPr/>
          <p:nvPr/>
        </p:nvSpPr>
        <p:spPr>
          <a:xfrm>
            <a:off x="457200" y="473659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1005840" y="4681728"/>
            <a:ext cx="10698480" cy="5029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Instruction Tuning:  </a:t>
            </a:r>
            <a:pPr indent="0" marL="0">
              <a:buNone/>
            </a:pPr>
            <a:r>
              <a:rPr lang="en-US" sz="1200" dirty="0">
                <a:solidFill>
                  <a:srgbClr val="0A0A0A"/>
                </a:solidFill>
                <a:latin typeface="Calibri" pitchFamily="34" charset="0"/>
                <a:ea typeface="Calibri" pitchFamily="34" charset="-122"/>
                <a:cs typeface="Calibri" pitchFamily="34" charset="-120"/>
              </a:rPr>
              <a:t>SFT specifically over diverse task instructions (FLAN [3], Self-Instruct [4]) to generalize to unseen tasks</a:t>
            </a:r>
            <a:endParaRPr lang="en-US" sz="1200" dirty="0"/>
          </a:p>
        </p:txBody>
      </p:sp>
      <p:sp>
        <p:nvSpPr>
          <p:cNvPr id="20" name="Shape 18"/>
          <p:cNvSpPr/>
          <p:nvPr/>
        </p:nvSpPr>
        <p:spPr>
          <a:xfrm>
            <a:off x="457200" y="5358384"/>
            <a:ext cx="384048" cy="384048"/>
          </a:xfrm>
          <a:prstGeom prst="ellipse">
            <a:avLst/>
          </a:prstGeom>
          <a:solidFill>
            <a:srgbClr val="3D5AFE"/>
          </a:solidFill>
          <a:ln/>
        </p:spPr>
      </p:sp>
      <p:sp>
        <p:nvSpPr>
          <p:cNvPr id="21" name="Text 19"/>
          <p:cNvSpPr/>
          <p:nvPr/>
        </p:nvSpPr>
        <p:spPr>
          <a:xfrm>
            <a:off x="457200" y="5358384"/>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1005840" y="5303520"/>
            <a:ext cx="10698480" cy="5029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Chat Fine-Tuning:  </a:t>
            </a:r>
            <a:pPr indent="0" marL="0">
              <a:buNone/>
            </a:pPr>
            <a:r>
              <a:rPr lang="en-US" sz="1200" dirty="0">
                <a:solidFill>
                  <a:srgbClr val="0A0A0A"/>
                </a:solidFill>
                <a:latin typeface="Calibri" pitchFamily="34" charset="0"/>
                <a:ea typeface="Calibri" pitchFamily="34" charset="-122"/>
                <a:cs typeface="Calibri" pitchFamily="34" charset="-120"/>
              </a:rPr>
              <a:t>Formats data as multi-turn dialogue with role tokens (system/user/assistant) for conversational behaviour</a:t>
            </a:r>
            <a:endParaRPr lang="en-US" sz="1200" dirty="0"/>
          </a:p>
        </p:txBody>
      </p:sp>
      <p:sp>
        <p:nvSpPr>
          <p:cNvPr id="25" name="Slide Number Placeholder 0"/>
          <p:cNvSpPr>
            <a:spLocks noGrp="1"/>
          </p:cNvSpPr>
          <p:nvPr>
            <p:ph type="sldNum" sz="quarter" idx="4294967295"/>
          </p:nvPr>
        </p:nvSpPr>
        <p:spPr>
          <a:xfrm>
            <a:off x="1154887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84048"/>
            <a:ext cx="5486400" cy="274320"/>
          </a:xfrm>
          <a:prstGeom prst="rect">
            <a:avLst/>
          </a:prstGeom>
          <a:noFill/>
          <a:ln/>
        </p:spPr>
        <p:txBody>
          <a:bodyPr wrap="square" rtlCol="0" anchor="ctr"/>
          <a:lstStyle/>
          <a:p>
            <a:pPr indent="0" marL="0">
              <a:buNone/>
            </a:pPr>
            <a:r>
              <a:rPr lang="en-US" sz="1100" b="1" spc="200" kern="0" dirty="0">
                <a:solidFill>
                  <a:srgbClr val="3D5AFE"/>
                </a:solidFill>
                <a:latin typeface="Calibri" pitchFamily="34" charset="0"/>
                <a:ea typeface="Calibri" pitchFamily="34" charset="-122"/>
                <a:cs typeface="Calibri" pitchFamily="34" charset="-120"/>
              </a:rPr>
              <a:t>PREFERENCE OPTIMIZATION</a:t>
            </a:r>
            <a:endParaRPr lang="en-US" sz="1100" dirty="0"/>
          </a:p>
        </p:txBody>
      </p:sp>
      <p:sp>
        <p:nvSpPr>
          <p:cNvPr id="3" name="Text 1"/>
          <p:cNvSpPr/>
          <p:nvPr/>
        </p:nvSpPr>
        <p:spPr>
          <a:xfrm>
            <a:off x="457200" y="59436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Preference Optimization: Teaching Models What Humans Prefer</a:t>
            </a:r>
            <a:endParaRPr lang="en-US" sz="3000" dirty="0"/>
          </a:p>
        </p:txBody>
      </p:sp>
      <p:sp>
        <p:nvSpPr>
          <p:cNvPr id="4" name="Text 2"/>
          <p:cNvSpPr/>
          <p:nvPr/>
        </p:nvSpPr>
        <p:spPr>
          <a:xfrm>
            <a:off x="457200" y="1691640"/>
            <a:ext cx="11247120" cy="502920"/>
          </a:xfrm>
          <a:prstGeom prst="rect">
            <a:avLst/>
          </a:prstGeom>
          <a:noFill/>
          <a:ln/>
        </p:spPr>
        <p:txBody>
          <a:bodyPr wrap="square" rtlCol="0" anchor="ctr"/>
          <a:lstStyle/>
          <a:p>
            <a:pPr indent="0" marL="0">
              <a:buNone/>
            </a:pPr>
            <a:r>
              <a:rPr lang="en-US" sz="1300" dirty="0">
                <a:solidFill>
                  <a:srgbClr val="0A0A0A"/>
                </a:solidFill>
                <a:latin typeface="Calibri" pitchFamily="34" charset="0"/>
                <a:ea typeface="Calibri" pitchFamily="34" charset="-122"/>
                <a:cs typeface="Calibri" pitchFamily="34" charset="-120"/>
              </a:rPr>
              <a:t>SFT alone cannot teach nuanced judgment — which of two plausible answers is better. Preference optimization aligns models to human (or rule-based) preferences.</a:t>
            </a:r>
            <a:endParaRPr lang="en-US" sz="1300" dirty="0"/>
          </a:p>
        </p:txBody>
      </p:sp>
      <p:sp>
        <p:nvSpPr>
          <p:cNvPr id="5" name="Shape 3"/>
          <p:cNvSpPr/>
          <p:nvPr/>
        </p:nvSpPr>
        <p:spPr>
          <a:xfrm>
            <a:off x="457200" y="2377440"/>
            <a:ext cx="2606040" cy="914400"/>
          </a:xfrm>
          <a:prstGeom prst="roundRect">
            <a:avLst>
              <a:gd name="adj" fmla="val 8000"/>
            </a:avLst>
          </a:prstGeom>
          <a:solidFill>
            <a:srgbClr val="1E2761"/>
          </a:solidFill>
          <a:ln/>
          <a:effectLst>
            <a:outerShdw sx="100000" sy="100000" kx="0" ky="0" algn="bl" rotWithShape="0" blurRad="76200" dist="25400" dir="5400000">
              <a:srgbClr val="1E2761">
                <a:alpha val="18000"/>
              </a:srgbClr>
            </a:outerShdw>
          </a:effectLst>
        </p:spPr>
      </p:sp>
      <p:sp>
        <p:nvSpPr>
          <p:cNvPr id="6" name="Text 4"/>
          <p:cNvSpPr/>
          <p:nvPr/>
        </p:nvSpPr>
        <p:spPr>
          <a:xfrm>
            <a:off x="502920" y="2377440"/>
            <a:ext cx="2514600" cy="9144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SFT</a:t>
            </a:r>
            <a:endParaRPr lang="en-US" sz="1600" dirty="0"/>
          </a:p>
        </p:txBody>
      </p:sp>
      <p:sp>
        <p:nvSpPr>
          <p:cNvPr id="7" name="Shape 5"/>
          <p:cNvSpPr/>
          <p:nvPr/>
        </p:nvSpPr>
        <p:spPr>
          <a:xfrm>
            <a:off x="3090672" y="2724912"/>
            <a:ext cx="265176" cy="228600"/>
          </a:xfrm>
          <a:prstGeom prst="rightArrow">
            <a:avLst/>
          </a:prstGeom>
          <a:solidFill>
            <a:srgbClr val="CADCFC"/>
          </a:solidFill>
          <a:ln/>
        </p:spPr>
      </p:sp>
      <p:sp>
        <p:nvSpPr>
          <p:cNvPr id="8" name="Shape 6"/>
          <p:cNvSpPr/>
          <p:nvPr/>
        </p:nvSpPr>
        <p:spPr>
          <a:xfrm>
            <a:off x="3383280" y="2377440"/>
            <a:ext cx="2606040" cy="914400"/>
          </a:xfrm>
          <a:prstGeom prst="roundRect">
            <a:avLst>
              <a:gd name="adj" fmla="val 8000"/>
            </a:avLst>
          </a:prstGeom>
          <a:solidFill>
            <a:srgbClr val="334A9E"/>
          </a:solidFill>
          <a:ln/>
          <a:effectLst>
            <a:outerShdw sx="100000" sy="100000" kx="0" ky="0" algn="bl" rotWithShape="0" blurRad="76200" dist="25400" dir="5400000">
              <a:srgbClr val="1E2761">
                <a:alpha val="18000"/>
              </a:srgbClr>
            </a:outerShdw>
          </a:effectLst>
        </p:spPr>
      </p:sp>
      <p:sp>
        <p:nvSpPr>
          <p:cNvPr id="9" name="Text 7"/>
          <p:cNvSpPr/>
          <p:nvPr/>
        </p:nvSpPr>
        <p:spPr>
          <a:xfrm>
            <a:off x="3429000" y="2377440"/>
            <a:ext cx="2514600" cy="9144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RLHF</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(PPO)</a:t>
            </a:r>
            <a:endParaRPr lang="en-US" sz="1600" dirty="0"/>
          </a:p>
        </p:txBody>
      </p:sp>
      <p:sp>
        <p:nvSpPr>
          <p:cNvPr id="10" name="Shape 8"/>
          <p:cNvSpPr/>
          <p:nvPr/>
        </p:nvSpPr>
        <p:spPr>
          <a:xfrm>
            <a:off x="6016752" y="2724912"/>
            <a:ext cx="265176" cy="228600"/>
          </a:xfrm>
          <a:prstGeom prst="rightArrow">
            <a:avLst/>
          </a:prstGeom>
          <a:solidFill>
            <a:srgbClr val="CADCFC"/>
          </a:solidFill>
          <a:ln/>
        </p:spPr>
      </p:sp>
      <p:sp>
        <p:nvSpPr>
          <p:cNvPr id="11" name="Shape 9"/>
          <p:cNvSpPr/>
          <p:nvPr/>
        </p:nvSpPr>
        <p:spPr>
          <a:xfrm>
            <a:off x="6309360" y="2377440"/>
            <a:ext cx="2606040" cy="914400"/>
          </a:xfrm>
          <a:prstGeom prst="roundRect">
            <a:avLst>
              <a:gd name="adj" fmla="val 8000"/>
            </a:avLst>
          </a:prstGeom>
          <a:solidFill>
            <a:srgbClr val="3D5AFE"/>
          </a:solidFill>
          <a:ln/>
          <a:effectLst>
            <a:outerShdw sx="100000" sy="100000" kx="0" ky="0" algn="bl" rotWithShape="0" blurRad="76200" dist="25400" dir="5400000">
              <a:srgbClr val="1E2761">
                <a:alpha val="18000"/>
              </a:srgbClr>
            </a:outerShdw>
          </a:effectLst>
        </p:spPr>
      </p:sp>
      <p:sp>
        <p:nvSpPr>
          <p:cNvPr id="12" name="Text 10"/>
          <p:cNvSpPr/>
          <p:nvPr/>
        </p:nvSpPr>
        <p:spPr>
          <a:xfrm>
            <a:off x="6355080" y="2377440"/>
            <a:ext cx="2514600" cy="9144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DPO</a:t>
            </a:r>
            <a:endParaRPr lang="en-US" sz="1600" dirty="0"/>
          </a:p>
        </p:txBody>
      </p:sp>
      <p:sp>
        <p:nvSpPr>
          <p:cNvPr id="13" name="Shape 11"/>
          <p:cNvSpPr/>
          <p:nvPr/>
        </p:nvSpPr>
        <p:spPr>
          <a:xfrm>
            <a:off x="8942832" y="2724912"/>
            <a:ext cx="265176" cy="228600"/>
          </a:xfrm>
          <a:prstGeom prst="rightArrow">
            <a:avLst/>
          </a:prstGeom>
          <a:solidFill>
            <a:srgbClr val="CADCFC"/>
          </a:solidFill>
          <a:ln/>
        </p:spPr>
      </p:sp>
      <p:sp>
        <p:nvSpPr>
          <p:cNvPr id="14" name="Shape 12"/>
          <p:cNvSpPr/>
          <p:nvPr/>
        </p:nvSpPr>
        <p:spPr>
          <a:xfrm>
            <a:off x="9235440" y="2377440"/>
            <a:ext cx="2606040" cy="914400"/>
          </a:xfrm>
          <a:prstGeom prst="roundRect">
            <a:avLst>
              <a:gd name="adj" fmla="val 8000"/>
            </a:avLst>
          </a:prstGeom>
          <a:solidFill>
            <a:srgbClr val="182052"/>
          </a:solidFill>
          <a:ln/>
          <a:effectLst>
            <a:outerShdw sx="100000" sy="100000" kx="0" ky="0" algn="bl" rotWithShape="0" blurRad="76200" dist="25400" dir="5400000">
              <a:srgbClr val="1E2761">
                <a:alpha val="18000"/>
              </a:srgbClr>
            </a:outerShdw>
          </a:effectLst>
        </p:spPr>
      </p:sp>
      <p:sp>
        <p:nvSpPr>
          <p:cNvPr id="15" name="Text 13"/>
          <p:cNvSpPr/>
          <p:nvPr/>
        </p:nvSpPr>
        <p:spPr>
          <a:xfrm>
            <a:off x="9281160" y="2377440"/>
            <a:ext cx="2514600" cy="9144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GRPO</a:t>
            </a:r>
            <a:endParaRPr lang="en-US" sz="1600" dirty="0"/>
          </a:p>
        </p:txBody>
      </p:sp>
      <p:sp>
        <p:nvSpPr>
          <p:cNvPr id="16" name="Text 14"/>
          <p:cNvSpPr/>
          <p:nvPr/>
        </p:nvSpPr>
        <p:spPr>
          <a:xfrm>
            <a:off x="457200" y="3429000"/>
            <a:ext cx="11247120" cy="274320"/>
          </a:xfrm>
          <a:prstGeom prst="rect">
            <a:avLst/>
          </a:prstGeom>
          <a:noFill/>
          <a:ln/>
        </p:spPr>
        <p:txBody>
          <a:bodyPr wrap="square" rtlCol="0" anchor="ctr"/>
          <a:lstStyle/>
          <a:p>
            <a:pPr algn="ctr" indent="0" marL="0">
              <a:buNone/>
            </a:pPr>
            <a:r>
              <a:rPr lang="en-US" sz="1000" i="1" dirty="0">
                <a:solidFill>
                  <a:srgbClr val="5A5A5A"/>
                </a:solidFill>
                <a:latin typeface="Calibri" pitchFamily="34" charset="0"/>
                <a:ea typeface="Calibri" pitchFamily="34" charset="-122"/>
                <a:cs typeface="Calibri" pitchFamily="34" charset="-120"/>
              </a:rPr>
              <a:t>Figure: Evolution of preference-optimization methods</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3657600"/>
          <a:ext cx="11247120" cy="2331720"/>
        </p:xfrm>
        <a:graphic>
          <a:graphicData uri="http://schemas.openxmlformats.org/drawingml/2006/table">
            <a:tbl>
              <a:tblPr/>
              <a:tblGrid>
                <a:gridCol w="1463040"/>
                <a:gridCol w="7315200"/>
                <a:gridCol w="2468880"/>
              </a:tblGrid>
              <a:tr h="466344">
                <a:tc>
                  <a:txBody>
                    <a:bodyPr/>
                    <a:lstStyle/>
                    <a:p>
                      <a:pPr indent="0" marL="0">
                        <a:buNone/>
                      </a:pPr>
                      <a:r>
                        <a:rPr lang="en-US" sz="1200" b="1" dirty="0">
                          <a:solidFill>
                            <a:srgbClr val="FFFFFF"/>
                          </a:solidFill>
                        </a:rPr>
                        <a:t>Method</a:t>
                      </a:r>
                      <a:endParaRPr lang="en-US" sz="12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Idea</a:t>
                      </a:r>
                      <a:endParaRPr lang="en-US" sz="12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Key Trait</a:t>
                      </a:r>
                      <a:endParaRPr lang="en-US" sz="120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1E2761"/>
                    </a:solidFill>
                  </a:tcPr>
                </a:tc>
              </a:tr>
              <a:tr h="466344">
                <a:tc>
                  <a:txBody>
                    <a:bodyPr/>
                    <a:lstStyle/>
                    <a:p>
                      <a:pPr indent="0" marL="0">
                        <a:buNone/>
                      </a:pPr>
                      <a:r>
                        <a:rPr lang="en-US" sz="1050" b="1" dirty="0">
                          <a:solidFill>
                            <a:srgbClr val="1E2761"/>
                          </a:solidFill>
                        </a:rPr>
                        <a:t>RLHF</a:t>
                      </a:r>
                      <a:endParaRPr lang="en-US" sz="10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indent="0" marL="0">
                        <a:buNone/>
                      </a:pPr>
                      <a:r>
                        <a:rPr lang="en-US" sz="1050" dirty="0">
                          <a:solidFill>
                            <a:srgbClr val="0A0A0A"/>
                          </a:solidFill>
                        </a:rPr>
                        <a:t>Train a reward model on human comparisons, then optimize policy against it with RL</a:t>
                      </a:r>
                      <a:endParaRPr lang="en-US" sz="10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indent="0" marL="0">
                        <a:buNone/>
                      </a:pPr>
                      <a:r>
                        <a:rPr lang="en-US" sz="1050" dirty="0">
                          <a:solidFill>
                            <a:srgbClr val="0A0A0A"/>
                          </a:solidFill>
                        </a:rPr>
                        <a:t>Needs separate reward model</a:t>
                      </a:r>
                      <a:endParaRPr lang="en-US" sz="10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r>
              <a:tr h="466344">
                <a:tc>
                  <a:txBody>
                    <a:bodyPr/>
                    <a:lstStyle/>
                    <a:p>
                      <a:pPr indent="0" marL="0">
                        <a:buNone/>
                      </a:pPr>
                      <a:r>
                        <a:rPr lang="en-US" sz="1050" b="1" dirty="0">
                          <a:solidFill>
                            <a:srgbClr val="1E2761"/>
                          </a:solidFill>
                        </a:rPr>
                        <a:t>PPO</a:t>
                      </a:r>
                      <a:endParaRPr lang="en-US" sz="10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indent="0" marL="0">
                        <a:buNone/>
                      </a:pPr>
                      <a:r>
                        <a:rPr lang="en-US" sz="1050" dirty="0">
                          <a:solidFill>
                            <a:srgbClr val="0A0A0A"/>
                          </a:solidFill>
                        </a:rPr>
                        <a:t>The RL optimizer used to maximize reward while staying close to the reference policy [5]</a:t>
                      </a:r>
                      <a:endParaRPr lang="en-US" sz="10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indent="0" marL="0">
                        <a:buNone/>
                      </a:pPr>
                      <a:r>
                        <a:rPr lang="en-US" sz="1050" dirty="0">
                          <a:solidFill>
                            <a:srgbClr val="0A0A0A"/>
                          </a:solidFill>
                        </a:rPr>
                        <a:t>Stable but complex, 4 models in memory</a:t>
                      </a:r>
                      <a:endParaRPr lang="en-US" sz="10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r>
              <a:tr h="466344">
                <a:tc>
                  <a:txBody>
                    <a:bodyPr/>
                    <a:lstStyle/>
                    <a:p>
                      <a:pPr indent="0" marL="0">
                        <a:buNone/>
                      </a:pPr>
                      <a:r>
                        <a:rPr lang="en-US" sz="1050" b="1" dirty="0">
                          <a:solidFill>
                            <a:srgbClr val="1E2761"/>
                          </a:solidFill>
                        </a:rPr>
                        <a:t>DPO</a:t>
                      </a:r>
                      <a:endParaRPr lang="en-US" sz="10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indent="0" marL="0">
                        <a:buNone/>
                      </a:pPr>
                      <a:r>
                        <a:rPr lang="en-US" sz="1050" dirty="0">
                          <a:solidFill>
                            <a:srgbClr val="0A0A0A"/>
                          </a:solidFill>
                        </a:rPr>
                        <a:t>Reformulates RLHF's objective as a single classification loss — no reward model or RL loop [6]</a:t>
                      </a:r>
                      <a:endParaRPr lang="en-US" sz="10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indent="0" marL="0">
                        <a:buNone/>
                      </a:pPr>
                      <a:r>
                        <a:rPr lang="en-US" sz="1050" dirty="0">
                          <a:solidFill>
                            <a:srgbClr val="0A0A0A"/>
                          </a:solidFill>
                        </a:rPr>
                        <a:t>Simple, stable, no RL needed</a:t>
                      </a:r>
                      <a:endParaRPr lang="en-US" sz="10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r>
              <a:tr h="466344">
                <a:tc>
                  <a:txBody>
                    <a:bodyPr/>
                    <a:lstStyle/>
                    <a:p>
                      <a:pPr indent="0" marL="0">
                        <a:buNone/>
                      </a:pPr>
                      <a:r>
                        <a:rPr lang="en-US" sz="1050" b="1" dirty="0">
                          <a:solidFill>
                            <a:srgbClr val="1E2761"/>
                          </a:solidFill>
                        </a:rPr>
                        <a:t>ORPO</a:t>
                      </a:r>
                      <a:endParaRPr lang="en-US" sz="10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indent="0" marL="0">
                        <a:buNone/>
                      </a:pPr>
                      <a:r>
                        <a:rPr lang="en-US" sz="1050" dirty="0">
                          <a:solidFill>
                            <a:srgbClr val="0A0A0A"/>
                          </a:solidFill>
                        </a:rPr>
                        <a:t>Merges SFT and preference alignment into one stage via an odds-ratio penalty [7]</a:t>
                      </a:r>
                      <a:endParaRPr lang="en-US" sz="10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indent="0" marL="0">
                        <a:buNone/>
                      </a:pPr>
                      <a:r>
                        <a:rPr lang="en-US" sz="1050" dirty="0">
                          <a:solidFill>
                            <a:srgbClr val="0A0A0A"/>
                          </a:solidFill>
                        </a:rPr>
                        <a:t>Removes separate reference model</a:t>
                      </a:r>
                      <a:endParaRPr lang="en-US" sz="10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r>
              <a:tr h="466344">
                <a:tc>
                  <a:txBody>
                    <a:bodyPr/>
                    <a:lstStyle/>
                    <a:p>
                      <a:pPr indent="0" marL="0">
                        <a:buNone/>
                      </a:pPr>
                      <a:r>
                        <a:rPr lang="en-US" sz="1050" b="1" dirty="0">
                          <a:solidFill>
                            <a:srgbClr val="1E2761"/>
                          </a:solidFill>
                        </a:rPr>
                        <a:t>GRPO</a:t>
                      </a:r>
                      <a:endParaRPr lang="en-US" sz="10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indent="0" marL="0">
                        <a:buNone/>
                      </a:pPr>
                      <a:r>
                        <a:rPr lang="en-US" sz="1050" dirty="0">
                          <a:solidFill>
                            <a:srgbClr val="0A0A0A"/>
                          </a:solidFill>
                        </a:rPr>
                        <a:t>Group Relative Policy Optimization: ranks a group of sampled responses, drops the value network [8]</a:t>
                      </a:r>
                      <a:endParaRPr lang="en-US" sz="10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indent="0" marL="0">
                        <a:buNone/>
                      </a:pPr>
                      <a:r>
                        <a:rPr lang="en-US" sz="1050" dirty="0">
                          <a:solidFill>
                            <a:srgbClr val="0A0A0A"/>
                          </a:solidFill>
                        </a:rPr>
                        <a:t>Efficient for reasoning/verifiable rewards</a:t>
                      </a:r>
                      <a:endParaRPr lang="en-US" sz="10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r>
            </a:tbl>
          </a:graphicData>
        </a:graphic>
      </p:graphicFrame>
      <p:sp>
        <p:nvSpPr>
          <p:cNvPr id="18" name="Text 15"/>
          <p:cNvSpPr/>
          <p:nvPr/>
        </p:nvSpPr>
        <p:spPr>
          <a:xfrm>
            <a:off x="457200" y="6080760"/>
            <a:ext cx="11247120" cy="365760"/>
          </a:xfrm>
          <a:prstGeom prst="rect">
            <a:avLst/>
          </a:prstGeom>
          <a:noFill/>
          <a:ln/>
        </p:spPr>
        <p:txBody>
          <a:bodyPr wrap="square" rtlCol="0" anchor="ctr"/>
          <a:lstStyle/>
          <a:p>
            <a:pPr indent="0" marL="0">
              <a:buNone/>
            </a:pPr>
            <a:r>
              <a:rPr lang="en-US" sz="1100" i="1" dirty="0">
                <a:solidFill>
                  <a:srgbClr val="1E2761"/>
                </a:solidFill>
                <a:latin typeface="Calibri" pitchFamily="34" charset="0"/>
                <a:ea typeface="Calibri" pitchFamily="34" charset="-122"/>
                <a:cs typeface="Calibri" pitchFamily="34" charset="-120"/>
              </a:rPr>
              <a:t>DeepSeek-R1 adopts GRPO because reasoning tasks (math, code) have cheap, verifiable rewards — GRPO's group-relative ranking exploits this without training a costly value network [8, 9].</a:t>
            </a:r>
            <a:endParaRPr lang="en-US" sz="1100" dirty="0"/>
          </a:p>
        </p:txBody>
      </p:sp>
      <p:sp>
        <p:nvSpPr>
          <p:cNvPr id="25" name="Slide Number Placeholder 0"/>
          <p:cNvSpPr>
            <a:spLocks noGrp="1"/>
          </p:cNvSpPr>
          <p:nvPr>
            <p:ph type="sldNum" sz="quarter" idx="4294967295"/>
          </p:nvPr>
        </p:nvSpPr>
        <p:spPr>
          <a:xfrm>
            <a:off x="1154887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84048"/>
            <a:ext cx="5486400" cy="274320"/>
          </a:xfrm>
          <a:prstGeom prst="rect">
            <a:avLst/>
          </a:prstGeom>
          <a:noFill/>
          <a:ln/>
        </p:spPr>
        <p:txBody>
          <a:bodyPr wrap="square" rtlCol="0" anchor="ctr"/>
          <a:lstStyle/>
          <a:p>
            <a:pPr indent="0" marL="0">
              <a:buNone/>
            </a:pPr>
            <a:r>
              <a:rPr lang="en-US" sz="1100" b="1" spc="200" kern="0" dirty="0">
                <a:solidFill>
                  <a:srgbClr val="3D5AFE"/>
                </a:solidFill>
                <a:latin typeface="Calibri" pitchFamily="34" charset="0"/>
                <a:ea typeface="Calibri" pitchFamily="34" charset="-122"/>
                <a:cs typeface="Calibri" pitchFamily="34" charset="-120"/>
              </a:rPr>
              <a:t>REASONING TRAINING</a:t>
            </a:r>
            <a:endParaRPr lang="en-US" sz="1100" dirty="0"/>
          </a:p>
        </p:txBody>
      </p:sp>
      <p:sp>
        <p:nvSpPr>
          <p:cNvPr id="3" name="Text 1"/>
          <p:cNvSpPr/>
          <p:nvPr/>
        </p:nvSpPr>
        <p:spPr>
          <a:xfrm>
            <a:off x="457200" y="59436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Reasoning Training: Beyond One-Shot Answers</a:t>
            </a:r>
            <a:endParaRPr lang="en-US" sz="3000" dirty="0"/>
          </a:p>
        </p:txBody>
      </p:sp>
      <p:sp>
        <p:nvSpPr>
          <p:cNvPr id="4" name="Text 2"/>
          <p:cNvSpPr/>
          <p:nvPr/>
        </p:nvSpPr>
        <p:spPr>
          <a:xfrm>
            <a:off x="457200" y="1691640"/>
            <a:ext cx="11247120" cy="502920"/>
          </a:xfrm>
          <a:prstGeom prst="rect">
            <a:avLst/>
          </a:prstGeom>
          <a:noFill/>
          <a:ln/>
        </p:spPr>
        <p:txBody>
          <a:bodyPr wrap="square" rtlCol="0" anchor="ctr"/>
          <a:lstStyle/>
          <a:p>
            <a:pPr indent="0" marL="0">
              <a:buNone/>
            </a:pPr>
            <a:r>
              <a:rPr lang="en-US" sz="1300" dirty="0">
                <a:solidFill>
                  <a:srgbClr val="0A0A0A"/>
                </a:solidFill>
                <a:latin typeface="Calibri" pitchFamily="34" charset="0"/>
                <a:ea typeface="Calibri" pitchFamily="34" charset="-122"/>
                <a:cs typeface="Calibri" pitchFamily="34" charset="-120"/>
              </a:rPr>
              <a:t>Modern LLMs are trained not just to answer, but to think — generating intermediate reasoning, checking their own work, and spending more compute on harder problems.</a:t>
            </a:r>
            <a:endParaRPr lang="en-US" sz="1300" dirty="0"/>
          </a:p>
        </p:txBody>
      </p:sp>
      <p:sp>
        <p:nvSpPr>
          <p:cNvPr id="5" name="Shape 3"/>
          <p:cNvSpPr/>
          <p:nvPr/>
        </p:nvSpPr>
        <p:spPr>
          <a:xfrm>
            <a:off x="457200" y="2377440"/>
            <a:ext cx="3611880" cy="1417320"/>
          </a:xfrm>
          <a:prstGeom prst="roundRect">
            <a:avLst>
              <a:gd name="adj" fmla="val 3871"/>
            </a:avLst>
          </a:prstGeom>
          <a:solidFill>
            <a:srgbClr val="F4F6FB"/>
          </a:solidFill>
          <a:ln w="9525">
            <a:solidFill>
              <a:srgbClr val="DADFEA"/>
            </a:solidFill>
            <a:prstDash val="solid"/>
          </a:ln>
        </p:spPr>
      </p:sp>
      <p:sp>
        <p:nvSpPr>
          <p:cNvPr id="6" name="Shape 4"/>
          <p:cNvSpPr/>
          <p:nvPr/>
        </p:nvSpPr>
        <p:spPr>
          <a:xfrm>
            <a:off x="621792" y="2542032"/>
            <a:ext cx="365760" cy="365760"/>
          </a:xfrm>
          <a:prstGeom prst="ellipse">
            <a:avLst/>
          </a:prstGeom>
          <a:solidFill>
            <a:srgbClr val="3D5AFE"/>
          </a:solidFill>
          <a:ln/>
        </p:spPr>
      </p:sp>
      <p:sp>
        <p:nvSpPr>
          <p:cNvPr id="7" name="Text 5"/>
          <p:cNvSpPr/>
          <p:nvPr/>
        </p:nvSpPr>
        <p:spPr>
          <a:xfrm>
            <a:off x="621792" y="2542032"/>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97280" y="2505456"/>
            <a:ext cx="2834640" cy="41148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Chain-of-Thought</a:t>
            </a:r>
            <a:endParaRPr lang="en-US" sz="1300" dirty="0"/>
          </a:p>
        </p:txBody>
      </p:sp>
      <p:sp>
        <p:nvSpPr>
          <p:cNvPr id="9" name="Text 7"/>
          <p:cNvSpPr/>
          <p:nvPr/>
        </p:nvSpPr>
        <p:spPr>
          <a:xfrm>
            <a:off x="621792" y="2999232"/>
            <a:ext cx="3282696" cy="685800"/>
          </a:xfrm>
          <a:prstGeom prst="rect">
            <a:avLst/>
          </a:prstGeom>
          <a:noFill/>
          <a:ln/>
        </p:spPr>
        <p:txBody>
          <a:bodyPr wrap="square" rtlCol="0" anchor="t"/>
          <a:lstStyle/>
          <a:p>
            <a:pPr indent="0" marL="0">
              <a:buNone/>
            </a:pPr>
            <a:r>
              <a:rPr lang="en-US" sz="1050" dirty="0">
                <a:solidFill>
                  <a:srgbClr val="0A0A0A"/>
                </a:solidFill>
                <a:latin typeface="Calibri" pitchFamily="34" charset="0"/>
                <a:ea typeface="Calibri" pitchFamily="34" charset="-122"/>
                <a:cs typeface="Calibri" pitchFamily="34" charset="-120"/>
              </a:rPr>
              <a:t>Model generates step-by-step intermediate reasoning before the final answer</a:t>
            </a:r>
            <a:endParaRPr lang="en-US" sz="1050" dirty="0"/>
          </a:p>
        </p:txBody>
      </p:sp>
      <p:sp>
        <p:nvSpPr>
          <p:cNvPr id="10" name="Shape 8"/>
          <p:cNvSpPr/>
          <p:nvPr/>
        </p:nvSpPr>
        <p:spPr>
          <a:xfrm>
            <a:off x="4270248" y="2377440"/>
            <a:ext cx="3611880" cy="1417320"/>
          </a:xfrm>
          <a:prstGeom prst="roundRect">
            <a:avLst>
              <a:gd name="adj" fmla="val 3871"/>
            </a:avLst>
          </a:prstGeom>
          <a:solidFill>
            <a:srgbClr val="F4F6FB"/>
          </a:solidFill>
          <a:ln w="9525">
            <a:solidFill>
              <a:srgbClr val="DADFEA"/>
            </a:solidFill>
            <a:prstDash val="solid"/>
          </a:ln>
        </p:spPr>
      </p:sp>
      <p:sp>
        <p:nvSpPr>
          <p:cNvPr id="11" name="Shape 9"/>
          <p:cNvSpPr/>
          <p:nvPr/>
        </p:nvSpPr>
        <p:spPr>
          <a:xfrm>
            <a:off x="4434840" y="2542032"/>
            <a:ext cx="365760" cy="365760"/>
          </a:xfrm>
          <a:prstGeom prst="ellipse">
            <a:avLst/>
          </a:prstGeom>
          <a:solidFill>
            <a:srgbClr val="3D5AFE"/>
          </a:solidFill>
          <a:ln/>
        </p:spPr>
      </p:sp>
      <p:sp>
        <p:nvSpPr>
          <p:cNvPr id="12" name="Text 10"/>
          <p:cNvSpPr/>
          <p:nvPr/>
        </p:nvSpPr>
        <p:spPr>
          <a:xfrm>
            <a:off x="4434840" y="2542032"/>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4910328" y="2505456"/>
            <a:ext cx="2834640" cy="41148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Self-Consistency</a:t>
            </a:r>
            <a:endParaRPr lang="en-US" sz="1300" dirty="0"/>
          </a:p>
        </p:txBody>
      </p:sp>
      <p:sp>
        <p:nvSpPr>
          <p:cNvPr id="14" name="Text 12"/>
          <p:cNvSpPr/>
          <p:nvPr/>
        </p:nvSpPr>
        <p:spPr>
          <a:xfrm>
            <a:off x="4434840" y="2999232"/>
            <a:ext cx="3282696" cy="685800"/>
          </a:xfrm>
          <a:prstGeom prst="rect">
            <a:avLst/>
          </a:prstGeom>
          <a:noFill/>
          <a:ln/>
        </p:spPr>
        <p:txBody>
          <a:bodyPr wrap="square" rtlCol="0" anchor="t"/>
          <a:lstStyle/>
          <a:p>
            <a:pPr indent="0" marL="0">
              <a:buNone/>
            </a:pPr>
            <a:r>
              <a:rPr lang="en-US" sz="1050" dirty="0">
                <a:solidFill>
                  <a:srgbClr val="0A0A0A"/>
                </a:solidFill>
                <a:latin typeface="Calibri" pitchFamily="34" charset="0"/>
                <a:ea typeface="Calibri" pitchFamily="34" charset="-122"/>
                <a:cs typeface="Calibri" pitchFamily="34" charset="-120"/>
              </a:rPr>
              <a:t>Sample multiple reasoning paths, take the majority-vote answer</a:t>
            </a:r>
            <a:endParaRPr lang="en-US" sz="1050" dirty="0"/>
          </a:p>
        </p:txBody>
      </p:sp>
      <p:sp>
        <p:nvSpPr>
          <p:cNvPr id="15" name="Shape 13"/>
          <p:cNvSpPr/>
          <p:nvPr/>
        </p:nvSpPr>
        <p:spPr>
          <a:xfrm>
            <a:off x="8083296" y="2377440"/>
            <a:ext cx="3611880" cy="1417320"/>
          </a:xfrm>
          <a:prstGeom prst="roundRect">
            <a:avLst>
              <a:gd name="adj" fmla="val 3871"/>
            </a:avLst>
          </a:prstGeom>
          <a:solidFill>
            <a:srgbClr val="F4F6FB"/>
          </a:solidFill>
          <a:ln w="9525">
            <a:solidFill>
              <a:srgbClr val="DADFEA"/>
            </a:solidFill>
            <a:prstDash val="solid"/>
          </a:ln>
        </p:spPr>
      </p:sp>
      <p:sp>
        <p:nvSpPr>
          <p:cNvPr id="16" name="Shape 14"/>
          <p:cNvSpPr/>
          <p:nvPr/>
        </p:nvSpPr>
        <p:spPr>
          <a:xfrm>
            <a:off x="8247888" y="2542032"/>
            <a:ext cx="365760" cy="365760"/>
          </a:xfrm>
          <a:prstGeom prst="ellipse">
            <a:avLst/>
          </a:prstGeom>
          <a:solidFill>
            <a:srgbClr val="3D5AFE"/>
          </a:solidFill>
          <a:ln/>
        </p:spPr>
      </p:sp>
      <p:sp>
        <p:nvSpPr>
          <p:cNvPr id="17" name="Text 15"/>
          <p:cNvSpPr/>
          <p:nvPr/>
        </p:nvSpPr>
        <p:spPr>
          <a:xfrm>
            <a:off x="8247888" y="2542032"/>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8723376" y="2505456"/>
            <a:ext cx="2834640" cy="41148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Reflection</a:t>
            </a:r>
            <a:endParaRPr lang="en-US" sz="1300" dirty="0"/>
          </a:p>
        </p:txBody>
      </p:sp>
      <p:sp>
        <p:nvSpPr>
          <p:cNvPr id="19" name="Text 17"/>
          <p:cNvSpPr/>
          <p:nvPr/>
        </p:nvSpPr>
        <p:spPr>
          <a:xfrm>
            <a:off x="8247888" y="2999232"/>
            <a:ext cx="3282696" cy="685800"/>
          </a:xfrm>
          <a:prstGeom prst="rect">
            <a:avLst/>
          </a:prstGeom>
          <a:noFill/>
          <a:ln/>
        </p:spPr>
        <p:txBody>
          <a:bodyPr wrap="square" rtlCol="0" anchor="t"/>
          <a:lstStyle/>
          <a:p>
            <a:pPr indent="0" marL="0">
              <a:buNone/>
            </a:pPr>
            <a:r>
              <a:rPr lang="en-US" sz="1050" dirty="0">
                <a:solidFill>
                  <a:srgbClr val="0A0A0A"/>
                </a:solidFill>
                <a:latin typeface="Calibri" pitchFamily="34" charset="0"/>
                <a:ea typeface="Calibri" pitchFamily="34" charset="-122"/>
                <a:cs typeface="Calibri" pitchFamily="34" charset="-120"/>
              </a:rPr>
              <a:t>Model critiques its own draft answer and identifies errors</a:t>
            </a:r>
            <a:endParaRPr lang="en-US" sz="1050" dirty="0"/>
          </a:p>
        </p:txBody>
      </p:sp>
      <p:sp>
        <p:nvSpPr>
          <p:cNvPr id="20" name="Shape 18"/>
          <p:cNvSpPr/>
          <p:nvPr/>
        </p:nvSpPr>
        <p:spPr>
          <a:xfrm>
            <a:off x="457200" y="3995928"/>
            <a:ext cx="3611880" cy="1417320"/>
          </a:xfrm>
          <a:prstGeom prst="roundRect">
            <a:avLst>
              <a:gd name="adj" fmla="val 3871"/>
            </a:avLst>
          </a:prstGeom>
          <a:solidFill>
            <a:srgbClr val="F4F6FB"/>
          </a:solidFill>
          <a:ln w="9525">
            <a:solidFill>
              <a:srgbClr val="DADFEA"/>
            </a:solidFill>
            <a:prstDash val="solid"/>
          </a:ln>
        </p:spPr>
      </p:sp>
      <p:sp>
        <p:nvSpPr>
          <p:cNvPr id="21" name="Shape 19"/>
          <p:cNvSpPr/>
          <p:nvPr/>
        </p:nvSpPr>
        <p:spPr>
          <a:xfrm>
            <a:off x="621792" y="4160520"/>
            <a:ext cx="365760" cy="365760"/>
          </a:xfrm>
          <a:prstGeom prst="ellipse">
            <a:avLst/>
          </a:prstGeom>
          <a:solidFill>
            <a:srgbClr val="3D5AFE"/>
          </a:solidFill>
          <a:ln/>
        </p:spPr>
      </p:sp>
      <p:sp>
        <p:nvSpPr>
          <p:cNvPr id="22" name="Text 20"/>
          <p:cNvSpPr/>
          <p:nvPr/>
        </p:nvSpPr>
        <p:spPr>
          <a:xfrm>
            <a:off x="621792" y="416052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097280" y="4123944"/>
            <a:ext cx="2834640" cy="41148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Self-Refinement</a:t>
            </a:r>
            <a:endParaRPr lang="en-US" sz="1300" dirty="0"/>
          </a:p>
        </p:txBody>
      </p:sp>
      <p:sp>
        <p:nvSpPr>
          <p:cNvPr id="24" name="Text 22"/>
          <p:cNvSpPr/>
          <p:nvPr/>
        </p:nvSpPr>
        <p:spPr>
          <a:xfrm>
            <a:off x="621792" y="4617720"/>
            <a:ext cx="3282696" cy="685800"/>
          </a:xfrm>
          <a:prstGeom prst="rect">
            <a:avLst/>
          </a:prstGeom>
          <a:noFill/>
          <a:ln/>
        </p:spPr>
        <p:txBody>
          <a:bodyPr wrap="square" rtlCol="0" anchor="t"/>
          <a:lstStyle/>
          <a:p>
            <a:pPr indent="0" marL="0">
              <a:buNone/>
            </a:pPr>
            <a:r>
              <a:rPr lang="en-US" sz="1050" dirty="0">
                <a:solidFill>
                  <a:srgbClr val="0A0A0A"/>
                </a:solidFill>
                <a:latin typeface="Calibri" pitchFamily="34" charset="0"/>
                <a:ea typeface="Calibri" pitchFamily="34" charset="-122"/>
                <a:cs typeface="Calibri" pitchFamily="34" charset="-120"/>
              </a:rPr>
              <a:t>Model iteratively rewrites its answer using its own critique as feedback</a:t>
            </a:r>
            <a:endParaRPr lang="en-US" sz="1050" dirty="0"/>
          </a:p>
        </p:txBody>
      </p:sp>
      <p:sp>
        <p:nvSpPr>
          <p:cNvPr id="25" name="Shape 23"/>
          <p:cNvSpPr/>
          <p:nvPr/>
        </p:nvSpPr>
        <p:spPr>
          <a:xfrm>
            <a:off x="4270248" y="3995928"/>
            <a:ext cx="3611880" cy="1417320"/>
          </a:xfrm>
          <a:prstGeom prst="roundRect">
            <a:avLst>
              <a:gd name="adj" fmla="val 3871"/>
            </a:avLst>
          </a:prstGeom>
          <a:solidFill>
            <a:srgbClr val="F4F6FB"/>
          </a:solidFill>
          <a:ln w="9525">
            <a:solidFill>
              <a:srgbClr val="DADFEA"/>
            </a:solidFill>
            <a:prstDash val="solid"/>
          </a:ln>
        </p:spPr>
      </p:sp>
      <p:sp>
        <p:nvSpPr>
          <p:cNvPr id="26" name="Shape 24"/>
          <p:cNvSpPr/>
          <p:nvPr/>
        </p:nvSpPr>
        <p:spPr>
          <a:xfrm>
            <a:off x="4434840" y="4160520"/>
            <a:ext cx="365760" cy="365760"/>
          </a:xfrm>
          <a:prstGeom prst="ellipse">
            <a:avLst/>
          </a:prstGeom>
          <a:solidFill>
            <a:srgbClr val="3D5AFE"/>
          </a:solidFill>
          <a:ln/>
        </p:spPr>
      </p:sp>
      <p:sp>
        <p:nvSpPr>
          <p:cNvPr id="27" name="Text 25"/>
          <p:cNvSpPr/>
          <p:nvPr/>
        </p:nvSpPr>
        <p:spPr>
          <a:xfrm>
            <a:off x="4434840" y="416052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4910328" y="4123944"/>
            <a:ext cx="2834640" cy="41148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Test-Time Compute</a:t>
            </a:r>
            <a:endParaRPr lang="en-US" sz="1300" dirty="0"/>
          </a:p>
        </p:txBody>
      </p:sp>
      <p:sp>
        <p:nvSpPr>
          <p:cNvPr id="29" name="Text 27"/>
          <p:cNvSpPr/>
          <p:nvPr/>
        </p:nvSpPr>
        <p:spPr>
          <a:xfrm>
            <a:off x="4434840" y="4617720"/>
            <a:ext cx="3282696" cy="685800"/>
          </a:xfrm>
          <a:prstGeom prst="rect">
            <a:avLst/>
          </a:prstGeom>
          <a:noFill/>
          <a:ln/>
        </p:spPr>
        <p:txBody>
          <a:bodyPr wrap="square" rtlCol="0" anchor="t"/>
          <a:lstStyle/>
          <a:p>
            <a:pPr indent="0" marL="0">
              <a:buNone/>
            </a:pPr>
            <a:r>
              <a:rPr lang="en-US" sz="1050" dirty="0">
                <a:solidFill>
                  <a:srgbClr val="0A0A0A"/>
                </a:solidFill>
                <a:latin typeface="Calibri" pitchFamily="34" charset="0"/>
                <a:ea typeface="Calibri" pitchFamily="34" charset="-122"/>
                <a:cs typeface="Calibri" pitchFamily="34" charset="-120"/>
              </a:rPr>
              <a:t>Allocate more inference-time computation (longer chains, search) to harder queries [9]</a:t>
            </a:r>
            <a:endParaRPr lang="en-US" sz="1050" dirty="0"/>
          </a:p>
        </p:txBody>
      </p:sp>
      <p:sp>
        <p:nvSpPr>
          <p:cNvPr id="30" name="Shape 28"/>
          <p:cNvSpPr/>
          <p:nvPr/>
        </p:nvSpPr>
        <p:spPr>
          <a:xfrm>
            <a:off x="8083296" y="3995928"/>
            <a:ext cx="3611880" cy="1417320"/>
          </a:xfrm>
          <a:prstGeom prst="roundRect">
            <a:avLst>
              <a:gd name="adj" fmla="val 3871"/>
            </a:avLst>
          </a:prstGeom>
          <a:solidFill>
            <a:srgbClr val="F4F6FB"/>
          </a:solidFill>
          <a:ln w="9525">
            <a:solidFill>
              <a:srgbClr val="DADFEA"/>
            </a:solidFill>
            <a:prstDash val="solid"/>
          </a:ln>
        </p:spPr>
      </p:sp>
      <p:sp>
        <p:nvSpPr>
          <p:cNvPr id="31" name="Shape 29"/>
          <p:cNvSpPr/>
          <p:nvPr/>
        </p:nvSpPr>
        <p:spPr>
          <a:xfrm>
            <a:off x="8247888" y="4160520"/>
            <a:ext cx="365760" cy="365760"/>
          </a:xfrm>
          <a:prstGeom prst="ellipse">
            <a:avLst/>
          </a:prstGeom>
          <a:solidFill>
            <a:srgbClr val="3D5AFE"/>
          </a:solidFill>
          <a:ln/>
        </p:spPr>
      </p:sp>
      <p:sp>
        <p:nvSpPr>
          <p:cNvPr id="32" name="Text 30"/>
          <p:cNvSpPr/>
          <p:nvPr/>
        </p:nvSpPr>
        <p:spPr>
          <a:xfrm>
            <a:off x="8247888" y="416052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1"/>
          <p:cNvSpPr/>
          <p:nvPr/>
        </p:nvSpPr>
        <p:spPr>
          <a:xfrm>
            <a:off x="8723376" y="4123944"/>
            <a:ext cx="2834640" cy="41148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Latent Reasoning</a:t>
            </a:r>
            <a:endParaRPr lang="en-US" sz="1300" dirty="0"/>
          </a:p>
        </p:txBody>
      </p:sp>
      <p:sp>
        <p:nvSpPr>
          <p:cNvPr id="34" name="Text 32"/>
          <p:cNvSpPr/>
          <p:nvPr/>
        </p:nvSpPr>
        <p:spPr>
          <a:xfrm>
            <a:off x="8247888" y="4617720"/>
            <a:ext cx="3282696" cy="685800"/>
          </a:xfrm>
          <a:prstGeom prst="rect">
            <a:avLst/>
          </a:prstGeom>
          <a:noFill/>
          <a:ln/>
        </p:spPr>
        <p:txBody>
          <a:bodyPr wrap="square" rtlCol="0" anchor="t"/>
          <a:lstStyle/>
          <a:p>
            <a:pPr indent="0" marL="0">
              <a:buNone/>
            </a:pPr>
            <a:r>
              <a:rPr lang="en-US" sz="1050" dirty="0">
                <a:solidFill>
                  <a:srgbClr val="0A0A0A"/>
                </a:solidFill>
                <a:latin typeface="Calibri" pitchFamily="34" charset="0"/>
                <a:ea typeface="Calibri" pitchFamily="34" charset="-122"/>
                <a:cs typeface="Calibri" pitchFamily="34" charset="-120"/>
              </a:rPr>
              <a:t>Reasoning carried in continuous hidden states rather than emitted text tokens</a:t>
            </a:r>
            <a:endParaRPr lang="en-US" sz="1050" dirty="0"/>
          </a:p>
        </p:txBody>
      </p:sp>
      <p:sp>
        <p:nvSpPr>
          <p:cNvPr id="35" name="Text 33"/>
          <p:cNvSpPr/>
          <p:nvPr/>
        </p:nvSpPr>
        <p:spPr>
          <a:xfrm>
            <a:off x="457200" y="6080760"/>
            <a:ext cx="11247120" cy="457200"/>
          </a:xfrm>
          <a:prstGeom prst="rect">
            <a:avLst/>
          </a:prstGeom>
          <a:noFill/>
          <a:ln/>
        </p:spPr>
        <p:txBody>
          <a:bodyPr wrap="square" rtlCol="0" anchor="ctr"/>
          <a:lstStyle/>
          <a:p>
            <a:pPr indent="0" marL="0">
              <a:buNone/>
            </a:pPr>
            <a:r>
              <a:rPr lang="en-US" sz="1100" i="1" dirty="0">
                <a:solidFill>
                  <a:srgbClr val="1E2761"/>
                </a:solidFill>
                <a:latin typeface="Calibri" pitchFamily="34" charset="0"/>
                <a:ea typeface="Calibri" pitchFamily="34" charset="-122"/>
                <a:cs typeface="Calibri" pitchFamily="34" charset="-120"/>
              </a:rPr>
              <a:t>Why it works: reasoning techniques trade extra computation (more tokens, more samples) for accuracy, letting a fixed set of weights solve harder problems than one greedy forward pass allows — DeepSeek-R1 shows this scales to reach o1-level math and coding performance [9].</a:t>
            </a:r>
            <a:endParaRPr lang="en-US" sz="1100" dirty="0"/>
          </a:p>
        </p:txBody>
      </p:sp>
      <p:sp>
        <p:nvSpPr>
          <p:cNvPr id="25" name="Slide Number Placeholder 0"/>
          <p:cNvSpPr>
            <a:spLocks noGrp="1"/>
          </p:cNvSpPr>
          <p:nvPr>
            <p:ph type="sldNum" sz="quarter" idx="4294967295"/>
          </p:nvPr>
        </p:nvSpPr>
        <p:spPr>
          <a:xfrm>
            <a:off x="1154887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84048"/>
            <a:ext cx="5486400" cy="274320"/>
          </a:xfrm>
          <a:prstGeom prst="rect">
            <a:avLst/>
          </a:prstGeom>
          <a:noFill/>
          <a:ln/>
        </p:spPr>
        <p:txBody>
          <a:bodyPr wrap="square" rtlCol="0" anchor="ctr"/>
          <a:lstStyle/>
          <a:p>
            <a:pPr indent="0" marL="0">
              <a:buNone/>
            </a:pPr>
            <a:r>
              <a:rPr lang="en-US" sz="1100" b="1" spc="200" kern="0" dirty="0">
                <a:solidFill>
                  <a:srgbClr val="3D5AFE"/>
                </a:solidFill>
                <a:latin typeface="Calibri" pitchFamily="34" charset="0"/>
                <a:ea typeface="Calibri" pitchFamily="34" charset="-122"/>
                <a:cs typeface="Calibri" pitchFamily="34" charset="-120"/>
              </a:rPr>
              <a:t>CROSS-MODEL COMPARISON</a:t>
            </a:r>
            <a:endParaRPr lang="en-US" sz="1100" dirty="0"/>
          </a:p>
        </p:txBody>
      </p:sp>
      <p:sp>
        <p:nvSpPr>
          <p:cNvPr id="3" name="Text 1"/>
          <p:cNvSpPr/>
          <p:nvPr/>
        </p:nvSpPr>
        <p:spPr>
          <a:xfrm>
            <a:off x="457200" y="59436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Comparison of Modern LLM Training Pipelines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47120" cy="4160520"/>
        </p:xfrm>
        <a:graphic>
          <a:graphicData uri="http://schemas.openxmlformats.org/drawingml/2006/table">
            <a:tbl>
              <a:tblPr/>
              <a:tblGrid>
                <a:gridCol w="2468880"/>
                <a:gridCol w="1755648"/>
                <a:gridCol w="1755648"/>
                <a:gridCol w="1755648"/>
                <a:gridCol w="1755648"/>
                <a:gridCol w="1755648"/>
              </a:tblGrid>
              <a:tr h="466344">
                <a:tc>
                  <a:txBody>
                    <a:bodyPr/>
                    <a:lstStyle/>
                    <a:p>
                      <a:pPr algn="l" indent="0" marL="0">
                        <a:buNone/>
                      </a:pPr>
                      <a:endParaRPr lang="en-US" sz="12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1E2761"/>
                    </a:solidFill>
                  </a:tcPr>
                </a:tc>
                <a:tc>
                  <a:txBody>
                    <a:bodyPr/>
                    <a:lstStyle/>
                    <a:p>
                      <a:pPr algn="ctr" indent="0" marL="0">
                        <a:buNone/>
                      </a:pPr>
                      <a:r>
                        <a:rPr lang="en-US" sz="1250" b="1" dirty="0">
                          <a:solidFill>
                            <a:srgbClr val="FFFFFF"/>
                          </a:solidFill>
                        </a:rPr>
                        <a:t>GPT-4</a:t>
                      </a:r>
                      <a:endParaRPr lang="en-US" sz="12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1E2761"/>
                    </a:solidFill>
                  </a:tcPr>
                </a:tc>
                <a:tc>
                  <a:txBody>
                    <a:bodyPr/>
                    <a:lstStyle/>
                    <a:p>
                      <a:pPr algn="ctr" indent="0" marL="0">
                        <a:buNone/>
                      </a:pPr>
                      <a:r>
                        <a:rPr lang="en-US" sz="1250" b="1" dirty="0">
                          <a:solidFill>
                            <a:srgbClr val="FFFFFF"/>
                          </a:solidFill>
                        </a:rPr>
                        <a:t>Llama 3</a:t>
                      </a:r>
                      <a:endParaRPr lang="en-US" sz="12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1E2761"/>
                    </a:solidFill>
                  </a:tcPr>
                </a:tc>
                <a:tc>
                  <a:txBody>
                    <a:bodyPr/>
                    <a:lstStyle/>
                    <a:p>
                      <a:pPr algn="ctr" indent="0" marL="0">
                        <a:buNone/>
                      </a:pPr>
                      <a:r>
                        <a:rPr lang="en-US" sz="1250" b="1" dirty="0">
                          <a:solidFill>
                            <a:srgbClr val="FFFFFF"/>
                          </a:solidFill>
                        </a:rPr>
                        <a:t>DeepSeek</a:t>
                      </a:r>
                      <a:endParaRPr lang="en-US" sz="12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1E2761"/>
                    </a:solidFill>
                  </a:tcPr>
                </a:tc>
                <a:tc>
                  <a:txBody>
                    <a:bodyPr/>
                    <a:lstStyle/>
                    <a:p>
                      <a:pPr algn="ctr" indent="0" marL="0">
                        <a:buNone/>
                      </a:pPr>
                      <a:r>
                        <a:rPr lang="en-US" sz="1250" b="1" dirty="0">
                          <a:solidFill>
                            <a:srgbClr val="FFFFFF"/>
                          </a:solidFill>
                        </a:rPr>
                        <a:t>Claude</a:t>
                      </a:r>
                      <a:endParaRPr lang="en-US" sz="12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1E2761"/>
                    </a:solidFill>
                  </a:tcPr>
                </a:tc>
                <a:tc>
                  <a:txBody>
                    <a:bodyPr/>
                    <a:lstStyle/>
                    <a:p>
                      <a:pPr algn="ctr" indent="0" marL="0">
                        <a:buNone/>
                      </a:pPr>
                      <a:r>
                        <a:rPr lang="en-US" sz="1250" b="1" dirty="0">
                          <a:solidFill>
                            <a:srgbClr val="FFFFFF"/>
                          </a:solidFill>
                        </a:rPr>
                        <a:t>Gemini</a:t>
                      </a:r>
                      <a:endParaRPr lang="en-US" sz="12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1E2761"/>
                    </a:solidFill>
                  </a:tcPr>
                </a:tc>
              </a:tr>
              <a:tr h="466344">
                <a:tc>
                  <a:txBody>
                    <a:bodyPr/>
                    <a:lstStyle/>
                    <a:p>
                      <a:pPr algn="l" indent="0" marL="0">
                        <a:buNone/>
                      </a:pPr>
                      <a:r>
                        <a:rPr lang="en-US" sz="1150" b="1" dirty="0">
                          <a:solidFill>
                            <a:srgbClr val="1E2761"/>
                          </a:solidFill>
                        </a:rPr>
                        <a:t>Pretraining (NTP)</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7A3D"/>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7A3D"/>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7A3D"/>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7A3D"/>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7A3D"/>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r>
              <a:tr h="466344">
                <a:tc>
                  <a:txBody>
                    <a:bodyPr/>
                    <a:lstStyle/>
                    <a:p>
                      <a:pPr algn="l" indent="0" marL="0">
                        <a:buNone/>
                      </a:pPr>
                      <a:r>
                        <a:rPr lang="en-US" sz="1150" b="1" dirty="0">
                          <a:solidFill>
                            <a:srgbClr val="1E2761"/>
                          </a:solidFill>
                        </a:rPr>
                        <a:t>SFT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B7A3D"/>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B7A3D"/>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B7A3D"/>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B7A3D"/>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B7A3D"/>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r>
              <a:tr h="466344">
                <a:tc>
                  <a:txBody>
                    <a:bodyPr/>
                    <a:lstStyle/>
                    <a:p>
                      <a:pPr algn="l" indent="0" marL="0">
                        <a:buNone/>
                      </a:pPr>
                      <a:r>
                        <a:rPr lang="en-US" sz="1150" b="1" dirty="0">
                          <a:solidFill>
                            <a:srgbClr val="1E2761"/>
                          </a:solidFill>
                        </a:rPr>
                        <a:t>RLHF</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7A3D"/>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7A3D"/>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A0A0A"/>
                          </a:solidFill>
                        </a:rPr>
                        <a:t>Partial</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7A3D"/>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7A3D"/>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r>
              <a:tr h="466344">
                <a:tc>
                  <a:txBody>
                    <a:bodyPr/>
                    <a:lstStyle/>
                    <a:p>
                      <a:pPr algn="l" indent="0" marL="0">
                        <a:buNone/>
                      </a:pPr>
                      <a:r>
                        <a:rPr lang="en-US" sz="1150" b="1" dirty="0">
                          <a:solidFill>
                            <a:srgbClr val="1E2761"/>
                          </a:solidFill>
                        </a:rPr>
                        <a:t>DPO</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0A0A0A"/>
                          </a:solidFill>
                        </a:rPr>
                        <a:t>Undisclosed</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B7A3D"/>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B7A3D"/>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0A0A0A"/>
                          </a:solidFill>
                        </a:rPr>
                        <a:t>Undisclosed</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0A0A0A"/>
                          </a:solidFill>
                        </a:rPr>
                        <a:t>Undisclosed</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r>
              <a:tr h="466344">
                <a:tc>
                  <a:txBody>
                    <a:bodyPr/>
                    <a:lstStyle/>
                    <a:p>
                      <a:pPr algn="l" indent="0" marL="0">
                        <a:buNone/>
                      </a:pPr>
                      <a:r>
                        <a:rPr lang="en-US" sz="1150" b="1" dirty="0">
                          <a:solidFill>
                            <a:srgbClr val="1E2761"/>
                          </a:solidFill>
                        </a:rPr>
                        <a:t>GRPO</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A0A0A"/>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A0A0A"/>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A0A0A"/>
                          </a:solidFill>
                        </a:rPr>
                        <a:t>✓ (R1)</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A0A0A"/>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A0A0A"/>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r>
              <a:tr h="466344">
                <a:tc>
                  <a:txBody>
                    <a:bodyPr/>
                    <a:lstStyle/>
                    <a:p>
                      <a:pPr algn="l" indent="0" marL="0">
                        <a:buNone/>
                      </a:pPr>
                      <a:r>
                        <a:rPr lang="en-US" sz="1150" b="1" dirty="0">
                          <a:solidFill>
                            <a:srgbClr val="1E2761"/>
                          </a:solidFill>
                        </a:rPr>
                        <a:t>MoE Architecture</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0A0A0A"/>
                          </a:solidFill>
                        </a:rPr>
                        <a:t>Rumoured</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0A0A0A"/>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1B7A3D"/>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0A0A0A"/>
                          </a:solidFill>
                        </a:rPr>
                        <a:t>Undisclosed</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0A0A0A"/>
                          </a:solidFill>
                        </a:rPr>
                        <a:t>Undisclosed</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r>
              <a:tr h="466344">
                <a:tc>
                  <a:txBody>
                    <a:bodyPr/>
                    <a:lstStyle/>
                    <a:p>
                      <a:pPr algn="l" indent="0" marL="0">
                        <a:buNone/>
                      </a:pPr>
                      <a:r>
                        <a:rPr lang="en-US" sz="1150" b="1" dirty="0">
                          <a:solidFill>
                            <a:srgbClr val="1E2761"/>
                          </a:solidFill>
                        </a:rPr>
                        <a:t>MTP Objective</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A0A0A"/>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A0A0A"/>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A0A0A"/>
                          </a:solidFill>
                        </a:rPr>
                        <a:t>✓ (V3)</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A0A0A"/>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A0A0A"/>
                          </a:solidFill>
                        </a:rPr>
                        <a: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FFFFF"/>
                    </a:solidFill>
                  </a:tcPr>
                </a:tc>
              </a:tr>
              <a:tr h="466344">
                <a:tc>
                  <a:txBody>
                    <a:bodyPr/>
                    <a:lstStyle/>
                    <a:p>
                      <a:pPr algn="l" indent="0" marL="0">
                        <a:buNone/>
                      </a:pPr>
                      <a:r>
                        <a:rPr lang="en-US" sz="1150" b="1" dirty="0">
                          <a:solidFill>
                            <a:srgbClr val="1E2761"/>
                          </a:solidFill>
                        </a:rPr>
                        <a:t>Long Context</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0A0A0A"/>
                          </a:solidFill>
                        </a:rPr>
                        <a:t>128K</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0A0A0A"/>
                          </a:solidFill>
                        </a:rPr>
                        <a:t>128K</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0A0A0A"/>
                          </a:solidFill>
                        </a:rPr>
                        <a:t>128K</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0A0A0A"/>
                          </a:solidFill>
                        </a:rPr>
                        <a:t>200K+</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c>
                  <a:txBody>
                    <a:bodyPr/>
                    <a:lstStyle/>
                    <a:p>
                      <a:pPr algn="ctr" indent="0" marL="0">
                        <a:buNone/>
                      </a:pPr>
                      <a:r>
                        <a:rPr lang="en-US" sz="1150" dirty="0">
                          <a:solidFill>
                            <a:srgbClr val="0A0A0A"/>
                          </a:solidFill>
                        </a:rPr>
                        <a:t>1M+</a:t>
                      </a:r>
                      <a:endParaRPr lang="en-US" sz="1150" dirty="0"/>
                    </a:p>
                  </a:txBody>
                  <a:tcPr marL="91440" marR="91440" marT="45720" marB="45720" anchor="ctr">
                    <a:lnL w="9525" cap="flat" cmpd="sng" algn="ctr">
                      <a:solidFill>
                        <a:srgbClr val="DADFEA"/>
                      </a:solidFill>
                      <a:prstDash val="solid"/>
                      <a:round/>
                      <a:headEnd type="none" w="med" len="med"/>
                      <a:tailEnd type="none" w="med" len="med"/>
                    </a:lnL>
                    <a:lnR w="9525" cap="flat" cmpd="sng" algn="ctr">
                      <a:solidFill>
                        <a:srgbClr val="DADFEA"/>
                      </a:solidFill>
                      <a:prstDash val="solid"/>
                      <a:round/>
                      <a:headEnd type="none" w="med" len="med"/>
                      <a:tailEnd type="none" w="med" len="med"/>
                    </a:lnR>
                    <a:lnT w="9525" cap="flat" cmpd="sng" algn="ctr">
                      <a:solidFill>
                        <a:srgbClr val="DADFEA"/>
                      </a:solidFill>
                      <a:prstDash val="solid"/>
                      <a:round/>
                      <a:headEnd type="none" w="med" len="med"/>
                      <a:tailEnd type="none" w="med" len="med"/>
                    </a:lnT>
                    <a:lnB w="9525" cap="flat" cmpd="sng" algn="ctr">
                      <a:solidFill>
                        <a:srgbClr val="DADFEA"/>
                      </a:solidFill>
                      <a:prstDash val="solid"/>
                      <a:round/>
                      <a:headEnd type="none" w="med" len="med"/>
                      <a:tailEnd type="none" w="med" len="med"/>
                    </a:lnB>
                    <a:solidFill>
                      <a:srgbClr val="F4F6FB"/>
                    </a:solidFill>
                  </a:tcPr>
                </a:tc>
              </a:tr>
            </a:tbl>
          </a:graphicData>
        </a:graphic>
      </p:graphicFrame>
      <p:sp>
        <p:nvSpPr>
          <p:cNvPr id="5" name="Text 2"/>
          <p:cNvSpPr/>
          <p:nvPr/>
        </p:nvSpPr>
        <p:spPr>
          <a:xfrm>
            <a:off x="457200" y="6080760"/>
            <a:ext cx="11247120" cy="411480"/>
          </a:xfrm>
          <a:prstGeom prst="rect">
            <a:avLst/>
          </a:prstGeom>
          <a:noFill/>
          <a:ln/>
        </p:spPr>
        <p:txBody>
          <a:bodyPr wrap="square" rtlCol="0" anchor="ctr"/>
          <a:lstStyle/>
          <a:p>
            <a:pPr indent="0" marL="0">
              <a:buNone/>
            </a:pPr>
            <a:r>
              <a:rPr lang="en-US" sz="1000" i="1" dirty="0">
                <a:solidFill>
                  <a:srgbClr val="5A5A5A"/>
                </a:solidFill>
                <a:latin typeface="Calibri" pitchFamily="34" charset="0"/>
                <a:ea typeface="Calibri" pitchFamily="34" charset="-122"/>
                <a:cs typeface="Calibri" pitchFamily="34" charset="-120"/>
              </a:rPr>
              <a:t>Notes: entries marked 'Undisclosed' reflect closed-source labs that do not publish full training recipes; 'Partial'/'Rumoured' reflect credible but unconfirmed public reporting.</a:t>
            </a:r>
            <a:endParaRPr lang="en-US" sz="1000" dirty="0"/>
          </a:p>
        </p:txBody>
      </p:sp>
      <p:sp>
        <p:nvSpPr>
          <p:cNvPr id="25" name="Slide Number Placeholder 0"/>
          <p:cNvSpPr>
            <a:spLocks noGrp="1"/>
          </p:cNvSpPr>
          <p:nvPr>
            <p:ph type="sldNum" sz="quarter" idx="4294967295"/>
          </p:nvPr>
        </p:nvSpPr>
        <p:spPr>
          <a:xfrm>
            <a:off x="1154887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84048"/>
            <a:ext cx="5486400" cy="274320"/>
          </a:xfrm>
          <a:prstGeom prst="rect">
            <a:avLst/>
          </a:prstGeom>
          <a:noFill/>
          <a:ln/>
        </p:spPr>
        <p:txBody>
          <a:bodyPr wrap="square" rtlCol="0" anchor="ctr"/>
          <a:lstStyle/>
          <a:p>
            <a:pPr indent="0" marL="0">
              <a:buNone/>
            </a:pPr>
            <a:r>
              <a:rPr lang="en-US" sz="1100" b="1" spc="200" kern="0" dirty="0">
                <a:solidFill>
                  <a:srgbClr val="3D5AFE"/>
                </a:solidFill>
                <a:latin typeface="Calibri" pitchFamily="34" charset="0"/>
                <a:ea typeface="Calibri" pitchFamily="34" charset="-122"/>
                <a:cs typeface="Calibri" pitchFamily="34" charset="-120"/>
              </a:rPr>
              <a:t>FUTURE RESEARCH</a:t>
            </a:r>
            <a:endParaRPr lang="en-US" sz="1100" dirty="0"/>
          </a:p>
        </p:txBody>
      </p:sp>
      <p:sp>
        <p:nvSpPr>
          <p:cNvPr id="3" name="Text 1"/>
          <p:cNvSpPr/>
          <p:nvPr/>
        </p:nvSpPr>
        <p:spPr>
          <a:xfrm>
            <a:off x="457200" y="59436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Future Research Directions</a:t>
            </a:r>
            <a:endParaRPr lang="en-US" sz="3000" dirty="0"/>
          </a:p>
        </p:txBody>
      </p:sp>
      <p:sp>
        <p:nvSpPr>
          <p:cNvPr id="4" name="Text 2"/>
          <p:cNvSpPr/>
          <p:nvPr/>
        </p:nvSpPr>
        <p:spPr>
          <a:xfrm>
            <a:off x="457200" y="1691640"/>
            <a:ext cx="11247120" cy="502920"/>
          </a:xfrm>
          <a:prstGeom prst="rect">
            <a:avLst/>
          </a:prstGeom>
          <a:noFill/>
          <a:ln/>
        </p:spPr>
        <p:txBody>
          <a:bodyPr wrap="square" rtlCol="0" anchor="ctr"/>
          <a:lstStyle/>
          <a:p>
            <a:pPr indent="0" marL="0">
              <a:buNone/>
            </a:pPr>
            <a:r>
              <a:rPr lang="en-US" sz="1300" dirty="0">
                <a:solidFill>
                  <a:srgbClr val="0A0A0A"/>
                </a:solidFill>
                <a:latin typeface="Calibri" pitchFamily="34" charset="0"/>
                <a:ea typeface="Calibri" pitchFamily="34" charset="-122"/>
                <a:cs typeface="Calibri" pitchFamily="34" charset="-120"/>
              </a:rPr>
              <a:t>The next leap in LLM capability is expected to come less from raw parameter scaling, and more from architectures and training that make reasoning itself more efficient.</a:t>
            </a:r>
            <a:endParaRPr lang="en-US" sz="1300" dirty="0"/>
          </a:p>
        </p:txBody>
      </p:sp>
      <p:sp>
        <p:nvSpPr>
          <p:cNvPr id="5" name="Shape 3"/>
          <p:cNvSpPr/>
          <p:nvPr/>
        </p:nvSpPr>
        <p:spPr>
          <a:xfrm>
            <a:off x="457200" y="2331720"/>
            <a:ext cx="5440680" cy="530352"/>
          </a:xfrm>
          <a:prstGeom prst="roundRect">
            <a:avLst>
              <a:gd name="adj" fmla="val 10345"/>
            </a:avLst>
          </a:prstGeom>
          <a:solidFill>
            <a:srgbClr val="F4F6FB"/>
          </a:solidFill>
          <a:ln/>
        </p:spPr>
      </p:sp>
      <p:sp>
        <p:nvSpPr>
          <p:cNvPr id="6" name="Shape 4"/>
          <p:cNvSpPr/>
          <p:nvPr/>
        </p:nvSpPr>
        <p:spPr>
          <a:xfrm>
            <a:off x="566928" y="2414016"/>
            <a:ext cx="365760" cy="365760"/>
          </a:xfrm>
          <a:prstGeom prst="ellipse">
            <a:avLst/>
          </a:prstGeom>
          <a:solidFill>
            <a:srgbClr val="1E2761"/>
          </a:solidFill>
          <a:ln/>
        </p:spPr>
      </p:sp>
      <p:sp>
        <p:nvSpPr>
          <p:cNvPr id="7" name="Text 5"/>
          <p:cNvSpPr/>
          <p:nvPr/>
        </p:nvSpPr>
        <p:spPr>
          <a:xfrm>
            <a:off x="566928" y="2414016"/>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51560" y="2331720"/>
            <a:ext cx="4754880" cy="530352"/>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Hierarchical Reasoning Models (HRM) — </a:t>
            </a:r>
            <a:pPr indent="0" marL="0">
              <a:buNone/>
            </a:pPr>
            <a:r>
              <a:rPr lang="en-US" sz="1050" dirty="0">
                <a:solidFill>
                  <a:srgbClr val="0A0A0A"/>
                </a:solidFill>
                <a:latin typeface="Calibri" pitchFamily="34" charset="0"/>
                <a:ea typeface="Calibri" pitchFamily="34" charset="-122"/>
                <a:cs typeface="Calibri" pitchFamily="34" charset="-120"/>
              </a:rPr>
              <a:t>Multi-level modules that plan at a slow timescale and execute at a fast one</a:t>
            </a:r>
            <a:endParaRPr lang="en-US" sz="1050" dirty="0"/>
          </a:p>
        </p:txBody>
      </p:sp>
      <p:sp>
        <p:nvSpPr>
          <p:cNvPr id="9" name="Shape 7"/>
          <p:cNvSpPr/>
          <p:nvPr/>
        </p:nvSpPr>
        <p:spPr>
          <a:xfrm>
            <a:off x="6263640" y="2331720"/>
            <a:ext cx="5440680" cy="530352"/>
          </a:xfrm>
          <a:prstGeom prst="roundRect">
            <a:avLst>
              <a:gd name="adj" fmla="val 10345"/>
            </a:avLst>
          </a:prstGeom>
          <a:solidFill>
            <a:srgbClr val="F4F6FB"/>
          </a:solidFill>
          <a:ln/>
        </p:spPr>
      </p:sp>
      <p:sp>
        <p:nvSpPr>
          <p:cNvPr id="10" name="Shape 8"/>
          <p:cNvSpPr/>
          <p:nvPr/>
        </p:nvSpPr>
        <p:spPr>
          <a:xfrm>
            <a:off x="6373368" y="2414016"/>
            <a:ext cx="365760" cy="365760"/>
          </a:xfrm>
          <a:prstGeom prst="ellipse">
            <a:avLst/>
          </a:prstGeom>
          <a:solidFill>
            <a:srgbClr val="3D5AFE"/>
          </a:solidFill>
          <a:ln/>
        </p:spPr>
      </p:sp>
      <p:sp>
        <p:nvSpPr>
          <p:cNvPr id="11" name="Text 9"/>
          <p:cNvSpPr/>
          <p:nvPr/>
        </p:nvSpPr>
        <p:spPr>
          <a:xfrm>
            <a:off x="6373368" y="2414016"/>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6858000" y="2331720"/>
            <a:ext cx="4754880" cy="530352"/>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Tiny Recursive Models — </a:t>
            </a:r>
            <a:pPr indent="0" marL="0">
              <a:buNone/>
            </a:pPr>
            <a:r>
              <a:rPr lang="en-US" sz="1050" dirty="0">
                <a:solidFill>
                  <a:srgbClr val="0A0A0A"/>
                </a:solidFill>
                <a:latin typeface="Calibri" pitchFamily="34" charset="0"/>
                <a:ea typeface="Calibri" pitchFamily="34" charset="-122"/>
                <a:cs typeface="Calibri" pitchFamily="34" charset="-120"/>
              </a:rPr>
              <a:t>Small models that iteratively refine an answer through repeated self-application</a:t>
            </a:r>
            <a:endParaRPr lang="en-US" sz="1050" dirty="0"/>
          </a:p>
        </p:txBody>
      </p:sp>
      <p:sp>
        <p:nvSpPr>
          <p:cNvPr id="13" name="Shape 11"/>
          <p:cNvSpPr/>
          <p:nvPr/>
        </p:nvSpPr>
        <p:spPr>
          <a:xfrm>
            <a:off x="457200" y="2971800"/>
            <a:ext cx="5440680" cy="530352"/>
          </a:xfrm>
          <a:prstGeom prst="roundRect">
            <a:avLst>
              <a:gd name="adj" fmla="val 10345"/>
            </a:avLst>
          </a:prstGeom>
          <a:solidFill>
            <a:srgbClr val="F4F6FB"/>
          </a:solidFill>
          <a:ln/>
        </p:spPr>
      </p:sp>
      <p:sp>
        <p:nvSpPr>
          <p:cNvPr id="14" name="Shape 12"/>
          <p:cNvSpPr/>
          <p:nvPr/>
        </p:nvSpPr>
        <p:spPr>
          <a:xfrm>
            <a:off x="566928" y="3054096"/>
            <a:ext cx="365760" cy="365760"/>
          </a:xfrm>
          <a:prstGeom prst="ellipse">
            <a:avLst/>
          </a:prstGeom>
          <a:solidFill>
            <a:srgbClr val="1E2761"/>
          </a:solidFill>
          <a:ln/>
        </p:spPr>
      </p:sp>
      <p:sp>
        <p:nvSpPr>
          <p:cNvPr id="15" name="Text 13"/>
          <p:cNvSpPr/>
          <p:nvPr/>
        </p:nvSpPr>
        <p:spPr>
          <a:xfrm>
            <a:off x="566928" y="3054096"/>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051560" y="2971800"/>
            <a:ext cx="4754880" cy="530352"/>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Latent Reasoning — </a:t>
            </a:r>
            <a:pPr indent="0" marL="0">
              <a:buNone/>
            </a:pPr>
            <a:r>
              <a:rPr lang="en-US" sz="1050" dirty="0">
                <a:solidFill>
                  <a:srgbClr val="0A0A0A"/>
                </a:solidFill>
                <a:latin typeface="Calibri" pitchFamily="34" charset="0"/>
                <a:ea typeface="Calibri" pitchFamily="34" charset="-122"/>
                <a:cs typeface="Calibri" pitchFamily="34" charset="-120"/>
              </a:rPr>
              <a:t>Thinking in continuous hidden-state space rather than discrete emitted tokens</a:t>
            </a:r>
            <a:endParaRPr lang="en-US" sz="1050" dirty="0"/>
          </a:p>
        </p:txBody>
      </p:sp>
      <p:sp>
        <p:nvSpPr>
          <p:cNvPr id="17" name="Shape 15"/>
          <p:cNvSpPr/>
          <p:nvPr/>
        </p:nvSpPr>
        <p:spPr>
          <a:xfrm>
            <a:off x="6263640" y="2971800"/>
            <a:ext cx="5440680" cy="530352"/>
          </a:xfrm>
          <a:prstGeom prst="roundRect">
            <a:avLst>
              <a:gd name="adj" fmla="val 10345"/>
            </a:avLst>
          </a:prstGeom>
          <a:solidFill>
            <a:srgbClr val="F4F6FB"/>
          </a:solidFill>
          <a:ln/>
        </p:spPr>
      </p:sp>
      <p:sp>
        <p:nvSpPr>
          <p:cNvPr id="18" name="Shape 16"/>
          <p:cNvSpPr/>
          <p:nvPr/>
        </p:nvSpPr>
        <p:spPr>
          <a:xfrm>
            <a:off x="6373368" y="3054096"/>
            <a:ext cx="365760" cy="365760"/>
          </a:xfrm>
          <a:prstGeom prst="ellipse">
            <a:avLst/>
          </a:prstGeom>
          <a:solidFill>
            <a:srgbClr val="3D5AFE"/>
          </a:solidFill>
          <a:ln/>
        </p:spPr>
      </p:sp>
      <p:sp>
        <p:nvSpPr>
          <p:cNvPr id="19" name="Text 17"/>
          <p:cNvSpPr/>
          <p:nvPr/>
        </p:nvSpPr>
        <p:spPr>
          <a:xfrm>
            <a:off x="6373368" y="3054096"/>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p:nvPr/>
        </p:nvSpPr>
        <p:spPr>
          <a:xfrm>
            <a:off x="6858000" y="2971800"/>
            <a:ext cx="4754880" cy="530352"/>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Hybrid Transformer + Mamba — </a:t>
            </a:r>
            <a:pPr indent="0" marL="0">
              <a:buNone/>
            </a:pPr>
            <a:r>
              <a:rPr lang="en-US" sz="1050" dirty="0">
                <a:solidFill>
                  <a:srgbClr val="0A0A0A"/>
                </a:solidFill>
                <a:latin typeface="Calibri" pitchFamily="34" charset="0"/>
                <a:ea typeface="Calibri" pitchFamily="34" charset="-122"/>
                <a:cs typeface="Calibri" pitchFamily="34" charset="-120"/>
              </a:rPr>
              <a:t>Combines attention with state-space models for long-context efficiency</a:t>
            </a:r>
            <a:endParaRPr lang="en-US" sz="1050" dirty="0"/>
          </a:p>
        </p:txBody>
      </p:sp>
      <p:sp>
        <p:nvSpPr>
          <p:cNvPr id="21" name="Shape 19"/>
          <p:cNvSpPr/>
          <p:nvPr/>
        </p:nvSpPr>
        <p:spPr>
          <a:xfrm>
            <a:off x="457200" y="3611880"/>
            <a:ext cx="5440680" cy="530352"/>
          </a:xfrm>
          <a:prstGeom prst="roundRect">
            <a:avLst>
              <a:gd name="adj" fmla="val 10345"/>
            </a:avLst>
          </a:prstGeom>
          <a:solidFill>
            <a:srgbClr val="F4F6FB"/>
          </a:solidFill>
          <a:ln/>
        </p:spPr>
      </p:sp>
      <p:sp>
        <p:nvSpPr>
          <p:cNvPr id="22" name="Shape 20"/>
          <p:cNvSpPr/>
          <p:nvPr/>
        </p:nvSpPr>
        <p:spPr>
          <a:xfrm>
            <a:off x="566928" y="3694176"/>
            <a:ext cx="365760" cy="365760"/>
          </a:xfrm>
          <a:prstGeom prst="ellipse">
            <a:avLst/>
          </a:prstGeom>
          <a:solidFill>
            <a:srgbClr val="1E2761"/>
          </a:solidFill>
          <a:ln/>
        </p:spPr>
      </p:sp>
      <p:sp>
        <p:nvSpPr>
          <p:cNvPr id="23" name="Text 21"/>
          <p:cNvSpPr/>
          <p:nvPr/>
        </p:nvSpPr>
        <p:spPr>
          <a:xfrm>
            <a:off x="566928" y="3694176"/>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2"/>
          <p:cNvSpPr/>
          <p:nvPr/>
        </p:nvSpPr>
        <p:spPr>
          <a:xfrm>
            <a:off x="1051560" y="3611880"/>
            <a:ext cx="4754880" cy="530352"/>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Mixture of Experts (MoE) — </a:t>
            </a:r>
            <a:pPr indent="0" marL="0">
              <a:buNone/>
            </a:pPr>
            <a:r>
              <a:rPr lang="en-US" sz="1050" dirty="0">
                <a:solidFill>
                  <a:srgbClr val="0A0A0A"/>
                </a:solidFill>
                <a:latin typeface="Calibri" pitchFamily="34" charset="0"/>
                <a:ea typeface="Calibri" pitchFamily="34" charset="-122"/>
                <a:cs typeface="Calibri" pitchFamily="34" charset="-120"/>
              </a:rPr>
              <a:t>Sparse activation lets total capacity grow without proportional compute cost</a:t>
            </a:r>
            <a:endParaRPr lang="en-US" sz="1050" dirty="0"/>
          </a:p>
        </p:txBody>
      </p:sp>
      <p:sp>
        <p:nvSpPr>
          <p:cNvPr id="25" name="Shape 23"/>
          <p:cNvSpPr/>
          <p:nvPr/>
        </p:nvSpPr>
        <p:spPr>
          <a:xfrm>
            <a:off x="6263640" y="3611880"/>
            <a:ext cx="5440680" cy="530352"/>
          </a:xfrm>
          <a:prstGeom prst="roundRect">
            <a:avLst>
              <a:gd name="adj" fmla="val 10345"/>
            </a:avLst>
          </a:prstGeom>
          <a:solidFill>
            <a:srgbClr val="F4F6FB"/>
          </a:solidFill>
          <a:ln/>
        </p:spPr>
      </p:sp>
      <p:sp>
        <p:nvSpPr>
          <p:cNvPr id="26" name="Shape 24"/>
          <p:cNvSpPr/>
          <p:nvPr/>
        </p:nvSpPr>
        <p:spPr>
          <a:xfrm>
            <a:off x="6373368" y="3694176"/>
            <a:ext cx="365760" cy="365760"/>
          </a:xfrm>
          <a:prstGeom prst="ellipse">
            <a:avLst/>
          </a:prstGeom>
          <a:solidFill>
            <a:srgbClr val="3D5AFE"/>
          </a:solidFill>
          <a:ln/>
        </p:spPr>
      </p:sp>
      <p:sp>
        <p:nvSpPr>
          <p:cNvPr id="27" name="Text 25"/>
          <p:cNvSpPr/>
          <p:nvPr/>
        </p:nvSpPr>
        <p:spPr>
          <a:xfrm>
            <a:off x="6373368" y="3694176"/>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8" name="Text 26"/>
          <p:cNvSpPr/>
          <p:nvPr/>
        </p:nvSpPr>
        <p:spPr>
          <a:xfrm>
            <a:off x="6858000" y="3611880"/>
            <a:ext cx="4754880" cy="530352"/>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Memory-Augmented Models (Engram) — </a:t>
            </a:r>
            <a:pPr indent="0" marL="0">
              <a:buNone/>
            </a:pPr>
            <a:r>
              <a:rPr lang="en-US" sz="1050" dirty="0">
                <a:solidFill>
                  <a:srgbClr val="0A0A0A"/>
                </a:solidFill>
                <a:latin typeface="Calibri" pitchFamily="34" charset="0"/>
                <a:ea typeface="Calibri" pitchFamily="34" charset="-122"/>
                <a:cs typeface="Calibri" pitchFamily="34" charset="-120"/>
              </a:rPr>
              <a:t>External or persistent memory stores reduce reliance on context-window recall</a:t>
            </a:r>
            <a:endParaRPr lang="en-US" sz="1050" dirty="0"/>
          </a:p>
        </p:txBody>
      </p:sp>
      <p:sp>
        <p:nvSpPr>
          <p:cNvPr id="29" name="Shape 27"/>
          <p:cNvSpPr/>
          <p:nvPr/>
        </p:nvSpPr>
        <p:spPr>
          <a:xfrm>
            <a:off x="457200" y="4251960"/>
            <a:ext cx="5440680" cy="530352"/>
          </a:xfrm>
          <a:prstGeom prst="roundRect">
            <a:avLst>
              <a:gd name="adj" fmla="val 10345"/>
            </a:avLst>
          </a:prstGeom>
          <a:solidFill>
            <a:srgbClr val="F4F6FB"/>
          </a:solidFill>
          <a:ln/>
        </p:spPr>
      </p:sp>
      <p:sp>
        <p:nvSpPr>
          <p:cNvPr id="30" name="Shape 28"/>
          <p:cNvSpPr/>
          <p:nvPr/>
        </p:nvSpPr>
        <p:spPr>
          <a:xfrm>
            <a:off x="566928" y="4334256"/>
            <a:ext cx="365760" cy="365760"/>
          </a:xfrm>
          <a:prstGeom prst="ellipse">
            <a:avLst/>
          </a:prstGeom>
          <a:solidFill>
            <a:srgbClr val="1E2761"/>
          </a:solidFill>
          <a:ln/>
        </p:spPr>
      </p:sp>
      <p:sp>
        <p:nvSpPr>
          <p:cNvPr id="31" name="Text 29"/>
          <p:cNvSpPr/>
          <p:nvPr/>
        </p:nvSpPr>
        <p:spPr>
          <a:xfrm>
            <a:off x="566928" y="4334256"/>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2" name="Text 30"/>
          <p:cNvSpPr/>
          <p:nvPr/>
        </p:nvSpPr>
        <p:spPr>
          <a:xfrm>
            <a:off x="1051560" y="4251960"/>
            <a:ext cx="4754880" cy="530352"/>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Test-Time Scaling — </a:t>
            </a:r>
            <a:pPr indent="0" marL="0">
              <a:buNone/>
            </a:pPr>
            <a:r>
              <a:rPr lang="en-US" sz="1050" dirty="0">
                <a:solidFill>
                  <a:srgbClr val="0A0A0A"/>
                </a:solidFill>
                <a:latin typeface="Calibri" pitchFamily="34" charset="0"/>
                <a:ea typeface="Calibri" pitchFamily="34" charset="-122"/>
                <a:cs typeface="Calibri" pitchFamily="34" charset="-120"/>
              </a:rPr>
              <a:t>Systematically trading inference compute for accuracy on demand</a:t>
            </a:r>
            <a:endParaRPr lang="en-US" sz="1050" dirty="0"/>
          </a:p>
        </p:txBody>
      </p:sp>
      <p:sp>
        <p:nvSpPr>
          <p:cNvPr id="33" name="Text 31"/>
          <p:cNvSpPr/>
          <p:nvPr/>
        </p:nvSpPr>
        <p:spPr>
          <a:xfrm>
            <a:off x="457200" y="6080760"/>
            <a:ext cx="11247120" cy="411480"/>
          </a:xfrm>
          <a:prstGeom prst="rect">
            <a:avLst/>
          </a:prstGeom>
          <a:noFill/>
          <a:ln/>
        </p:spPr>
        <p:txBody>
          <a:bodyPr wrap="square" rtlCol="0" anchor="ctr"/>
          <a:lstStyle/>
          <a:p>
            <a:pPr indent="0" marL="0">
              <a:buNone/>
            </a:pPr>
            <a:r>
              <a:rPr lang="en-US" sz="1150" i="1" dirty="0">
                <a:solidFill>
                  <a:srgbClr val="1E2761"/>
                </a:solidFill>
                <a:latin typeface="Calibri" pitchFamily="34" charset="0"/>
                <a:ea typeface="Calibri" pitchFamily="34" charset="-122"/>
                <a:cs typeface="Calibri" pitchFamily="34" charset="-120"/>
              </a:rPr>
              <a:t>Thesis: as verifiable-reward RL (GRPO-style) and test-time compute mature, future gains may come more from 'thinking longer and smarter' than from adding parameters.</a:t>
            </a:r>
            <a:endParaRPr lang="en-US" sz="1150" dirty="0"/>
          </a:p>
        </p:txBody>
      </p:sp>
      <p:sp>
        <p:nvSpPr>
          <p:cNvPr id="25" name="Slide Number Placeholder 0"/>
          <p:cNvSpPr>
            <a:spLocks noGrp="1"/>
          </p:cNvSpPr>
          <p:nvPr>
            <p:ph type="sldNum" sz="quarter" idx="4294967295"/>
          </p:nvPr>
        </p:nvSpPr>
        <p:spPr>
          <a:xfrm>
            <a:off x="1154887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26317A"/>
          </a:solidFill>
          <a:ln/>
        </p:spPr>
      </p:sp>
      <p:sp>
        <p:nvSpPr>
          <p:cNvPr id="3" name="Text 1"/>
          <p:cNvSpPr/>
          <p:nvPr/>
        </p:nvSpPr>
        <p:spPr>
          <a:xfrm>
            <a:off x="640080" y="502920"/>
            <a:ext cx="5486400" cy="365760"/>
          </a:xfrm>
          <a:prstGeom prst="rect">
            <a:avLst/>
          </a:prstGeom>
          <a:noFill/>
          <a:ln/>
        </p:spPr>
        <p:txBody>
          <a:bodyPr wrap="square"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640080" y="914400"/>
            <a:ext cx="1078992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Training Is the Other Half of the Model</a:t>
            </a:r>
            <a:endParaRPr lang="en-US" sz="2800" dirty="0"/>
          </a:p>
        </p:txBody>
      </p:sp>
      <p:sp>
        <p:nvSpPr>
          <p:cNvPr id="5" name="Shape 3"/>
          <p:cNvSpPr/>
          <p:nvPr/>
        </p:nvSpPr>
        <p:spPr>
          <a:xfrm>
            <a:off x="640080" y="1828800"/>
            <a:ext cx="384048" cy="384048"/>
          </a:xfrm>
          <a:prstGeom prst="ellipse">
            <a:avLst/>
          </a:prstGeom>
          <a:solidFill>
            <a:srgbClr val="CADCFC"/>
          </a:solidFill>
          <a:ln/>
        </p:spPr>
      </p:sp>
      <p:sp>
        <p:nvSpPr>
          <p:cNvPr id="6" name="Text 4"/>
          <p:cNvSpPr/>
          <p:nvPr/>
        </p:nvSpPr>
        <p:spPr>
          <a:xfrm>
            <a:off x="640080" y="1828800"/>
            <a:ext cx="384048" cy="384048"/>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34440" y="1755648"/>
            <a:ext cx="6035040" cy="777240"/>
          </a:xfrm>
          <a:prstGeom prst="rect">
            <a:avLst/>
          </a:prstGeom>
          <a:noFill/>
          <a:ln/>
        </p:spPr>
        <p:txBody>
          <a:bodyPr wrap="square" rtlCol="0" anchor="t"/>
          <a:lstStyle/>
          <a:p>
            <a:pPr indent="0" marL="0">
              <a:buNone/>
            </a:pPr>
            <a:r>
              <a:rPr lang="en-US" sz="1250" dirty="0">
                <a:solidFill>
                  <a:srgbClr val="FFFFFF"/>
                </a:solidFill>
                <a:latin typeface="Calibri" pitchFamily="34" charset="0"/>
                <a:ea typeface="Calibri" pitchFamily="34" charset="-122"/>
                <a:cs typeface="Calibri" pitchFamily="34" charset="-120"/>
              </a:rPr>
              <a:t>Training is as important as architecture — identical Transformers diverge sharply after different training recipes.</a:t>
            </a:r>
            <a:endParaRPr lang="en-US" sz="1250" dirty="0"/>
          </a:p>
        </p:txBody>
      </p:sp>
      <p:sp>
        <p:nvSpPr>
          <p:cNvPr id="8" name="Shape 6"/>
          <p:cNvSpPr/>
          <p:nvPr/>
        </p:nvSpPr>
        <p:spPr>
          <a:xfrm>
            <a:off x="640080" y="2724912"/>
            <a:ext cx="384048" cy="384048"/>
          </a:xfrm>
          <a:prstGeom prst="ellipse">
            <a:avLst/>
          </a:prstGeom>
          <a:solidFill>
            <a:srgbClr val="CADCFC"/>
          </a:solidFill>
          <a:ln/>
        </p:spPr>
      </p:sp>
      <p:sp>
        <p:nvSpPr>
          <p:cNvPr id="9" name="Text 7"/>
          <p:cNvSpPr/>
          <p:nvPr/>
        </p:nvSpPr>
        <p:spPr>
          <a:xfrm>
            <a:off x="640080" y="2724912"/>
            <a:ext cx="384048" cy="384048"/>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234440" y="2651760"/>
            <a:ext cx="6035040" cy="777240"/>
          </a:xfrm>
          <a:prstGeom prst="rect">
            <a:avLst/>
          </a:prstGeom>
          <a:noFill/>
          <a:ln/>
        </p:spPr>
        <p:txBody>
          <a:bodyPr wrap="square" rtlCol="0" anchor="t"/>
          <a:lstStyle/>
          <a:p>
            <a:pPr indent="0" marL="0">
              <a:buNone/>
            </a:pPr>
            <a:r>
              <a:rPr lang="en-US" sz="1250" dirty="0">
                <a:solidFill>
                  <a:srgbClr val="FFFFFF"/>
                </a:solidFill>
                <a:latin typeface="Calibri" pitchFamily="34" charset="0"/>
                <a:ea typeface="Calibri" pitchFamily="34" charset="-122"/>
                <a:cs typeface="Calibri" pitchFamily="34" charset="-120"/>
              </a:rPr>
              <a:t>Better data often beats larger models — curation, mixture, and synthetic augmentation punch above their weight.</a:t>
            </a:r>
            <a:endParaRPr lang="en-US" sz="1250" dirty="0"/>
          </a:p>
        </p:txBody>
      </p:sp>
      <p:sp>
        <p:nvSpPr>
          <p:cNvPr id="11" name="Shape 9"/>
          <p:cNvSpPr/>
          <p:nvPr/>
        </p:nvSpPr>
        <p:spPr>
          <a:xfrm>
            <a:off x="640080" y="3621024"/>
            <a:ext cx="384048" cy="384048"/>
          </a:xfrm>
          <a:prstGeom prst="ellipse">
            <a:avLst/>
          </a:prstGeom>
          <a:solidFill>
            <a:srgbClr val="CADCFC"/>
          </a:solidFill>
          <a:ln/>
        </p:spPr>
      </p:sp>
      <p:sp>
        <p:nvSpPr>
          <p:cNvPr id="12" name="Text 10"/>
          <p:cNvSpPr/>
          <p:nvPr/>
        </p:nvSpPr>
        <p:spPr>
          <a:xfrm>
            <a:off x="640080" y="3621024"/>
            <a:ext cx="384048" cy="384048"/>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234440" y="3547872"/>
            <a:ext cx="6035040" cy="777240"/>
          </a:xfrm>
          <a:prstGeom prst="rect">
            <a:avLst/>
          </a:prstGeom>
          <a:noFill/>
          <a:ln/>
        </p:spPr>
        <p:txBody>
          <a:bodyPr wrap="square" rtlCol="0" anchor="t"/>
          <a:lstStyle/>
          <a:p>
            <a:pPr indent="0" marL="0">
              <a:buNone/>
            </a:pPr>
            <a:r>
              <a:rPr lang="en-US" sz="1250" dirty="0">
                <a:solidFill>
                  <a:srgbClr val="FFFFFF"/>
                </a:solidFill>
                <a:latin typeface="Calibri" pitchFamily="34" charset="0"/>
                <a:ea typeface="Calibri" pitchFamily="34" charset="-122"/>
                <a:cs typeface="Calibri" pitchFamily="34" charset="-120"/>
              </a:rPr>
              <a:t>Post-training enables instruction-following and reasoning — SFT and preference optimization turn a text-completer into an assistant.</a:t>
            </a:r>
            <a:endParaRPr lang="en-US" sz="1250" dirty="0"/>
          </a:p>
        </p:txBody>
      </p:sp>
      <p:sp>
        <p:nvSpPr>
          <p:cNvPr id="14" name="Shape 12"/>
          <p:cNvSpPr/>
          <p:nvPr/>
        </p:nvSpPr>
        <p:spPr>
          <a:xfrm>
            <a:off x="640080" y="4517136"/>
            <a:ext cx="384048" cy="384048"/>
          </a:xfrm>
          <a:prstGeom prst="ellipse">
            <a:avLst/>
          </a:prstGeom>
          <a:solidFill>
            <a:srgbClr val="CADCFC"/>
          </a:solidFill>
          <a:ln/>
        </p:spPr>
      </p:sp>
      <p:sp>
        <p:nvSpPr>
          <p:cNvPr id="15" name="Text 13"/>
          <p:cNvSpPr/>
          <p:nvPr/>
        </p:nvSpPr>
        <p:spPr>
          <a:xfrm>
            <a:off x="640080" y="4517136"/>
            <a:ext cx="384048" cy="384048"/>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4</a:t>
            </a:r>
            <a:endParaRPr lang="en-US" sz="1400" dirty="0"/>
          </a:p>
        </p:txBody>
      </p:sp>
      <p:sp>
        <p:nvSpPr>
          <p:cNvPr id="16" name="Text 14"/>
          <p:cNvSpPr/>
          <p:nvPr/>
        </p:nvSpPr>
        <p:spPr>
          <a:xfrm>
            <a:off x="1234440" y="4443984"/>
            <a:ext cx="6035040" cy="777240"/>
          </a:xfrm>
          <a:prstGeom prst="rect">
            <a:avLst/>
          </a:prstGeom>
          <a:noFill/>
          <a:ln/>
        </p:spPr>
        <p:txBody>
          <a:bodyPr wrap="square" rtlCol="0" anchor="t"/>
          <a:lstStyle/>
          <a:p>
            <a:pPr indent="0" marL="0">
              <a:buNone/>
            </a:pPr>
            <a:r>
              <a:rPr lang="en-US" sz="1250" dirty="0">
                <a:solidFill>
                  <a:srgbClr val="FFFFFF"/>
                </a:solidFill>
                <a:latin typeface="Calibri" pitchFamily="34" charset="0"/>
                <a:ea typeface="Calibri" pitchFamily="34" charset="-122"/>
                <a:cs typeface="Calibri" pitchFamily="34" charset="-120"/>
              </a:rPr>
              <a:t>Modern LLMs rely on multiple training stages — pretraining, SFT, preference optimization, and reasoning training compound together.</a:t>
            </a:r>
            <a:endParaRPr lang="en-US" sz="1250" dirty="0"/>
          </a:p>
        </p:txBody>
      </p:sp>
      <p:sp>
        <p:nvSpPr>
          <p:cNvPr id="17" name="Shape 15"/>
          <p:cNvSpPr/>
          <p:nvPr/>
        </p:nvSpPr>
        <p:spPr>
          <a:xfrm>
            <a:off x="7635240" y="1965960"/>
            <a:ext cx="1600200" cy="777240"/>
          </a:xfrm>
          <a:prstGeom prst="roundRect">
            <a:avLst>
              <a:gd name="adj" fmla="val 9412"/>
            </a:avLst>
          </a:prstGeom>
          <a:solidFill>
            <a:srgbClr val="334A9E"/>
          </a:solidFill>
          <a:ln/>
          <a:effectLst>
            <a:outerShdw sx="100000" sy="100000" kx="0" ky="0" algn="bl" rotWithShape="0" blurRad="76200" dist="25400" dir="5400000">
              <a:srgbClr val="1E2761">
                <a:alpha val="18000"/>
              </a:srgbClr>
            </a:outerShdw>
          </a:effectLst>
        </p:spPr>
      </p:sp>
      <p:sp>
        <p:nvSpPr>
          <p:cNvPr id="18" name="Text 16"/>
          <p:cNvSpPr/>
          <p:nvPr/>
        </p:nvSpPr>
        <p:spPr>
          <a:xfrm>
            <a:off x="7680960" y="1965960"/>
            <a:ext cx="150876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Pretraining</a:t>
            </a:r>
            <a:endParaRPr lang="en-US" sz="1000" dirty="0"/>
          </a:p>
        </p:txBody>
      </p:sp>
      <p:sp>
        <p:nvSpPr>
          <p:cNvPr id="19" name="Shape 17"/>
          <p:cNvSpPr/>
          <p:nvPr/>
        </p:nvSpPr>
        <p:spPr>
          <a:xfrm>
            <a:off x="7635240" y="2889504"/>
            <a:ext cx="1600200" cy="777240"/>
          </a:xfrm>
          <a:prstGeom prst="roundRect">
            <a:avLst>
              <a:gd name="adj" fmla="val 9412"/>
            </a:avLst>
          </a:prstGeom>
          <a:solidFill>
            <a:srgbClr val="334A9E"/>
          </a:solidFill>
          <a:ln/>
          <a:effectLst>
            <a:outerShdw sx="100000" sy="100000" kx="0" ky="0" algn="bl" rotWithShape="0" blurRad="76200" dist="25400" dir="5400000">
              <a:srgbClr val="1E2761">
                <a:alpha val="18000"/>
              </a:srgbClr>
            </a:outerShdw>
          </a:effectLst>
        </p:spPr>
      </p:sp>
      <p:sp>
        <p:nvSpPr>
          <p:cNvPr id="20" name="Text 18"/>
          <p:cNvSpPr/>
          <p:nvPr/>
        </p:nvSpPr>
        <p:spPr>
          <a:xfrm>
            <a:off x="7680960" y="2889504"/>
            <a:ext cx="150876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SFT</a:t>
            </a:r>
            <a:endParaRPr lang="en-US" sz="1000" dirty="0"/>
          </a:p>
        </p:txBody>
      </p:sp>
      <p:sp>
        <p:nvSpPr>
          <p:cNvPr id="21" name="Shape 19"/>
          <p:cNvSpPr/>
          <p:nvPr/>
        </p:nvSpPr>
        <p:spPr>
          <a:xfrm>
            <a:off x="7635240" y="3813048"/>
            <a:ext cx="1600200" cy="777240"/>
          </a:xfrm>
          <a:prstGeom prst="roundRect">
            <a:avLst>
              <a:gd name="adj" fmla="val 9412"/>
            </a:avLst>
          </a:prstGeom>
          <a:solidFill>
            <a:srgbClr val="334A9E"/>
          </a:solidFill>
          <a:ln/>
          <a:effectLst>
            <a:outerShdw sx="100000" sy="100000" kx="0" ky="0" algn="bl" rotWithShape="0" blurRad="76200" dist="25400" dir="5400000">
              <a:srgbClr val="1E2761">
                <a:alpha val="18000"/>
              </a:srgbClr>
            </a:outerShdw>
          </a:effectLst>
        </p:spPr>
      </p:sp>
      <p:sp>
        <p:nvSpPr>
          <p:cNvPr id="22" name="Text 20"/>
          <p:cNvSpPr/>
          <p:nvPr/>
        </p:nvSpPr>
        <p:spPr>
          <a:xfrm>
            <a:off x="7680960" y="3813048"/>
            <a:ext cx="150876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Preference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Optimization</a:t>
            </a:r>
            <a:endParaRPr lang="en-US" sz="1000" dirty="0"/>
          </a:p>
        </p:txBody>
      </p:sp>
      <p:sp>
        <p:nvSpPr>
          <p:cNvPr id="23" name="Shape 21"/>
          <p:cNvSpPr/>
          <p:nvPr/>
        </p:nvSpPr>
        <p:spPr>
          <a:xfrm>
            <a:off x="7635240" y="4736592"/>
            <a:ext cx="1600200" cy="777240"/>
          </a:xfrm>
          <a:prstGeom prst="roundRect">
            <a:avLst>
              <a:gd name="adj" fmla="val 9412"/>
            </a:avLst>
          </a:prstGeom>
          <a:solidFill>
            <a:srgbClr val="334A9E"/>
          </a:solidFill>
          <a:ln/>
          <a:effectLst>
            <a:outerShdw sx="100000" sy="100000" kx="0" ky="0" algn="bl" rotWithShape="0" blurRad="76200" dist="25400" dir="5400000">
              <a:srgbClr val="1E2761">
                <a:alpha val="18000"/>
              </a:srgbClr>
            </a:outerShdw>
          </a:effectLst>
        </p:spPr>
      </p:sp>
      <p:sp>
        <p:nvSpPr>
          <p:cNvPr id="24" name="Text 22"/>
          <p:cNvSpPr/>
          <p:nvPr/>
        </p:nvSpPr>
        <p:spPr>
          <a:xfrm>
            <a:off x="7680960" y="4736592"/>
            <a:ext cx="150876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Reasoning</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Training</a:t>
            </a:r>
            <a:endParaRPr lang="en-US" sz="1000" dirty="0"/>
          </a:p>
        </p:txBody>
      </p:sp>
      <p:sp>
        <p:nvSpPr>
          <p:cNvPr id="25" name="Shape 23"/>
          <p:cNvSpPr/>
          <p:nvPr/>
        </p:nvSpPr>
        <p:spPr>
          <a:xfrm>
            <a:off x="7635240" y="5660136"/>
            <a:ext cx="1600200" cy="777240"/>
          </a:xfrm>
          <a:prstGeom prst="roundRect">
            <a:avLst>
              <a:gd name="adj" fmla="val 9412"/>
            </a:avLst>
          </a:prstGeom>
          <a:solidFill>
            <a:srgbClr val="3D5AFE"/>
          </a:solidFill>
          <a:ln/>
          <a:effectLst>
            <a:outerShdw sx="100000" sy="100000" kx="0" ky="0" algn="bl" rotWithShape="0" blurRad="76200" dist="25400" dir="5400000">
              <a:srgbClr val="1E2761">
                <a:alpha val="18000"/>
              </a:srgbClr>
            </a:outerShdw>
          </a:effectLst>
        </p:spPr>
      </p:sp>
      <p:sp>
        <p:nvSpPr>
          <p:cNvPr id="26" name="Text 24"/>
          <p:cNvSpPr/>
          <p:nvPr/>
        </p:nvSpPr>
        <p:spPr>
          <a:xfrm>
            <a:off x="7680960" y="5660136"/>
            <a:ext cx="150876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Deployed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Assistant</a:t>
            </a:r>
            <a:endParaRPr lang="en-US" sz="1000" dirty="0"/>
          </a:p>
        </p:txBody>
      </p:sp>
      <p:sp>
        <p:nvSpPr>
          <p:cNvPr id="27" name="Text 25"/>
          <p:cNvSpPr/>
          <p:nvPr/>
        </p:nvSpPr>
        <p:spPr>
          <a:xfrm>
            <a:off x="7635240" y="6629400"/>
            <a:ext cx="3931920" cy="274320"/>
          </a:xfrm>
          <a:prstGeom prst="rect">
            <a:avLst/>
          </a:prstGeom>
          <a:noFill/>
          <a:ln/>
        </p:spPr>
        <p:txBody>
          <a:bodyPr wrap="square" rtlCol="0" anchor="ctr"/>
          <a:lstStyle/>
          <a:p>
            <a:pPr algn="ctr" indent="0" marL="0">
              <a:buNone/>
            </a:pPr>
            <a:r>
              <a:rPr lang="en-US" sz="950" i="1" dirty="0">
                <a:solidFill>
                  <a:srgbClr val="CADCFC"/>
                </a:solidFill>
                <a:latin typeface="Calibri" pitchFamily="34" charset="0"/>
                <a:ea typeface="Calibri" pitchFamily="34" charset="-122"/>
                <a:cs typeface="Calibri" pitchFamily="34" charset="-120"/>
              </a:rPr>
              <a:t>Figure: Compounding training stages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84048"/>
            <a:ext cx="5486400" cy="274320"/>
          </a:xfrm>
          <a:prstGeom prst="rect">
            <a:avLst/>
          </a:prstGeom>
          <a:noFill/>
          <a:ln/>
        </p:spPr>
        <p:txBody>
          <a:bodyPr wrap="square" rtlCol="0" anchor="ctr"/>
          <a:lstStyle/>
          <a:p>
            <a:pPr indent="0" marL="0">
              <a:buNone/>
            </a:pPr>
            <a:r>
              <a:rPr lang="en-US" sz="1100" b="1" spc="200" kern="0" dirty="0">
                <a:solidFill>
                  <a:srgbClr val="3D5AFE"/>
                </a:solidFill>
                <a:latin typeface="Calibri" pitchFamily="34" charset="0"/>
                <a:ea typeface="Calibri" pitchFamily="34" charset="-122"/>
                <a:cs typeface="Calibri" pitchFamily="34" charset="-120"/>
              </a:rPr>
              <a:t>REFERENCES</a:t>
            </a:r>
            <a:endParaRPr lang="en-US" sz="1100" dirty="0"/>
          </a:p>
        </p:txBody>
      </p:sp>
      <p:sp>
        <p:nvSpPr>
          <p:cNvPr id="3" name="Text 1"/>
          <p:cNvSpPr/>
          <p:nvPr/>
        </p:nvSpPr>
        <p:spPr>
          <a:xfrm>
            <a:off x="457200" y="594360"/>
            <a:ext cx="11247120" cy="64008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Research Papers</a:t>
            </a:r>
            <a:endParaRPr lang="en-US" sz="3000" dirty="0"/>
          </a:p>
        </p:txBody>
      </p:sp>
      <p:sp>
        <p:nvSpPr>
          <p:cNvPr id="4" name="Text 2"/>
          <p:cNvSpPr/>
          <p:nvPr/>
        </p:nvSpPr>
        <p:spPr>
          <a:xfrm>
            <a:off x="457200" y="1737360"/>
            <a:ext cx="11247120" cy="365760"/>
          </a:xfrm>
          <a:prstGeom prst="rect">
            <a:avLst/>
          </a:prstGeom>
          <a:noFill/>
          <a:ln/>
        </p:spPr>
        <p:txBody>
          <a:bodyPr wrap="square" rtlCol="0" anchor="t"/>
          <a:lstStyle/>
          <a:p>
            <a:pPr indent="0" marL="0">
              <a:buNone/>
            </a:pPr>
            <a:r>
              <a:rPr lang="en-US" sz="1030" dirty="0">
                <a:solidFill>
                  <a:srgbClr val="0A0A0A"/>
                </a:solidFill>
                <a:latin typeface="Calibri" pitchFamily="34" charset="0"/>
                <a:ea typeface="Calibri" pitchFamily="34" charset="-122"/>
                <a:cs typeface="Calibri" pitchFamily="34" charset="-120"/>
              </a:rPr>
              <a:t>[1] A. Radford et al., "Improving Language Understanding by Generative Pre-Training," OpenAI, 2018. Available: </a:t>
            </a:r>
            <a:pPr indent="0" marL="0">
              <a:buNone/>
            </a:pPr>
            <a:r>
              <a:rPr lang="en-US" sz="1030" u="sng" dirty="0">
                <a:solidFill>
                  <a:srgbClr val="3D5AF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https://cdn.openai.com/research-covers/language-unsupervised/language_understanding_paper.pdf</a:t>
            </a:r>
            <a:pPr indent="0" marL="0">
              <a:buNone/>
            </a:pPr>
            <a:endParaRPr lang="en-US" sz="1030" dirty="0"/>
          </a:p>
        </p:txBody>
      </p:sp>
      <p:sp>
        <p:nvSpPr>
          <p:cNvPr id="5" name="Text 3"/>
          <p:cNvSpPr/>
          <p:nvPr/>
        </p:nvSpPr>
        <p:spPr>
          <a:xfrm>
            <a:off x="457200" y="2116836"/>
            <a:ext cx="11247120" cy="365760"/>
          </a:xfrm>
          <a:prstGeom prst="rect">
            <a:avLst/>
          </a:prstGeom>
          <a:noFill/>
          <a:ln/>
        </p:spPr>
        <p:txBody>
          <a:bodyPr wrap="square" rtlCol="0" anchor="t"/>
          <a:lstStyle/>
          <a:p>
            <a:pPr indent="0" marL="0">
              <a:buNone/>
            </a:pPr>
            <a:r>
              <a:rPr lang="en-US" sz="1030" dirty="0">
                <a:solidFill>
                  <a:srgbClr val="0A0A0A"/>
                </a:solidFill>
                <a:latin typeface="Calibri" pitchFamily="34" charset="0"/>
                <a:ea typeface="Calibri" pitchFamily="34" charset="-122"/>
                <a:cs typeface="Calibri" pitchFamily="34" charset="-120"/>
              </a:rPr>
              <a:t>[2] T. Brown et al., "Language Models are Few-Shot Learners," arXiv:2005.14165, 2020.</a:t>
            </a:r>
            <a:endParaRPr lang="en-US" sz="1030" dirty="0"/>
          </a:p>
        </p:txBody>
      </p:sp>
      <p:sp>
        <p:nvSpPr>
          <p:cNvPr id="6" name="Text 4"/>
          <p:cNvSpPr/>
          <p:nvPr/>
        </p:nvSpPr>
        <p:spPr>
          <a:xfrm>
            <a:off x="457200" y="2496312"/>
            <a:ext cx="11247120" cy="365760"/>
          </a:xfrm>
          <a:prstGeom prst="rect">
            <a:avLst/>
          </a:prstGeom>
          <a:noFill/>
          <a:ln/>
        </p:spPr>
        <p:txBody>
          <a:bodyPr wrap="square" rtlCol="0" anchor="t"/>
          <a:lstStyle/>
          <a:p>
            <a:pPr indent="0" marL="0">
              <a:buNone/>
            </a:pPr>
            <a:r>
              <a:rPr lang="en-US" sz="1030" dirty="0">
                <a:solidFill>
                  <a:srgbClr val="0A0A0A"/>
                </a:solidFill>
                <a:latin typeface="Calibri" pitchFamily="34" charset="0"/>
                <a:ea typeface="Calibri" pitchFamily="34" charset="-122"/>
                <a:cs typeface="Calibri" pitchFamily="34" charset="-120"/>
              </a:rPr>
              <a:t>[3] J. Wei et al., "Finetuned Language Models Are Zero-Shot Learners (FLAN)," arXiv:2109.01652, 2021.</a:t>
            </a:r>
            <a:endParaRPr lang="en-US" sz="1030" dirty="0"/>
          </a:p>
        </p:txBody>
      </p:sp>
      <p:sp>
        <p:nvSpPr>
          <p:cNvPr id="7" name="Text 5"/>
          <p:cNvSpPr/>
          <p:nvPr/>
        </p:nvSpPr>
        <p:spPr>
          <a:xfrm>
            <a:off x="457200" y="2875788"/>
            <a:ext cx="11247120" cy="365760"/>
          </a:xfrm>
          <a:prstGeom prst="rect">
            <a:avLst/>
          </a:prstGeom>
          <a:noFill/>
          <a:ln/>
        </p:spPr>
        <p:txBody>
          <a:bodyPr wrap="square" rtlCol="0" anchor="t"/>
          <a:lstStyle/>
          <a:p>
            <a:pPr indent="0" marL="0">
              <a:buNone/>
            </a:pPr>
            <a:r>
              <a:rPr lang="en-US" sz="1030" dirty="0">
                <a:solidFill>
                  <a:srgbClr val="0A0A0A"/>
                </a:solidFill>
                <a:latin typeface="Calibri" pitchFamily="34" charset="0"/>
                <a:ea typeface="Calibri" pitchFamily="34" charset="-122"/>
                <a:cs typeface="Calibri" pitchFamily="34" charset="-120"/>
              </a:rPr>
              <a:t>[4] Y. Wang et al., "Self-Instruct: Aligning Language Models with Self-Generated Instructions," arXiv:2212.10560, 2022.</a:t>
            </a:r>
            <a:endParaRPr lang="en-US" sz="1030" dirty="0"/>
          </a:p>
        </p:txBody>
      </p:sp>
      <p:sp>
        <p:nvSpPr>
          <p:cNvPr id="8" name="Text 6"/>
          <p:cNvSpPr/>
          <p:nvPr/>
        </p:nvSpPr>
        <p:spPr>
          <a:xfrm>
            <a:off x="457200" y="3255264"/>
            <a:ext cx="11247120" cy="365760"/>
          </a:xfrm>
          <a:prstGeom prst="rect">
            <a:avLst/>
          </a:prstGeom>
          <a:noFill/>
          <a:ln/>
        </p:spPr>
        <p:txBody>
          <a:bodyPr wrap="square" rtlCol="0" anchor="t"/>
          <a:lstStyle/>
          <a:p>
            <a:pPr indent="0" marL="0">
              <a:buNone/>
            </a:pPr>
            <a:r>
              <a:rPr lang="en-US" sz="1030" dirty="0">
                <a:solidFill>
                  <a:srgbClr val="0A0A0A"/>
                </a:solidFill>
                <a:latin typeface="Calibri" pitchFamily="34" charset="0"/>
                <a:ea typeface="Calibri" pitchFamily="34" charset="-122"/>
                <a:cs typeface="Calibri" pitchFamily="34" charset="-120"/>
              </a:rPr>
              <a:t>[5] L. Ouyang et al., "Training Language Models to Follow Instructions with Human Feedback," arXiv:2203.02155, 2022.</a:t>
            </a:r>
            <a:endParaRPr lang="en-US" sz="1030" dirty="0"/>
          </a:p>
        </p:txBody>
      </p:sp>
      <p:sp>
        <p:nvSpPr>
          <p:cNvPr id="9" name="Text 7"/>
          <p:cNvSpPr/>
          <p:nvPr/>
        </p:nvSpPr>
        <p:spPr>
          <a:xfrm>
            <a:off x="457200" y="3634740"/>
            <a:ext cx="11247120" cy="365760"/>
          </a:xfrm>
          <a:prstGeom prst="rect">
            <a:avLst/>
          </a:prstGeom>
          <a:noFill/>
          <a:ln/>
        </p:spPr>
        <p:txBody>
          <a:bodyPr wrap="square" rtlCol="0" anchor="t"/>
          <a:lstStyle/>
          <a:p>
            <a:pPr indent="0" marL="0">
              <a:buNone/>
            </a:pPr>
            <a:r>
              <a:rPr lang="en-US" sz="1030" dirty="0">
                <a:solidFill>
                  <a:srgbClr val="0A0A0A"/>
                </a:solidFill>
                <a:latin typeface="Calibri" pitchFamily="34" charset="0"/>
                <a:ea typeface="Calibri" pitchFamily="34" charset="-122"/>
                <a:cs typeface="Calibri" pitchFamily="34" charset="-120"/>
              </a:rPr>
              <a:t>[6] R. Rafailov et al., "Direct Preference Optimization," arXiv:2305.18290, 2023.</a:t>
            </a:r>
            <a:endParaRPr lang="en-US" sz="1030" dirty="0"/>
          </a:p>
        </p:txBody>
      </p:sp>
      <p:sp>
        <p:nvSpPr>
          <p:cNvPr id="10" name="Text 8"/>
          <p:cNvSpPr/>
          <p:nvPr/>
        </p:nvSpPr>
        <p:spPr>
          <a:xfrm>
            <a:off x="457200" y="4014216"/>
            <a:ext cx="11247120" cy="365760"/>
          </a:xfrm>
          <a:prstGeom prst="rect">
            <a:avLst/>
          </a:prstGeom>
          <a:noFill/>
          <a:ln/>
        </p:spPr>
        <p:txBody>
          <a:bodyPr wrap="square" rtlCol="0" anchor="t"/>
          <a:lstStyle/>
          <a:p>
            <a:pPr indent="0" marL="0">
              <a:buNone/>
            </a:pPr>
            <a:r>
              <a:rPr lang="en-US" sz="1030" dirty="0">
                <a:solidFill>
                  <a:srgbClr val="0A0A0A"/>
                </a:solidFill>
                <a:latin typeface="Calibri" pitchFamily="34" charset="0"/>
                <a:ea typeface="Calibri" pitchFamily="34" charset="-122"/>
                <a:cs typeface="Calibri" pitchFamily="34" charset="-120"/>
              </a:rPr>
              <a:t>[7] J. Hong et al., "ORPO: Monolithic Preference Optimization without Reference Model," arXiv:2403.07691, 2024.</a:t>
            </a:r>
            <a:endParaRPr lang="en-US" sz="1030" dirty="0"/>
          </a:p>
        </p:txBody>
      </p:sp>
      <p:sp>
        <p:nvSpPr>
          <p:cNvPr id="11" name="Text 9"/>
          <p:cNvSpPr/>
          <p:nvPr/>
        </p:nvSpPr>
        <p:spPr>
          <a:xfrm>
            <a:off x="457200" y="4393692"/>
            <a:ext cx="11247120" cy="365760"/>
          </a:xfrm>
          <a:prstGeom prst="rect">
            <a:avLst/>
          </a:prstGeom>
          <a:noFill/>
          <a:ln/>
        </p:spPr>
        <p:txBody>
          <a:bodyPr wrap="square" rtlCol="0" anchor="t"/>
          <a:lstStyle/>
          <a:p>
            <a:pPr indent="0" marL="0">
              <a:buNone/>
            </a:pPr>
            <a:r>
              <a:rPr lang="en-US" sz="1030" dirty="0">
                <a:solidFill>
                  <a:srgbClr val="0A0A0A"/>
                </a:solidFill>
                <a:latin typeface="Calibri" pitchFamily="34" charset="0"/>
                <a:ea typeface="Calibri" pitchFamily="34" charset="-122"/>
                <a:cs typeface="Calibri" pitchFamily="34" charset="-120"/>
              </a:rPr>
              <a:t>[8] Z. Shao et al., "DeepSeekMath: Pushing the Limits of Mathematical Reasoning," arXiv:2402.03300, 2024.</a:t>
            </a:r>
            <a:endParaRPr lang="en-US" sz="1030" dirty="0"/>
          </a:p>
        </p:txBody>
      </p:sp>
      <p:sp>
        <p:nvSpPr>
          <p:cNvPr id="12" name="Text 10"/>
          <p:cNvSpPr/>
          <p:nvPr/>
        </p:nvSpPr>
        <p:spPr>
          <a:xfrm>
            <a:off x="457200" y="4773168"/>
            <a:ext cx="11247120" cy="365760"/>
          </a:xfrm>
          <a:prstGeom prst="rect">
            <a:avLst/>
          </a:prstGeom>
          <a:noFill/>
          <a:ln/>
        </p:spPr>
        <p:txBody>
          <a:bodyPr wrap="square" rtlCol="0" anchor="t"/>
          <a:lstStyle/>
          <a:p>
            <a:pPr indent="0" marL="0">
              <a:buNone/>
            </a:pPr>
            <a:r>
              <a:rPr lang="en-US" sz="1030" dirty="0">
                <a:solidFill>
                  <a:srgbClr val="0A0A0A"/>
                </a:solidFill>
                <a:latin typeface="Calibri" pitchFamily="34" charset="0"/>
                <a:ea typeface="Calibri" pitchFamily="34" charset="-122"/>
                <a:cs typeface="Calibri" pitchFamily="34" charset="-120"/>
              </a:rPr>
              <a:t>[9] DeepSeek-AI, "DeepSeek-R1: Incentivizing Reasoning Capability via Reinforcement Learning," arXiv:2501.12948, 2025.</a:t>
            </a:r>
            <a:endParaRPr lang="en-US" sz="1030" dirty="0"/>
          </a:p>
        </p:txBody>
      </p:sp>
      <p:sp>
        <p:nvSpPr>
          <p:cNvPr id="13" name="Text 11"/>
          <p:cNvSpPr/>
          <p:nvPr/>
        </p:nvSpPr>
        <p:spPr>
          <a:xfrm>
            <a:off x="457200" y="5152644"/>
            <a:ext cx="11247120" cy="365760"/>
          </a:xfrm>
          <a:prstGeom prst="rect">
            <a:avLst/>
          </a:prstGeom>
          <a:noFill/>
          <a:ln/>
        </p:spPr>
        <p:txBody>
          <a:bodyPr wrap="square" rtlCol="0" anchor="t"/>
          <a:lstStyle/>
          <a:p>
            <a:pPr indent="0" marL="0">
              <a:buNone/>
            </a:pPr>
            <a:r>
              <a:rPr lang="en-US" sz="1030" dirty="0">
                <a:solidFill>
                  <a:srgbClr val="0A0A0A"/>
                </a:solidFill>
                <a:latin typeface="Calibri" pitchFamily="34" charset="0"/>
                <a:ea typeface="Calibri" pitchFamily="34" charset="-122"/>
                <a:cs typeface="Calibri" pitchFamily="34" charset="-120"/>
              </a:rPr>
              <a:t>[10] DeepSeek-AI, "DeepSeek-V3 Technical Report," arXiv:2412.19437, 2024.</a:t>
            </a:r>
            <a:endParaRPr lang="en-US" sz="1030" dirty="0"/>
          </a:p>
        </p:txBody>
      </p:sp>
      <p:sp>
        <p:nvSpPr>
          <p:cNvPr id="14" name="Text 12"/>
          <p:cNvSpPr/>
          <p:nvPr/>
        </p:nvSpPr>
        <p:spPr>
          <a:xfrm>
            <a:off x="457200" y="5532120"/>
            <a:ext cx="11247120" cy="365760"/>
          </a:xfrm>
          <a:prstGeom prst="rect">
            <a:avLst/>
          </a:prstGeom>
          <a:noFill/>
          <a:ln/>
        </p:spPr>
        <p:txBody>
          <a:bodyPr wrap="square" rtlCol="0" anchor="t"/>
          <a:lstStyle/>
          <a:p>
            <a:pPr indent="0" marL="0">
              <a:buNone/>
            </a:pPr>
            <a:r>
              <a:rPr lang="en-US" sz="1030" dirty="0">
                <a:solidFill>
                  <a:srgbClr val="0A0A0A"/>
                </a:solidFill>
                <a:latin typeface="Calibri" pitchFamily="34" charset="0"/>
                <a:ea typeface="Calibri" pitchFamily="34" charset="-122"/>
                <a:cs typeface="Calibri" pitchFamily="34" charset="-120"/>
              </a:rPr>
              <a:t>[11] A. Grattafiori et al., "The Llama 3 Herd of Models," arXiv:2407.21783, 2024.</a:t>
            </a:r>
            <a:endParaRPr lang="en-US" sz="1030" dirty="0"/>
          </a:p>
        </p:txBody>
      </p:sp>
      <p:sp>
        <p:nvSpPr>
          <p:cNvPr id="15" name="Text 13"/>
          <p:cNvSpPr/>
          <p:nvPr/>
        </p:nvSpPr>
        <p:spPr>
          <a:xfrm>
            <a:off x="457200" y="5911596"/>
            <a:ext cx="11247120" cy="365760"/>
          </a:xfrm>
          <a:prstGeom prst="rect">
            <a:avLst/>
          </a:prstGeom>
          <a:noFill/>
          <a:ln/>
        </p:spPr>
        <p:txBody>
          <a:bodyPr wrap="square" rtlCol="0" anchor="t"/>
          <a:lstStyle/>
          <a:p>
            <a:pPr indent="0" marL="0">
              <a:buNone/>
            </a:pPr>
            <a:r>
              <a:rPr lang="en-US" sz="1030" dirty="0">
                <a:solidFill>
                  <a:srgbClr val="0A0A0A"/>
                </a:solidFill>
                <a:latin typeface="Calibri" pitchFamily="34" charset="0"/>
                <a:ea typeface="Calibri" pitchFamily="34" charset="-122"/>
                <a:cs typeface="Calibri" pitchFamily="34" charset="-120"/>
              </a:rPr>
              <a:t>[12] A. Yang et al., "Qwen2 Technical Report," arXiv:2407.10671, 2024.</a:t>
            </a:r>
            <a:endParaRPr lang="en-US" sz="1030" dirty="0"/>
          </a:p>
        </p:txBody>
      </p:sp>
      <p:sp>
        <p:nvSpPr>
          <p:cNvPr id="25" name="Slide Number Placeholder 0"/>
          <p:cNvSpPr>
            <a:spLocks noGrp="1"/>
          </p:cNvSpPr>
          <p:nvPr>
            <p:ph type="sldNum" sz="quarter" idx="4294967295"/>
          </p:nvPr>
        </p:nvSpPr>
        <p:spPr>
          <a:xfrm>
            <a:off x="11548872"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5A5A5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046720" y="2926080"/>
            <a:ext cx="6400800" cy="6400800"/>
          </a:xfrm>
          <a:prstGeom prst="ellipse">
            <a:avLst/>
          </a:prstGeom>
          <a:solidFill>
            <a:srgbClr val="26317A"/>
          </a:solidFill>
          <a:ln/>
        </p:spPr>
      </p:sp>
      <p:sp>
        <p:nvSpPr>
          <p:cNvPr id="3" name="Shape 1"/>
          <p:cNvSpPr/>
          <p:nvPr/>
        </p:nvSpPr>
        <p:spPr>
          <a:xfrm>
            <a:off x="-2743200" y="-2743200"/>
            <a:ext cx="4572000" cy="4572000"/>
          </a:xfrm>
          <a:prstGeom prst="ellipse">
            <a:avLst/>
          </a:prstGeom>
          <a:solidFill>
            <a:srgbClr val="182052"/>
          </a:solidFill>
          <a:ln/>
        </p:spPr>
      </p:sp>
      <p:sp>
        <p:nvSpPr>
          <p:cNvPr id="4" name="Text 2"/>
          <p:cNvSpPr/>
          <p:nvPr/>
        </p:nvSpPr>
        <p:spPr>
          <a:xfrm>
            <a:off x="731520" y="2468880"/>
            <a:ext cx="10698480" cy="100584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p:nvPr/>
        </p:nvSpPr>
        <p:spPr>
          <a:xfrm>
            <a:off x="731520" y="3429000"/>
            <a:ext cx="10698480" cy="548640"/>
          </a:xfrm>
          <a:prstGeom prst="rect">
            <a:avLst/>
          </a:prstGeom>
          <a:noFill/>
          <a:ln/>
        </p:spPr>
        <p:txBody>
          <a:bodyPr wrap="square"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Questions &amp; Discussion</a:t>
            </a:r>
            <a:endParaRPr lang="en-US" sz="1800" dirty="0"/>
          </a:p>
        </p:txBody>
      </p:sp>
      <p:sp>
        <p:nvSpPr>
          <p:cNvPr id="6" name="Shape 4"/>
          <p:cNvSpPr/>
          <p:nvPr/>
        </p:nvSpPr>
        <p:spPr>
          <a:xfrm>
            <a:off x="731520" y="4206240"/>
            <a:ext cx="2377440" cy="18288"/>
          </a:xfrm>
          <a:prstGeom prst="rect">
            <a:avLst/>
          </a:prstGeom>
          <a:solidFill>
            <a:srgbClr val="3D5AFE"/>
          </a:solidFill>
          <a:ln/>
        </p:spPr>
      </p:sp>
      <p:sp>
        <p:nvSpPr>
          <p:cNvPr id="7" name="Text 5"/>
          <p:cNvSpPr/>
          <p:nvPr/>
        </p:nvSpPr>
        <p:spPr>
          <a:xfrm>
            <a:off x="731520" y="4389120"/>
            <a:ext cx="5943600" cy="1005840"/>
          </a:xfrm>
          <a:prstGeom prst="rect">
            <a:avLst/>
          </a:prstGeom>
          <a:noFill/>
          <a:ln/>
        </p:spPr>
        <p:txBody>
          <a:bodyPr wrap="square" rtlCol="0" anchor="ctr"/>
          <a:lstStyle/>
          <a:p>
            <a:pPr indent="0" marL="0">
              <a:lnSpc>
                <a:spcPct val="130000"/>
              </a:lnSpc>
              <a:buNone/>
            </a:pPr>
            <a:r>
              <a:rPr lang="en-US" sz="1300" b="1" dirty="0">
                <a:solidFill>
                  <a:srgbClr val="FFFFFF"/>
                </a:solidFill>
                <a:latin typeface="Calibri" pitchFamily="34" charset="0"/>
                <a:ea typeface="Calibri" pitchFamily="34" charset="-122"/>
                <a:cs typeface="Calibri" pitchFamily="34" charset="-120"/>
              </a:rPr>
              <a:t>Rohit Swami   </a:t>
            </a:r>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124A8113
</a:t>
            </a:r>
            <a:pPr indent="0" marL="0">
              <a:lnSpc>
                <a:spcPct val="130000"/>
              </a:lnSpc>
              <a:buNone/>
            </a:pPr>
            <a:r>
              <a:rPr lang="en-US" sz="1300" b="1" dirty="0">
                <a:solidFill>
                  <a:srgbClr val="FFFFFF"/>
                </a:solidFill>
                <a:latin typeface="Calibri" pitchFamily="34" charset="0"/>
                <a:ea typeface="Calibri" pitchFamily="34" charset="-122"/>
                <a:cs typeface="Calibri" pitchFamily="34" charset="-120"/>
              </a:rPr>
              <a:t>Namish Sharma   </a:t>
            </a:r>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124A8102
</a:t>
            </a:r>
            <a:pPr indent="0" marL="0">
              <a:lnSpc>
                <a:spcPct val="130000"/>
              </a:lnSpc>
              <a:buNone/>
            </a:pPr>
            <a:r>
              <a:rPr lang="en-US" sz="1300" b="1" dirty="0">
                <a:solidFill>
                  <a:srgbClr val="FFFFFF"/>
                </a:solidFill>
                <a:latin typeface="Calibri" pitchFamily="34" charset="0"/>
                <a:ea typeface="Calibri" pitchFamily="34" charset="-122"/>
                <a:cs typeface="Calibri" pitchFamily="34" charset="-120"/>
              </a:rPr>
              <a:t>Akhilesh Pottekat   </a:t>
            </a:r>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124A8087</a:t>
            </a:r>
            <a:endParaRPr lang="en-US" sz="1300" dirty="0"/>
          </a:p>
        </p:txBody>
      </p:sp>
      <p:sp>
        <p:nvSpPr>
          <p:cNvPr id="8" name="Text 6"/>
          <p:cNvSpPr/>
          <p:nvPr/>
        </p:nvSpPr>
        <p:spPr>
          <a:xfrm>
            <a:off x="731520" y="5577840"/>
            <a:ext cx="9144000" cy="36576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SIES Graduate School of Technology — Department of Artificial Intelligence &amp; Data Science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2026-07-12T18:34:15Z</dcterms:created>
  <dcterms:modified xsi:type="dcterms:W3CDTF">2026-07-12T18:34:15Z</dcterms:modified>
</cp:coreProperties>
</file>