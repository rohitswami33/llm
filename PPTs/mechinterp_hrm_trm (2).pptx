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ARC-AGI-1 accuracy (%)</c:v>
                </c:pt>
              </c:strCache>
            </c:strRef>
          </c:tx>
          <c:spPr>
            <a:solidFill>
              <a:srgbClr val="C7CEDB"/>
            </a:solidFill>
            <a:effectLst/>
          </c:spPr>
          <c:invertIfNegative val="0"/>
          <c:dLbls>
            <c:numFmt formatCode="#,##0" sourceLinked="0"/>
            <c:txPr>
              <a:bodyPr/>
              <a:lstStyle/>
              <a:p>
                <a:pPr>
                  <a:defRPr b="0" i="0" strike="noStrike" sz="1100" u="none">
                    <a:solidFill>
                      <a:srgbClr val="2A2E35"/>
                    </a:solidFill>
                    <a:latin typeface="Arial"/>
                  </a:defRPr>
                </a:pPr>
              </a:p>
            </c:txPr>
            <c:showLegendKey val="0"/>
            <c:showVal val="1"/>
            <c:showCatName val="0"/>
            <c:showSerName val="0"/>
            <c:showPercent val="0"/>
            <c:showBubbleSize val="0"/>
            <c:showLeaderLines val="0"/>
          </c:dLbls>
          <c:dPt>
            <c:idx val="0"/>
            <c:invertIfNegative val="0"/>
            <c:bubble3D val="0"/>
            <c:spPr>
              <a:solidFill>
                <a:srgbClr val="C7CEDB"/>
              </a:solidFill>
              <a:effectLst/>
            </c:spPr>
          </c:dPt>
          <c:dPt>
            <c:idx val="1"/>
            <c:invertIfNegative val="0"/>
            <c:bubble3D val="0"/>
            <c:spPr>
              <a:solidFill>
                <a:srgbClr val="C7CEDB"/>
              </a:solidFill>
              <a:effectLst/>
            </c:spPr>
          </c:dPt>
          <c:dPt>
            <c:idx val="2"/>
            <c:invertIfNegative val="0"/>
            <c:bubble3D val="0"/>
            <c:spPr>
              <a:solidFill>
                <a:srgbClr val="C7CEDB"/>
              </a:solidFill>
              <a:effectLst/>
            </c:spPr>
          </c:dPt>
          <c:dPt>
            <c:idx val="3"/>
            <c:invertIfNegative val="0"/>
            <c:bubble3D val="0"/>
            <c:spPr>
              <a:solidFill>
                <a:srgbClr val="2F6FED"/>
              </a:solidFill>
              <a:effectLst/>
            </c:spPr>
          </c:dPt>
          <c:dPt>
            <c:idx val="4"/>
            <c:invertIfNegative val="0"/>
            <c:bubble3D val="0"/>
            <c:spPr>
              <a:solidFill>
                <a:srgbClr val="1E9E7A"/>
              </a:solidFill>
              <a:effectLst/>
            </c:spPr>
          </c:dPt>
          <c:cat>
            <c:multiLvlStrRef>
              <c:f>Sheet1!$A$2:$A$6</c:f>
              <c:multiLvlStrCache>
                <c:ptCount val="5"/>
                <c:lvl>
                  <c:pt idx="0">
                    <c:v>DeepSeek R1
(671B)</c:v>
                  </c:pt>
                  <c:pt idx="1">
                    <c:v>o3-mini-high</c:v>
                  </c:pt>
                  <c:pt idx="2">
                    <c:v>Gemini 2.5 Pro</c:v>
                  </c:pt>
                  <c:pt idx="3">
                    <c:v>HRM
(27M)</c:v>
                  </c:pt>
                  <c:pt idx="4">
                    <c:v>TRM-Att
(7M)</c:v>
                  </c:pt>
                </c:lvl>
              </c:multiLvlStrCache>
            </c:multiLvlStrRef>
          </c:cat>
          <c:val>
            <c:numRef>
              <c:f>Sheet1!$B$2:$B$6</c:f>
              <c:numCache>
                <c:formatCode>General</c:formatCode>
                <c:ptCount val="5"/>
                <c:pt idx="0">
                  <c:v>15.8</c:v>
                </c:pt>
                <c:pt idx="1">
                  <c:v>34.5</c:v>
                </c:pt>
                <c:pt idx="2">
                  <c:v>37</c:v>
                </c:pt>
                <c:pt idx="3">
                  <c:v>40.3</c:v>
                </c:pt>
                <c:pt idx="4">
                  <c:v>44.6</c:v>
                </c:pt>
              </c:numCache>
            </c:numRef>
          </c:val>
        </c:ser>
        <c:dLbls>
          <c:numFmt formatCode="#,##0" sourceLinked="0"/>
          <c:txPr>
            <a:bodyPr/>
            <a:lstStyle/>
            <a:p>
              <a:pPr>
                <a:defRPr b="0" i="0" strike="noStrike" sz="1100" u="none">
                  <a:solidFill>
                    <a:srgbClr val="2A2E3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A6472"/>
                </a:solidFill>
                <a:latin typeface="Arial"/>
              </a:defRPr>
            </a:pPr>
            <a:endParaRPr lang="en-US"/>
          </a:p>
        </c:txPr>
        <c:crossAx val="2094734552"/>
        <c:crosses val="autoZero"/>
        <c:auto val="1"/>
        <c:lblAlgn val="ctr"/>
        <c:noMultiLvlLbl val="1"/>
      </c:catAx>
      <c:valAx>
        <c:axId val="2094734552"/>
        <c:scaling>
          <c:orientation val="minMax"/>
          <c:max val="55"/>
        </c:scaling>
        <c:delete val="0"/>
        <c:axPos val="l"/>
        <c:majorGridlines>
          <c:spPr>
            <a:ln w="9525" cap="flat">
              <a:solidFill>
                <a:srgbClr val="E3E7EF"/>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Accuracy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6472"/>
                </a:solidFill>
                <a:latin typeface="Arial"/>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Today's presentation is on Mechanistic Interpretability of Small Language Models, focusing on two recent recurrent reasoning architectures: Hierarchical Reasoning Models, or HRM, and Tiny Recursive Models, or TRM. Over the next few minutes I will explain why looking inside a model's reasoning process matters, how these two architectures work, what they have achieved on reasoning benchmarks, and what open questions remain — including what we ourselves propose to investigate.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Mechanistic interpretability aims to open up the black box of a neural network and recover the actual algorithm it has learned — down to individual circuits and features. This matters for three reasons: trust and safety, debugging, and scientific understanding — turning empirical observations about scaling into causal theories we can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looking at the architectures themselves, it's worth asking why small reasoning models are worth studying at all. First, scaling large language models further is becoming very expensive in parameters, data, and compute. Second, HRM and TRM explore an alternative axis of improvement: better computation through recursion, rather than simply more parameters. Third, both models suggest that reasoning ability can emerge substantially from architectural structure rather than scale alone. And fourth, mechanistic interpretability gives us the tools to actually explain why these small recursive models reason as well as they do, rather than just observing that they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Modern LLMs face three compounding limitations: scaling laws requiring exponentially more resources, brittle chain-of-thought reasoning that depends on curated data, and high inference-time compute cost from long token-by-token generation. This motivates architectures such as HRM and TRM, which perform reasoning through recurrent latent computation instead of explicit chain-of-thought.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HRM uses two interdependent recurrent modules operating at different timescales. The high-level module updates slowly for abstract planning; the low-level module updates rapidly within each high-level cycle for detailed computation, producing hierarchical convergence and effectively greater computational depth in a single forward pass. Training uses a one-step gradient approximation and adaptive computational time. With 27 million parameters and around 1,000 training examples, HRM reaches strong accuracy on Sudoku and maze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TRM simplifies HRM into a single tiny two-layer network that recursively updates a latent reasoning state and a candidate answer together, across up to sixteen improvement steps — a direct use of test-time compute. On specific structured benchmarks such as ARC-AGI, TRM's published 45 percent on ARC-AGI-1 and 8 percent on ARC-AGI-2 exceed the reported scores of DeepSeek R1, o3-mini-high, and Gemini 2.5 Pro on the same public evaluations, using well under 0.01 percent of their parameter count. It's important to phrase this precisely: this reflects performance on a narrow, structured benchmark, not general language understanding or broad LLM capability.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Widening the comparison to include standard Transformer-based LLMs makes the contrast clearer. Transformers rely on attention and feed-forward depth, are trained on web-scale data, and often need chain-of-thought for multi-step reasoning. HRM and TRM instead rely on recurrence and recursion, use adaptive or recursive test-time compute, need no explicit chain-of-thought, and are trained on only about a thousand examples per task — but remain focused on structured reasoning puzzles rather than general-purpose language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shows reported ARC-AGI-1 two-try test accuracy. The grey bars are general-purpose large language models evaluated zero-shot: DeepSeek R1 at 15.8 percent, o3-mini-high at 34.5 percent, and Gemini 2.5 Pro at 37 percent. The blue and green bars are HRM at 40.3 percent and TRM at 44.6 percent — small models trained from scratch on around a thousand task-specific examples with heavy data augmentation. It's worth being careful here: this is not an apples-to-apples comparison of the same training regime, and even larger specialized systems like Grok-4-thinking still lead overall at around 67 percent. We'll return to this caveat on the limitations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handful of core techniques make up the mechanistic interpretability toolkit: circuit analysis, sparse autoencoders, feature visualization, activation analysis, and examining latent representations — especially relevant for recursive models where the same latent variables are updated repeatedly. Applying these to HRM and TRM to check whether they learn recognizable sub-algorithms is still an open research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HRM and TRM excel at structured, constraint-heavy tasks, promising application areas include scientific reasoning, robotics, planning, mathematical reasoning, efficient on-device AI, and AGI research. These are promising directions suggested by current results, not yet deployed production applications.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important to directly address a question professors often ask: if TRM is so good, why aren't we replacing GPT-style models with it? The honest answer is that these results, while real, are narrow. Models are trained from scratch on one task family rather than general corpora; there is no demonstrated language understanding, conversational ability, or broad world knowledge; it remains unknown whether these recursion-based gains hold at web-scale, trillion-token training; and the benchmark comparisons rely on very different training regimes — heavy task-specific data augmentation for HRM and TRM versus zero-shot evaluation for the LLMs.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Several open challenges define the road ahead: scaling recursive reasoning to open-ended natural language tasks, hybrid architectures combining Mamba, attention, and HRM-style recurrence, exploring TRM-style recursion inside larger LLMs, and open questions of interpretability and generalization beyond narrow benchmarks.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Concretely, our mini project proposes to investigate mechanistic interpretability in HRM and TRM through architecture analysis and controlled experiments. This breaks down into four steps: a structured literature review consolidating the HRM, TRM, and interpretability literature; architecture analysis by instrumenting checkpoints to log how latent states evolve across recursive steps; interpretability probing using activation analysis and feature visualization to identify candidate sub-algorithms; and comparative evaluation, contrasting recursive reasoning traces against Transformer chain-of-thought traces on shared puzzle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really the core message of both papers. The old idea in deep learning has largely been: more parameters lead to better performance, treating scale as the primary lever. HRM and TRM propose a complementary new idea: better computation — through recursion and recurrence — can lead to better reasoning, at a small fraction of the parameter count, at least on structured tasks. Neither idea replaces the other; the interesting open question is how they combine.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HRM and TRM demonstrate that recurrent, recursive latent computation can match or exceed the reported scores of much larger language models on specific structured reasoning benchmarks, using orders of magnitude fewer parameters — though this is not evidence of general language superiority. Mechanistic interpretability gives us tools to understand why these small models reason well and whether that generalizes. Neither architecture is an established replacement for general-purpose LLMs today. The most promising path forward likely combines the scale of LLMs, the efficiency of recursive architectures, and interpretability tools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are grouped into two categories: papers on hierarchical and recursive reasoning models, and papers on mechanistic interpretability methods, all in IEEE style with clickable arXiv links where available. Items 6, 8, and 9 are recent related preprints whose canonical arXiv identifiers I'd recommend double-checking before final written submission, since they are very recent.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I'm happy to take any questions — on the HRM and TRM architectures, the interpretability techniques, our proposed mini project, or the open research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1.png"/><Relationship Id="rId3" Type="http://schemas.openxmlformats.org/officeDocument/2006/relationships/image" Target="../media/image-5-1.png"/><Relationship Id="rId4" Type="http://schemas.openxmlformats.org/officeDocument/2006/relationships/image" Target="../media/image-5-1.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1.png"/><Relationship Id="rId3" Type="http://schemas.openxmlformats.org/officeDocument/2006/relationships/image" Target="../media/image-6-1.png"/><Relationship Id="rId4" Type="http://schemas.openxmlformats.org/officeDocument/2006/relationships/image" Target="../media/image-6-1.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arxiv.org/abs/2506.21734" TargetMode="External"/><Relationship Id="rId2" Type="http://schemas.openxmlformats.org/officeDocument/2006/relationships/hyperlink" Target="https://arxiv.org/abs/2510.04871" TargetMode="External"/><Relationship Id="rId3" Type="http://schemas.openxmlformats.org/officeDocument/2006/relationships/hyperlink" Target="https://arxiv.org/abs/2406.11779" TargetMode="External"/><Relationship Id="rId4" Type="http://schemas.openxmlformats.org/officeDocument/2006/relationships/hyperlink" Target="https://arxiv.org/abs/2209.10652" TargetMode="External"/><Relationship Id="rId5" Type="http://schemas.openxmlformats.org/officeDocument/2006/relationships/hyperlink" Target="https://arxiv.org/abs/2309.08600" TargetMode="External"/><Relationship Id="rId6" Type="http://schemas.openxmlformats.org/officeDocument/2006/relationships/hyperlink" Target="https://transformer-circuits.pub/" TargetMode="External"/><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463040"/>
            <a:ext cx="4754880" cy="4754880"/>
          </a:xfrm>
          <a:prstGeom prst="ellipse">
            <a:avLst/>
          </a:prstGeom>
          <a:solidFill>
            <a:srgbClr val="26306E"/>
          </a:solidFill>
          <a:ln/>
        </p:spPr>
      </p:sp>
      <p:sp>
        <p:nvSpPr>
          <p:cNvPr id="3" name="Shape 1"/>
          <p:cNvSpPr/>
          <p:nvPr/>
        </p:nvSpPr>
        <p:spPr>
          <a:xfrm>
            <a:off x="10607040" y="4206240"/>
            <a:ext cx="3291840" cy="3291840"/>
          </a:xfrm>
          <a:prstGeom prst="ellipse">
            <a:avLst/>
          </a:prstGeom>
          <a:solidFill>
            <a:srgbClr val="222B63"/>
          </a:solidFill>
          <a:ln/>
        </p:spPr>
      </p:sp>
      <p:sp>
        <p:nvSpPr>
          <p:cNvPr id="4" name="Text 2"/>
          <p:cNvSpPr/>
          <p:nvPr/>
        </p:nvSpPr>
        <p:spPr>
          <a:xfrm>
            <a:off x="731520" y="822960"/>
            <a:ext cx="9601200" cy="365760"/>
          </a:xfrm>
          <a:prstGeom prst="rect">
            <a:avLst/>
          </a:prstGeom>
          <a:noFill/>
          <a:ln/>
        </p:spPr>
        <p:txBody>
          <a:bodyPr wrap="square" rtlCol="0" anchor="ctr"/>
          <a:lstStyle/>
          <a:p>
            <a:pPr indent="0" marL="0">
              <a:buNone/>
            </a:pPr>
            <a:r>
              <a:rPr lang="en-US" sz="1300" spc="150" kern="0" dirty="0">
                <a:solidFill>
                  <a:srgbClr val="CADCFC"/>
                </a:solidFill>
                <a:latin typeface="Calibri" pitchFamily="34" charset="0"/>
                <a:ea typeface="Calibri" pitchFamily="34" charset="-122"/>
                <a:cs typeface="Calibri" pitchFamily="34" charset="-120"/>
              </a:rPr>
              <a:t>THIRD-YEAR B.E. — ARTIFICIAL INTELLIGENCE &amp; DATA SCIENCE   |   MINI PROJECT SEMINAR</a:t>
            </a:r>
            <a:endParaRPr lang="en-US" sz="1300" dirty="0"/>
          </a:p>
        </p:txBody>
      </p:sp>
      <p:sp>
        <p:nvSpPr>
          <p:cNvPr id="5" name="Text 3"/>
          <p:cNvSpPr/>
          <p:nvPr/>
        </p:nvSpPr>
        <p:spPr>
          <a:xfrm>
            <a:off x="731520" y="1965960"/>
            <a:ext cx="9875520" cy="14630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Mechanistic Interpretability of Small Language Models</a:t>
            </a:r>
            <a:endParaRPr lang="en-US" sz="4000" dirty="0"/>
          </a:p>
        </p:txBody>
      </p:sp>
      <p:sp>
        <p:nvSpPr>
          <p:cNvPr id="6" name="Text 4"/>
          <p:cNvSpPr/>
          <p:nvPr/>
        </p:nvSpPr>
        <p:spPr>
          <a:xfrm>
            <a:off x="731520" y="3246120"/>
            <a:ext cx="9692640" cy="822960"/>
          </a:xfrm>
          <a:prstGeom prst="rect">
            <a:avLst/>
          </a:prstGeom>
          <a:noFill/>
          <a:ln/>
        </p:spPr>
        <p:txBody>
          <a:bodyPr wrap="square" lIns="0" tIns="0" rIns="0" bIns="0" rtlCol="0" anchor="ctr"/>
          <a:lstStyle/>
          <a:p>
            <a:pPr indent="0" marL="0">
              <a:buNone/>
            </a:pPr>
            <a:r>
              <a:rPr lang="en-US" sz="2000" i="1" dirty="0">
                <a:solidFill>
                  <a:srgbClr val="CADCFC"/>
                </a:solidFill>
                <a:latin typeface="Calibri" pitchFamily="34" charset="0"/>
                <a:ea typeface="Calibri" pitchFamily="34" charset="-122"/>
                <a:cs typeface="Calibri" pitchFamily="34" charset="-120"/>
              </a:rPr>
              <a:t>Hierarchical Reasoning Models (HRMs) and Tiny Recursive Models (TRMs)</a:t>
            </a:r>
            <a:endParaRPr lang="en-US" sz="2000" dirty="0"/>
          </a:p>
        </p:txBody>
      </p:sp>
      <p:sp>
        <p:nvSpPr>
          <p:cNvPr id="7" name="Shape 5"/>
          <p:cNvSpPr/>
          <p:nvPr/>
        </p:nvSpPr>
        <p:spPr>
          <a:xfrm>
            <a:off x="731520" y="4343400"/>
            <a:ext cx="2011680" cy="0"/>
          </a:xfrm>
          <a:prstGeom prst="line">
            <a:avLst/>
          </a:prstGeom>
          <a:noFill/>
          <a:ln w="38100">
            <a:solidFill>
              <a:srgbClr val="2F6FED"/>
            </a:solidFill>
            <a:prstDash val="solid"/>
          </a:ln>
        </p:spPr>
      </p:sp>
      <p:sp>
        <p:nvSpPr>
          <p:cNvPr id="8" name="Text 6"/>
          <p:cNvSpPr/>
          <p:nvPr/>
        </p:nvSpPr>
        <p:spPr>
          <a:xfrm>
            <a:off x="731520" y="4709160"/>
            <a:ext cx="5486400" cy="274320"/>
          </a:xfrm>
          <a:prstGeom prst="rect">
            <a:avLst/>
          </a:prstGeom>
          <a:noFill/>
          <a:ln/>
        </p:spPr>
        <p:txBody>
          <a:bodyPr wrap="square" rtlCol="0" anchor="ctr"/>
          <a:lstStyle/>
          <a:p>
            <a:pPr indent="0" marL="0">
              <a:buNone/>
            </a:pPr>
            <a:r>
              <a:rPr lang="en-US" sz="1100" b="1" spc="200" kern="0" dirty="0">
                <a:solidFill>
                  <a:srgbClr val="2F6FED"/>
                </a:solidFill>
                <a:latin typeface="Calibri" pitchFamily="34" charset="0"/>
                <a:ea typeface="Calibri" pitchFamily="34" charset="-122"/>
                <a:cs typeface="Calibri" pitchFamily="34" charset="-120"/>
              </a:rPr>
              <a:t>PRESENTED BY</a:t>
            </a:r>
            <a:endParaRPr lang="en-US" sz="1100" dirty="0"/>
          </a:p>
        </p:txBody>
      </p:sp>
      <p:sp>
        <p:nvSpPr>
          <p:cNvPr id="9" name="Text 7"/>
          <p:cNvSpPr/>
          <p:nvPr/>
        </p:nvSpPr>
        <p:spPr>
          <a:xfrm>
            <a:off x="731520" y="5010912"/>
            <a:ext cx="329184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Rohit Swami  </a:t>
            </a:r>
            <a:pPr indent="0" marL="0">
              <a:buNone/>
            </a:pPr>
            <a:r>
              <a:rPr lang="en-US" sz="1200" dirty="0">
                <a:solidFill>
                  <a:srgbClr val="9FB1E8"/>
                </a:solidFill>
                <a:latin typeface="Calibri" pitchFamily="34" charset="0"/>
                <a:ea typeface="Calibri" pitchFamily="34" charset="-122"/>
                <a:cs typeface="Calibri" pitchFamily="34" charset="-120"/>
              </a:rPr>
              <a:t>124A8113</a:t>
            </a:r>
            <a:endParaRPr lang="en-US" sz="1400" dirty="0"/>
          </a:p>
        </p:txBody>
      </p:sp>
      <p:sp>
        <p:nvSpPr>
          <p:cNvPr id="10" name="Text 8"/>
          <p:cNvSpPr/>
          <p:nvPr/>
        </p:nvSpPr>
        <p:spPr>
          <a:xfrm>
            <a:off x="4160520" y="5010912"/>
            <a:ext cx="329184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Namish Sharma  </a:t>
            </a:r>
            <a:pPr indent="0" marL="0">
              <a:buNone/>
            </a:pPr>
            <a:r>
              <a:rPr lang="en-US" sz="1200" dirty="0">
                <a:solidFill>
                  <a:srgbClr val="9FB1E8"/>
                </a:solidFill>
                <a:latin typeface="Calibri" pitchFamily="34" charset="0"/>
                <a:ea typeface="Calibri" pitchFamily="34" charset="-122"/>
                <a:cs typeface="Calibri" pitchFamily="34" charset="-120"/>
              </a:rPr>
              <a:t>124A8102</a:t>
            </a:r>
            <a:endParaRPr lang="en-US" sz="1400" dirty="0"/>
          </a:p>
        </p:txBody>
      </p:sp>
      <p:sp>
        <p:nvSpPr>
          <p:cNvPr id="11" name="Text 9"/>
          <p:cNvSpPr/>
          <p:nvPr/>
        </p:nvSpPr>
        <p:spPr>
          <a:xfrm>
            <a:off x="7589520" y="5010912"/>
            <a:ext cx="329184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Akhilesh Pottekat  </a:t>
            </a:r>
            <a:pPr indent="0" marL="0">
              <a:buNone/>
            </a:pPr>
            <a:r>
              <a:rPr lang="en-US" sz="1200" dirty="0">
                <a:solidFill>
                  <a:srgbClr val="9FB1E8"/>
                </a:solidFill>
                <a:latin typeface="Calibri" pitchFamily="34" charset="0"/>
                <a:ea typeface="Calibri" pitchFamily="34" charset="-122"/>
                <a:cs typeface="Calibri" pitchFamily="34" charset="-120"/>
              </a:rPr>
              <a:t>124A8087</a:t>
            </a:r>
            <a:endParaRPr lang="en-US" sz="1400" dirty="0"/>
          </a:p>
        </p:txBody>
      </p:sp>
      <p:sp>
        <p:nvSpPr>
          <p:cNvPr id="12" name="Text 10"/>
          <p:cNvSpPr/>
          <p:nvPr/>
        </p:nvSpPr>
        <p:spPr>
          <a:xfrm>
            <a:off x="731520" y="5989320"/>
            <a:ext cx="9601200" cy="365760"/>
          </a:xfrm>
          <a:prstGeom prst="rect">
            <a:avLst/>
          </a:prstGeom>
          <a:noFill/>
          <a:ln/>
        </p:spPr>
        <p:txBody>
          <a:bodyPr wrap="square" rtlCol="0" anchor="ctr"/>
          <a:lstStyle/>
          <a:p>
            <a:pPr indent="0" marL="0">
              <a:buNone/>
            </a:pPr>
            <a:r>
              <a:rPr lang="en-US" sz="1300" dirty="0">
                <a:solidFill>
                  <a:srgbClr val="9FB1E8"/>
                </a:solidFill>
                <a:latin typeface="Calibri" pitchFamily="34" charset="0"/>
                <a:ea typeface="Calibri" pitchFamily="34" charset="-122"/>
                <a:cs typeface="Calibri" pitchFamily="34" charset="-120"/>
              </a:rPr>
              <a:t>Department of Artificial Intelligence &amp; Data Science (AIDS)  |  SIES Graduate School of Technology</a:t>
            </a:r>
            <a:endParaRPr lang="en-US" sz="1300" dirty="0"/>
          </a:p>
        </p:txBody>
      </p:sp>
      <p:pic>
        <p:nvPicPr>
          <p:cNvPr id="13" name="Image 0" descr="/home/claude/icons_white/brain.png">    </p:cNvPr>
          <p:cNvPicPr>
            <a:picLocks noChangeAspect="1"/>
          </p:cNvPicPr>
          <p:nvPr/>
        </p:nvPicPr>
        <p:blipFill>
          <a:blip r:embed="rId1"/>
          <a:stretch>
            <a:fillRect/>
          </a:stretch>
        </p:blipFill>
        <p:spPr>
          <a:xfrm>
            <a:off x="10698480" y="685800"/>
            <a:ext cx="822960" cy="8229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2F6FED"/>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658368"/>
            <a:ext cx="11064240" cy="68580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Mechanistic Interpretability &amp; Motivation</a:t>
            </a:r>
            <a:endParaRPr lang="en-US" sz="3000" dirty="0"/>
          </a:p>
        </p:txBody>
      </p:sp>
      <p:sp>
        <p:nvSpPr>
          <p:cNvPr id="4" name="Text 2"/>
          <p:cNvSpPr/>
          <p:nvPr/>
        </p:nvSpPr>
        <p:spPr>
          <a:xfrm>
            <a:off x="548640" y="1417320"/>
            <a:ext cx="6400800" cy="1554480"/>
          </a:xfrm>
          <a:prstGeom prst="rect">
            <a:avLst/>
          </a:prstGeom>
          <a:noFill/>
          <a:ln/>
        </p:spPr>
        <p:txBody>
          <a:bodyPr wrap="square" rtlCol="0" anchor="t"/>
          <a:lstStyle/>
          <a:p>
            <a:pPr indent="0" marL="0">
              <a:lnSpc>
                <a:spcPct val="115000"/>
              </a:lnSpc>
              <a:buNone/>
            </a:pPr>
            <a:r>
              <a:rPr lang="en-US" sz="1500" dirty="0">
                <a:solidFill>
                  <a:srgbClr val="2A2E35"/>
                </a:solidFill>
                <a:latin typeface="Calibri" pitchFamily="34" charset="0"/>
                <a:ea typeface="Calibri" pitchFamily="34" charset="-122"/>
                <a:cs typeface="Calibri" pitchFamily="34" charset="-120"/>
              </a:rPr>
              <a:t>Mechanistic interpretability is the sub-field of AI safety and ML research that seeks to reverse-engineer the internal computations of neural networks — recovering human-understandable algorithms ("circuits") from learned weights and activations, rather than treating models as black boxes.</a:t>
            </a:r>
            <a:endParaRPr lang="en-US" sz="1500" dirty="0"/>
          </a:p>
        </p:txBody>
      </p:sp>
      <p:sp>
        <p:nvSpPr>
          <p:cNvPr id="5" name="Shape 3"/>
          <p:cNvSpPr/>
          <p:nvPr/>
        </p:nvSpPr>
        <p:spPr>
          <a:xfrm>
            <a:off x="548640" y="3154680"/>
            <a:ext cx="384048" cy="384048"/>
          </a:xfrm>
          <a:prstGeom prst="ellipse">
            <a:avLst/>
          </a:prstGeom>
          <a:solidFill>
            <a:srgbClr val="F4F6FB"/>
          </a:solidFill>
          <a:ln w="12700">
            <a:solidFill>
              <a:srgbClr val="2F6FED"/>
            </a:solidFill>
            <a:prstDash val="solid"/>
          </a:ln>
        </p:spPr>
      </p:sp>
      <p:pic>
        <p:nvPicPr>
          <p:cNvPr id="6" name="Image 0" descr="/home/claude/icons_accent/eye.png">    </p:cNvPr>
          <p:cNvPicPr>
            <a:picLocks noChangeAspect="1"/>
          </p:cNvPicPr>
          <p:nvPr/>
        </p:nvPicPr>
        <p:blipFill>
          <a:blip r:embed="rId1"/>
          <a:stretch>
            <a:fillRect/>
          </a:stretch>
        </p:blipFill>
        <p:spPr>
          <a:xfrm>
            <a:off x="649224" y="3255264"/>
            <a:ext cx="182880" cy="182880"/>
          </a:xfrm>
          <a:prstGeom prst="rect">
            <a:avLst/>
          </a:prstGeom>
        </p:spPr>
      </p:pic>
      <p:sp>
        <p:nvSpPr>
          <p:cNvPr id="7" name="Text 4"/>
          <p:cNvSpPr/>
          <p:nvPr/>
        </p:nvSpPr>
        <p:spPr>
          <a:xfrm>
            <a:off x="1097280" y="3108960"/>
            <a:ext cx="5760720" cy="292608"/>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Trust &amp; Safety</a:t>
            </a:r>
            <a:endParaRPr lang="en-US" sz="1400" dirty="0"/>
          </a:p>
        </p:txBody>
      </p:sp>
      <p:sp>
        <p:nvSpPr>
          <p:cNvPr id="8" name="Text 5"/>
          <p:cNvSpPr/>
          <p:nvPr/>
        </p:nvSpPr>
        <p:spPr>
          <a:xfrm>
            <a:off x="1097280" y="3410712"/>
            <a:ext cx="5760720" cy="457200"/>
          </a:xfrm>
          <a:prstGeom prst="rect">
            <a:avLst/>
          </a:prstGeom>
          <a:noFill/>
          <a:ln/>
        </p:spPr>
        <p:txBody>
          <a:bodyPr wrap="square" rtlCol="0" anchor="ctr"/>
          <a:lstStyle/>
          <a:p>
            <a:pPr indent="0" marL="0">
              <a:buNone/>
            </a:pPr>
            <a:r>
              <a:rPr lang="en-US" sz="1200" dirty="0">
                <a:solidFill>
                  <a:srgbClr val="5A6472"/>
                </a:solidFill>
                <a:latin typeface="Calibri" pitchFamily="34" charset="0"/>
                <a:ea typeface="Calibri" pitchFamily="34" charset="-122"/>
                <a:cs typeface="Calibri" pitchFamily="34" charset="-120"/>
              </a:rPr>
              <a:t>Verify a model reasons correctly rather than memorizing or guessing.</a:t>
            </a:r>
            <a:endParaRPr lang="en-US" sz="1200" dirty="0"/>
          </a:p>
        </p:txBody>
      </p:sp>
      <p:sp>
        <p:nvSpPr>
          <p:cNvPr id="9" name="Shape 6"/>
          <p:cNvSpPr/>
          <p:nvPr/>
        </p:nvSpPr>
        <p:spPr>
          <a:xfrm>
            <a:off x="548640" y="4023360"/>
            <a:ext cx="384048" cy="384048"/>
          </a:xfrm>
          <a:prstGeom prst="ellipse">
            <a:avLst/>
          </a:prstGeom>
          <a:solidFill>
            <a:srgbClr val="F4F6FB"/>
          </a:solidFill>
          <a:ln w="12700">
            <a:solidFill>
              <a:srgbClr val="2F6FED"/>
            </a:solidFill>
            <a:prstDash val="solid"/>
          </a:ln>
        </p:spPr>
      </p:sp>
      <p:pic>
        <p:nvPicPr>
          <p:cNvPr id="10" name="Image 1" descr="/home/claude/icons_accent/activity.png">    </p:cNvPr>
          <p:cNvPicPr>
            <a:picLocks noChangeAspect="1"/>
          </p:cNvPicPr>
          <p:nvPr/>
        </p:nvPicPr>
        <p:blipFill>
          <a:blip r:embed="rId2"/>
          <a:stretch>
            <a:fillRect/>
          </a:stretch>
        </p:blipFill>
        <p:spPr>
          <a:xfrm>
            <a:off x="649224" y="4123944"/>
            <a:ext cx="182880" cy="182880"/>
          </a:xfrm>
          <a:prstGeom prst="rect">
            <a:avLst/>
          </a:prstGeom>
        </p:spPr>
      </p:pic>
      <p:sp>
        <p:nvSpPr>
          <p:cNvPr id="11" name="Text 7"/>
          <p:cNvSpPr/>
          <p:nvPr/>
        </p:nvSpPr>
        <p:spPr>
          <a:xfrm>
            <a:off x="1097280" y="3977640"/>
            <a:ext cx="5760720" cy="292608"/>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Debugging</a:t>
            </a:r>
            <a:endParaRPr lang="en-US" sz="1400" dirty="0"/>
          </a:p>
        </p:txBody>
      </p:sp>
      <p:sp>
        <p:nvSpPr>
          <p:cNvPr id="12" name="Text 8"/>
          <p:cNvSpPr/>
          <p:nvPr/>
        </p:nvSpPr>
        <p:spPr>
          <a:xfrm>
            <a:off x="1097280" y="4279392"/>
            <a:ext cx="5760720" cy="457200"/>
          </a:xfrm>
          <a:prstGeom prst="rect">
            <a:avLst/>
          </a:prstGeom>
          <a:noFill/>
          <a:ln/>
        </p:spPr>
        <p:txBody>
          <a:bodyPr wrap="square" rtlCol="0" anchor="ctr"/>
          <a:lstStyle/>
          <a:p>
            <a:pPr indent="0" marL="0">
              <a:buNone/>
            </a:pPr>
            <a:r>
              <a:rPr lang="en-US" sz="1200" dirty="0">
                <a:solidFill>
                  <a:srgbClr val="5A6472"/>
                </a:solidFill>
                <a:latin typeface="Calibri" pitchFamily="34" charset="0"/>
                <a:ea typeface="Calibri" pitchFamily="34" charset="-122"/>
                <a:cs typeface="Calibri" pitchFamily="34" charset="-120"/>
              </a:rPr>
              <a:t>Diagnose failure modes and hallucinations at the mechanism level.</a:t>
            </a:r>
            <a:endParaRPr lang="en-US" sz="1200" dirty="0"/>
          </a:p>
        </p:txBody>
      </p:sp>
      <p:sp>
        <p:nvSpPr>
          <p:cNvPr id="13" name="Shape 9"/>
          <p:cNvSpPr/>
          <p:nvPr/>
        </p:nvSpPr>
        <p:spPr>
          <a:xfrm>
            <a:off x="548640" y="4892040"/>
            <a:ext cx="384048" cy="384048"/>
          </a:xfrm>
          <a:prstGeom prst="ellipse">
            <a:avLst/>
          </a:prstGeom>
          <a:solidFill>
            <a:srgbClr val="F4F6FB"/>
          </a:solidFill>
          <a:ln w="12700">
            <a:solidFill>
              <a:srgbClr val="2F6FED"/>
            </a:solidFill>
            <a:prstDash val="solid"/>
          </a:ln>
        </p:spPr>
      </p:sp>
      <p:pic>
        <p:nvPicPr>
          <p:cNvPr id="14" name="Image 2" descr="/home/claude/icons_accent/brain.png">    </p:cNvPr>
          <p:cNvPicPr>
            <a:picLocks noChangeAspect="1"/>
          </p:cNvPicPr>
          <p:nvPr/>
        </p:nvPicPr>
        <p:blipFill>
          <a:blip r:embed="rId3"/>
          <a:stretch>
            <a:fillRect/>
          </a:stretch>
        </p:blipFill>
        <p:spPr>
          <a:xfrm>
            <a:off x="649224" y="4992624"/>
            <a:ext cx="182880" cy="182880"/>
          </a:xfrm>
          <a:prstGeom prst="rect">
            <a:avLst/>
          </a:prstGeom>
        </p:spPr>
      </p:pic>
      <p:sp>
        <p:nvSpPr>
          <p:cNvPr id="15" name="Text 10"/>
          <p:cNvSpPr/>
          <p:nvPr/>
        </p:nvSpPr>
        <p:spPr>
          <a:xfrm>
            <a:off x="1097280" y="4846320"/>
            <a:ext cx="5760720" cy="292608"/>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Scientific Understanding</a:t>
            </a:r>
            <a:endParaRPr lang="en-US" sz="1400" dirty="0"/>
          </a:p>
        </p:txBody>
      </p:sp>
      <p:sp>
        <p:nvSpPr>
          <p:cNvPr id="16" name="Text 11"/>
          <p:cNvSpPr/>
          <p:nvPr/>
        </p:nvSpPr>
        <p:spPr>
          <a:xfrm>
            <a:off x="1097280" y="5148072"/>
            <a:ext cx="5760720" cy="457200"/>
          </a:xfrm>
          <a:prstGeom prst="rect">
            <a:avLst/>
          </a:prstGeom>
          <a:noFill/>
          <a:ln/>
        </p:spPr>
        <p:txBody>
          <a:bodyPr wrap="square" rtlCol="0" anchor="ctr"/>
          <a:lstStyle/>
          <a:p>
            <a:pPr indent="0" marL="0">
              <a:buNone/>
            </a:pPr>
            <a:r>
              <a:rPr lang="en-US" sz="1200" dirty="0">
                <a:solidFill>
                  <a:srgbClr val="5A6472"/>
                </a:solidFill>
                <a:latin typeface="Calibri" pitchFamily="34" charset="0"/>
                <a:ea typeface="Calibri" pitchFamily="34" charset="-122"/>
                <a:cs typeface="Calibri" pitchFamily="34" charset="-120"/>
              </a:rPr>
              <a:t>Turn empirical scaling results into causal, testable theories.</a:t>
            </a:r>
            <a:endParaRPr lang="en-US" sz="1200" dirty="0"/>
          </a:p>
        </p:txBody>
      </p:sp>
      <p:sp>
        <p:nvSpPr>
          <p:cNvPr id="17" name="Shape 12"/>
          <p:cNvSpPr/>
          <p:nvPr/>
        </p:nvSpPr>
        <p:spPr>
          <a:xfrm>
            <a:off x="7406640" y="1417320"/>
            <a:ext cx="4206240" cy="2011680"/>
          </a:xfrm>
          <a:prstGeom prst="roundRect">
            <a:avLst>
              <a:gd name="adj" fmla="val 5455"/>
            </a:avLst>
          </a:prstGeom>
          <a:solidFill>
            <a:srgbClr val="2A2E35"/>
          </a:solidFill>
          <a:ln/>
        </p:spPr>
      </p:sp>
      <p:sp>
        <p:nvSpPr>
          <p:cNvPr id="18" name="Text 13"/>
          <p:cNvSpPr/>
          <p:nvPr/>
        </p:nvSpPr>
        <p:spPr>
          <a:xfrm>
            <a:off x="7406640" y="1554480"/>
            <a:ext cx="4206240" cy="320040"/>
          </a:xfrm>
          <a:prstGeom prst="rect">
            <a:avLst/>
          </a:prstGeom>
          <a:noFill/>
          <a:ln/>
        </p:spPr>
        <p:txBody>
          <a:bodyPr wrap="square"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BLACK BOX</a:t>
            </a:r>
            <a:endParaRPr lang="en-US" sz="1200" dirty="0"/>
          </a:p>
        </p:txBody>
      </p:sp>
      <p:sp>
        <p:nvSpPr>
          <p:cNvPr id="19" name="Text 14"/>
          <p:cNvSpPr/>
          <p:nvPr/>
        </p:nvSpPr>
        <p:spPr>
          <a:xfrm>
            <a:off x="7406640" y="2148840"/>
            <a:ext cx="4206240" cy="822960"/>
          </a:xfrm>
          <a:prstGeom prst="rect">
            <a:avLst/>
          </a:prstGeom>
          <a:noFill/>
          <a:ln/>
        </p:spPr>
        <p:txBody>
          <a:bodyPr wrap="square" rtlCol="0" anchor="ctr"/>
          <a:lstStyle/>
          <a:p>
            <a:pPr algn="ctr" indent="0" marL="0">
              <a:buNone/>
            </a:pPr>
            <a:r>
              <a:rPr lang="en-US" sz="1500" dirty="0">
                <a:solidFill>
                  <a:srgbClr val="AAB2C0"/>
                </a:solidFill>
                <a:latin typeface="Calibri" pitchFamily="34" charset="0"/>
                <a:ea typeface="Calibri" pitchFamily="34" charset="-122"/>
                <a:cs typeface="Calibri" pitchFamily="34" charset="-120"/>
              </a:rPr>
              <a:t>Input  →  ?????  →  Output</a:t>
            </a:r>
            <a:endParaRPr lang="en-US" sz="1500" dirty="0"/>
          </a:p>
        </p:txBody>
      </p:sp>
      <p:sp>
        <p:nvSpPr>
          <p:cNvPr id="20" name="Shape 15"/>
          <p:cNvSpPr/>
          <p:nvPr/>
        </p:nvSpPr>
        <p:spPr>
          <a:xfrm>
            <a:off x="7406640" y="3749040"/>
            <a:ext cx="4206240" cy="2011680"/>
          </a:xfrm>
          <a:prstGeom prst="roundRect">
            <a:avLst>
              <a:gd name="adj" fmla="val 5455"/>
            </a:avLst>
          </a:prstGeom>
          <a:solidFill>
            <a:srgbClr val="F4F6FB"/>
          </a:solidFill>
          <a:ln w="15875">
            <a:solidFill>
              <a:srgbClr val="2F6FED"/>
            </a:solidFill>
            <a:prstDash val="solid"/>
          </a:ln>
        </p:spPr>
      </p:sp>
      <p:sp>
        <p:nvSpPr>
          <p:cNvPr id="21" name="Text 16"/>
          <p:cNvSpPr/>
          <p:nvPr/>
        </p:nvSpPr>
        <p:spPr>
          <a:xfrm>
            <a:off x="7406640" y="3886200"/>
            <a:ext cx="4206240" cy="320040"/>
          </a:xfrm>
          <a:prstGeom prst="rect">
            <a:avLst/>
          </a:prstGeom>
          <a:noFill/>
          <a:ln/>
        </p:spPr>
        <p:txBody>
          <a:bodyPr wrap="square" rtlCol="0" anchor="ctr"/>
          <a:lstStyle/>
          <a:p>
            <a:pPr algn="ctr" indent="0" marL="0">
              <a:buNone/>
            </a:pPr>
            <a:r>
              <a:rPr lang="en-US" sz="1200" b="1" spc="100" kern="0" dirty="0">
                <a:solidFill>
                  <a:srgbClr val="1E2761"/>
                </a:solidFill>
                <a:latin typeface="Calibri" pitchFamily="34" charset="0"/>
                <a:ea typeface="Calibri" pitchFamily="34" charset="-122"/>
                <a:cs typeface="Calibri" pitchFamily="34" charset="-120"/>
              </a:rPr>
              <a:t>INTERPRETABLE MODEL</a:t>
            </a:r>
            <a:endParaRPr lang="en-US" sz="1200" dirty="0"/>
          </a:p>
        </p:txBody>
      </p:sp>
      <p:sp>
        <p:nvSpPr>
          <p:cNvPr id="22" name="Text 17"/>
          <p:cNvSpPr/>
          <p:nvPr/>
        </p:nvSpPr>
        <p:spPr>
          <a:xfrm>
            <a:off x="7589520" y="4480560"/>
            <a:ext cx="3840480" cy="822960"/>
          </a:xfrm>
          <a:prstGeom prst="rect">
            <a:avLst/>
          </a:prstGeom>
          <a:noFill/>
          <a:ln/>
        </p:spPr>
        <p:txBody>
          <a:bodyPr wrap="square" rtlCol="0" anchor="ctr"/>
          <a:lstStyle/>
          <a:p>
            <a:pPr algn="ctr" indent="0" marL="0">
              <a:buNone/>
            </a:pPr>
            <a:r>
              <a:rPr lang="en-US" sz="1300" dirty="0">
                <a:solidFill>
                  <a:srgbClr val="1E2761"/>
                </a:solidFill>
                <a:latin typeface="Calibri" pitchFamily="34" charset="0"/>
                <a:ea typeface="Calibri" pitchFamily="34" charset="-122"/>
                <a:cs typeface="Calibri" pitchFamily="34" charset="-120"/>
              </a:rPr>
              <a:t>Input → [Circuit A] → [Circuit B] → Output</a:t>
            </a:r>
            <a:endParaRPr lang="en-US" sz="1300" dirty="0"/>
          </a:p>
        </p:txBody>
      </p:sp>
      <p:sp>
        <p:nvSpPr>
          <p:cNvPr id="23" name="Text 18"/>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2F6FED"/>
                </a:solidFill>
                <a:latin typeface="Calibri" pitchFamily="34" charset="0"/>
                <a:ea typeface="Calibri" pitchFamily="34" charset="-122"/>
                <a:cs typeface="Calibri" pitchFamily="34" charset="-120"/>
              </a:rPr>
              <a:t>MOTIVATION</a:t>
            </a:r>
            <a:endParaRPr lang="en-US" sz="1200" dirty="0"/>
          </a:p>
        </p:txBody>
      </p:sp>
      <p:sp>
        <p:nvSpPr>
          <p:cNvPr id="3" name="Text 1"/>
          <p:cNvSpPr/>
          <p:nvPr/>
        </p:nvSpPr>
        <p:spPr>
          <a:xfrm>
            <a:off x="548640" y="658368"/>
            <a:ext cx="11064240" cy="68580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Why Study Small Reasoning Models?</a:t>
            </a:r>
            <a:endParaRPr lang="en-US" sz="3000" dirty="0"/>
          </a:p>
        </p:txBody>
      </p:sp>
      <p:sp>
        <p:nvSpPr>
          <p:cNvPr id="4" name="Shape 2"/>
          <p:cNvSpPr/>
          <p:nvPr/>
        </p:nvSpPr>
        <p:spPr>
          <a:xfrm>
            <a:off x="548640" y="1508760"/>
            <a:ext cx="5394960" cy="1965960"/>
          </a:xfrm>
          <a:prstGeom prst="roundRect">
            <a:avLst>
              <a:gd name="adj" fmla="val 4651"/>
            </a:avLst>
          </a:prstGeom>
          <a:solidFill>
            <a:srgbClr val="F4F6FB"/>
          </a:solidFill>
          <a:ln/>
        </p:spPr>
      </p:sp>
      <p:sp>
        <p:nvSpPr>
          <p:cNvPr id="5" name="Shape 3"/>
          <p:cNvSpPr/>
          <p:nvPr/>
        </p:nvSpPr>
        <p:spPr>
          <a:xfrm>
            <a:off x="822960" y="1783080"/>
            <a:ext cx="502920" cy="502920"/>
          </a:xfrm>
          <a:prstGeom prst="ellipse">
            <a:avLst/>
          </a:prstGeom>
          <a:solidFill>
            <a:srgbClr val="FFFFFF"/>
          </a:solidFill>
          <a:ln w="15875">
            <a:solidFill>
              <a:srgbClr val="2F6FED"/>
            </a:solidFill>
            <a:prstDash val="solid"/>
          </a:ln>
        </p:spPr>
      </p:sp>
      <p:pic>
        <p:nvPicPr>
          <p:cNvPr id="6" name="Image 0" descr="/home/claude/icons_accent/trending.png">    </p:cNvPr>
          <p:cNvPicPr>
            <a:picLocks noChangeAspect="1"/>
          </p:cNvPicPr>
          <p:nvPr/>
        </p:nvPicPr>
        <p:blipFill>
          <a:blip r:embed="rId1"/>
          <a:stretch>
            <a:fillRect/>
          </a:stretch>
        </p:blipFill>
        <p:spPr>
          <a:xfrm>
            <a:off x="950976" y="1911096"/>
            <a:ext cx="246888" cy="246888"/>
          </a:xfrm>
          <a:prstGeom prst="rect">
            <a:avLst/>
          </a:prstGeom>
        </p:spPr>
      </p:pic>
      <p:sp>
        <p:nvSpPr>
          <p:cNvPr id="7" name="Text 4"/>
          <p:cNvSpPr/>
          <p:nvPr/>
        </p:nvSpPr>
        <p:spPr>
          <a:xfrm>
            <a:off x="1508760" y="1764792"/>
            <a:ext cx="4206240" cy="548640"/>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Scaling Is Getting Expensive</a:t>
            </a:r>
            <a:endParaRPr lang="en-US" sz="1450" dirty="0"/>
          </a:p>
        </p:txBody>
      </p:sp>
      <p:sp>
        <p:nvSpPr>
          <p:cNvPr id="8" name="Text 5"/>
          <p:cNvSpPr/>
          <p:nvPr/>
        </p:nvSpPr>
        <p:spPr>
          <a:xfrm>
            <a:off x="822960" y="2423160"/>
            <a:ext cx="4846320" cy="914400"/>
          </a:xfrm>
          <a:prstGeom prst="rect">
            <a:avLst/>
          </a:prstGeom>
          <a:noFill/>
          <a:ln/>
        </p:spPr>
        <p:txBody>
          <a:bodyPr wrap="square" rtlCol="0" anchor="t"/>
          <a:lstStyle/>
          <a:p>
            <a:pPr indent="0" marL="0">
              <a:buNone/>
            </a:pPr>
            <a:r>
              <a:rPr lang="en-US" sz="1200" dirty="0">
                <a:solidFill>
                  <a:srgbClr val="5A6472"/>
                </a:solidFill>
                <a:latin typeface="Calibri" pitchFamily="34" charset="0"/>
                <a:ea typeface="Calibri" pitchFamily="34" charset="-122"/>
                <a:cs typeface="Calibri" pitchFamily="34" charset="-120"/>
              </a:rPr>
              <a:t>Further LLM gains increasingly require exponentially more parameters, data, and compute — a costly path.</a:t>
            </a:r>
            <a:endParaRPr lang="en-US" sz="1200" dirty="0"/>
          </a:p>
        </p:txBody>
      </p:sp>
      <p:sp>
        <p:nvSpPr>
          <p:cNvPr id="9" name="Shape 6"/>
          <p:cNvSpPr/>
          <p:nvPr/>
        </p:nvSpPr>
        <p:spPr>
          <a:xfrm>
            <a:off x="6217920" y="1508760"/>
            <a:ext cx="5394960" cy="1965960"/>
          </a:xfrm>
          <a:prstGeom prst="roundRect">
            <a:avLst>
              <a:gd name="adj" fmla="val 4651"/>
            </a:avLst>
          </a:prstGeom>
          <a:solidFill>
            <a:srgbClr val="F4F6FB"/>
          </a:solidFill>
          <a:ln/>
        </p:spPr>
      </p:sp>
      <p:sp>
        <p:nvSpPr>
          <p:cNvPr id="10" name="Shape 7"/>
          <p:cNvSpPr/>
          <p:nvPr/>
        </p:nvSpPr>
        <p:spPr>
          <a:xfrm>
            <a:off x="6492240" y="1783080"/>
            <a:ext cx="502920" cy="502920"/>
          </a:xfrm>
          <a:prstGeom prst="ellipse">
            <a:avLst/>
          </a:prstGeom>
          <a:solidFill>
            <a:srgbClr val="FFFFFF"/>
          </a:solidFill>
          <a:ln w="15875">
            <a:solidFill>
              <a:srgbClr val="2F6FED"/>
            </a:solidFill>
            <a:prstDash val="solid"/>
          </a:ln>
        </p:spPr>
      </p:sp>
      <p:pic>
        <p:nvPicPr>
          <p:cNvPr id="11" name="Image 1" descr="/home/claude/icons_accent/refresh.png">    </p:cNvPr>
          <p:cNvPicPr>
            <a:picLocks noChangeAspect="1"/>
          </p:cNvPicPr>
          <p:nvPr/>
        </p:nvPicPr>
        <p:blipFill>
          <a:blip r:embed="rId2"/>
          <a:stretch>
            <a:fillRect/>
          </a:stretch>
        </p:blipFill>
        <p:spPr>
          <a:xfrm>
            <a:off x="6620256" y="1911096"/>
            <a:ext cx="246888" cy="246888"/>
          </a:xfrm>
          <a:prstGeom prst="rect">
            <a:avLst/>
          </a:prstGeom>
        </p:spPr>
      </p:pic>
      <p:sp>
        <p:nvSpPr>
          <p:cNvPr id="12" name="Text 8"/>
          <p:cNvSpPr/>
          <p:nvPr/>
        </p:nvSpPr>
        <p:spPr>
          <a:xfrm>
            <a:off x="7178040" y="1764792"/>
            <a:ext cx="4206240" cy="548640"/>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Better Computation, Not Just More Parameters</a:t>
            </a:r>
            <a:endParaRPr lang="en-US" sz="1450" dirty="0"/>
          </a:p>
        </p:txBody>
      </p:sp>
      <p:sp>
        <p:nvSpPr>
          <p:cNvPr id="13" name="Text 9"/>
          <p:cNvSpPr/>
          <p:nvPr/>
        </p:nvSpPr>
        <p:spPr>
          <a:xfrm>
            <a:off x="6492240" y="2423160"/>
            <a:ext cx="4846320" cy="914400"/>
          </a:xfrm>
          <a:prstGeom prst="rect">
            <a:avLst/>
          </a:prstGeom>
          <a:noFill/>
          <a:ln/>
        </p:spPr>
        <p:txBody>
          <a:bodyPr wrap="square" rtlCol="0" anchor="t"/>
          <a:lstStyle/>
          <a:p>
            <a:pPr indent="0" marL="0">
              <a:buNone/>
            </a:pPr>
            <a:r>
              <a:rPr lang="en-US" sz="1200" dirty="0">
                <a:solidFill>
                  <a:srgbClr val="5A6472"/>
                </a:solidFill>
                <a:latin typeface="Calibri" pitchFamily="34" charset="0"/>
                <a:ea typeface="Calibri" pitchFamily="34" charset="-122"/>
                <a:cs typeface="Calibri" pitchFamily="34" charset="-120"/>
              </a:rPr>
              <a:t>HRM and TRM explore recursive, recurrent computation as an alternative axis of improvement to raw scale.</a:t>
            </a:r>
            <a:endParaRPr lang="en-US" sz="1200" dirty="0"/>
          </a:p>
        </p:txBody>
      </p:sp>
      <p:sp>
        <p:nvSpPr>
          <p:cNvPr id="14" name="Shape 10"/>
          <p:cNvSpPr/>
          <p:nvPr/>
        </p:nvSpPr>
        <p:spPr>
          <a:xfrm>
            <a:off x="548640" y="3749040"/>
            <a:ext cx="5394960" cy="1965960"/>
          </a:xfrm>
          <a:prstGeom prst="roundRect">
            <a:avLst>
              <a:gd name="adj" fmla="val 4651"/>
            </a:avLst>
          </a:prstGeom>
          <a:solidFill>
            <a:srgbClr val="F4F6FB"/>
          </a:solidFill>
          <a:ln/>
        </p:spPr>
      </p:sp>
      <p:sp>
        <p:nvSpPr>
          <p:cNvPr id="15" name="Shape 11"/>
          <p:cNvSpPr/>
          <p:nvPr/>
        </p:nvSpPr>
        <p:spPr>
          <a:xfrm>
            <a:off x="822960" y="4023360"/>
            <a:ext cx="502920" cy="502920"/>
          </a:xfrm>
          <a:prstGeom prst="ellipse">
            <a:avLst/>
          </a:prstGeom>
          <a:solidFill>
            <a:srgbClr val="FFFFFF"/>
          </a:solidFill>
          <a:ln w="15875">
            <a:solidFill>
              <a:srgbClr val="2F6FED"/>
            </a:solidFill>
            <a:prstDash val="solid"/>
          </a:ln>
        </p:spPr>
      </p:sp>
      <p:pic>
        <p:nvPicPr>
          <p:cNvPr id="16" name="Image 2" descr="/home/claude/icons_accent/brain.png">    </p:cNvPr>
          <p:cNvPicPr>
            <a:picLocks noChangeAspect="1"/>
          </p:cNvPicPr>
          <p:nvPr/>
        </p:nvPicPr>
        <p:blipFill>
          <a:blip r:embed="rId3"/>
          <a:stretch>
            <a:fillRect/>
          </a:stretch>
        </p:blipFill>
        <p:spPr>
          <a:xfrm>
            <a:off x="950976" y="4151376"/>
            <a:ext cx="246888" cy="246888"/>
          </a:xfrm>
          <a:prstGeom prst="rect">
            <a:avLst/>
          </a:prstGeom>
        </p:spPr>
      </p:pic>
      <p:sp>
        <p:nvSpPr>
          <p:cNvPr id="17" name="Text 12"/>
          <p:cNvSpPr/>
          <p:nvPr/>
        </p:nvSpPr>
        <p:spPr>
          <a:xfrm>
            <a:off x="1508760" y="4005072"/>
            <a:ext cx="4206240" cy="548640"/>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Reasoning From Architecture</a:t>
            </a:r>
            <a:endParaRPr lang="en-US" sz="1450" dirty="0"/>
          </a:p>
        </p:txBody>
      </p:sp>
      <p:sp>
        <p:nvSpPr>
          <p:cNvPr id="18" name="Text 13"/>
          <p:cNvSpPr/>
          <p:nvPr/>
        </p:nvSpPr>
        <p:spPr>
          <a:xfrm>
            <a:off x="822960" y="4663440"/>
            <a:ext cx="4846320" cy="914400"/>
          </a:xfrm>
          <a:prstGeom prst="rect">
            <a:avLst/>
          </a:prstGeom>
          <a:noFill/>
          <a:ln/>
        </p:spPr>
        <p:txBody>
          <a:bodyPr wrap="square" rtlCol="0" anchor="t"/>
          <a:lstStyle/>
          <a:p>
            <a:pPr indent="0" marL="0">
              <a:buNone/>
            </a:pPr>
            <a:r>
              <a:rPr lang="en-US" sz="1200" dirty="0">
                <a:solidFill>
                  <a:srgbClr val="5A6472"/>
                </a:solidFill>
                <a:latin typeface="Calibri" pitchFamily="34" charset="0"/>
                <a:ea typeface="Calibri" pitchFamily="34" charset="-122"/>
                <a:cs typeface="Calibri" pitchFamily="34" charset="-120"/>
              </a:rPr>
              <a:t>Both suggest that structured recursion — not size — can produce strong reasoning on well-defined tasks.</a:t>
            </a:r>
            <a:endParaRPr lang="en-US" sz="1200" dirty="0"/>
          </a:p>
        </p:txBody>
      </p:sp>
      <p:sp>
        <p:nvSpPr>
          <p:cNvPr id="19" name="Shape 14"/>
          <p:cNvSpPr/>
          <p:nvPr/>
        </p:nvSpPr>
        <p:spPr>
          <a:xfrm>
            <a:off x="6217920" y="3749040"/>
            <a:ext cx="5394960" cy="1965960"/>
          </a:xfrm>
          <a:prstGeom prst="roundRect">
            <a:avLst>
              <a:gd name="adj" fmla="val 4651"/>
            </a:avLst>
          </a:prstGeom>
          <a:solidFill>
            <a:srgbClr val="F4F6FB"/>
          </a:solidFill>
          <a:ln/>
        </p:spPr>
      </p:sp>
      <p:sp>
        <p:nvSpPr>
          <p:cNvPr id="20" name="Shape 15"/>
          <p:cNvSpPr/>
          <p:nvPr/>
        </p:nvSpPr>
        <p:spPr>
          <a:xfrm>
            <a:off x="6492240" y="4023360"/>
            <a:ext cx="502920" cy="502920"/>
          </a:xfrm>
          <a:prstGeom prst="ellipse">
            <a:avLst/>
          </a:prstGeom>
          <a:solidFill>
            <a:srgbClr val="FFFFFF"/>
          </a:solidFill>
          <a:ln w="15875">
            <a:solidFill>
              <a:srgbClr val="2F6FED"/>
            </a:solidFill>
            <a:prstDash val="solid"/>
          </a:ln>
        </p:spPr>
      </p:sp>
      <p:pic>
        <p:nvPicPr>
          <p:cNvPr id="21" name="Image 3" descr="/home/claude/icons_accent/eye.png">    </p:cNvPr>
          <p:cNvPicPr>
            <a:picLocks noChangeAspect="1"/>
          </p:cNvPicPr>
          <p:nvPr/>
        </p:nvPicPr>
        <p:blipFill>
          <a:blip r:embed="rId4"/>
          <a:stretch>
            <a:fillRect/>
          </a:stretch>
        </p:blipFill>
        <p:spPr>
          <a:xfrm>
            <a:off x="6620256" y="4151376"/>
            <a:ext cx="246888" cy="246888"/>
          </a:xfrm>
          <a:prstGeom prst="rect">
            <a:avLst/>
          </a:prstGeom>
        </p:spPr>
      </p:pic>
      <p:sp>
        <p:nvSpPr>
          <p:cNvPr id="22" name="Text 16"/>
          <p:cNvSpPr/>
          <p:nvPr/>
        </p:nvSpPr>
        <p:spPr>
          <a:xfrm>
            <a:off x="7178040" y="4005072"/>
            <a:ext cx="4206240" cy="548640"/>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Interpretability Explains "Why"</a:t>
            </a:r>
            <a:endParaRPr lang="en-US" sz="1450" dirty="0"/>
          </a:p>
        </p:txBody>
      </p:sp>
      <p:sp>
        <p:nvSpPr>
          <p:cNvPr id="23" name="Text 17"/>
          <p:cNvSpPr/>
          <p:nvPr/>
        </p:nvSpPr>
        <p:spPr>
          <a:xfrm>
            <a:off x="6492240" y="4663440"/>
            <a:ext cx="4846320" cy="914400"/>
          </a:xfrm>
          <a:prstGeom prst="rect">
            <a:avLst/>
          </a:prstGeom>
          <a:noFill/>
          <a:ln/>
        </p:spPr>
        <p:txBody>
          <a:bodyPr wrap="square" rtlCol="0" anchor="t"/>
          <a:lstStyle/>
          <a:p>
            <a:pPr indent="0" marL="0">
              <a:buNone/>
            </a:pPr>
            <a:r>
              <a:rPr lang="en-US" sz="1200" dirty="0">
                <a:solidFill>
                  <a:srgbClr val="5A6472"/>
                </a:solidFill>
                <a:latin typeface="Calibri" pitchFamily="34" charset="0"/>
                <a:ea typeface="Calibri" pitchFamily="34" charset="-122"/>
                <a:cs typeface="Calibri" pitchFamily="34" charset="-120"/>
              </a:rPr>
              <a:t>Mechanistic interpretability tools help explain why these small recursive models reason as well as they do.</a:t>
            </a:r>
            <a:endParaRPr lang="en-US" sz="1200" dirty="0"/>
          </a:p>
        </p:txBody>
      </p:sp>
      <p:sp>
        <p:nvSpPr>
          <p:cNvPr id="24" name="Text 18"/>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2F6FED"/>
                </a:solidFill>
                <a:latin typeface="Calibri" pitchFamily="34" charset="0"/>
                <a:ea typeface="Calibri" pitchFamily="34" charset="-122"/>
                <a:cs typeface="Calibri" pitchFamily="34" charset="-120"/>
              </a:rPr>
              <a:t>MOTIVATION</a:t>
            </a:r>
            <a:endParaRPr lang="en-US" sz="1200" dirty="0"/>
          </a:p>
        </p:txBody>
      </p:sp>
      <p:sp>
        <p:nvSpPr>
          <p:cNvPr id="3" name="Text 1"/>
          <p:cNvSpPr/>
          <p:nvPr/>
        </p:nvSpPr>
        <p:spPr>
          <a:xfrm>
            <a:off x="548640" y="658368"/>
            <a:ext cx="11064240" cy="68580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Current LLM Limitations &amp; Motivation for New Architectures</a:t>
            </a:r>
            <a:endParaRPr lang="en-US" sz="3000" dirty="0"/>
          </a:p>
        </p:txBody>
      </p:sp>
      <p:sp>
        <p:nvSpPr>
          <p:cNvPr id="4" name="Shape 2"/>
          <p:cNvSpPr/>
          <p:nvPr/>
        </p:nvSpPr>
        <p:spPr>
          <a:xfrm>
            <a:off x="548640" y="1508760"/>
            <a:ext cx="3566160" cy="2148840"/>
          </a:xfrm>
          <a:prstGeom prst="roundRect">
            <a:avLst>
              <a:gd name="adj" fmla="val 4255"/>
            </a:avLst>
          </a:prstGeom>
          <a:solidFill>
            <a:srgbClr val="F4F6FB"/>
          </a:solidFill>
          <a:ln/>
          <a:effectLst>
            <a:outerShdw sx="100000" sy="100000" kx="0" ky="0" algn="bl" rotWithShape="0" blurRad="76200" dist="25400" dir="5400000">
              <a:srgbClr val="94A3B8">
                <a:alpha val="25000"/>
              </a:srgbClr>
            </a:outerShdw>
          </a:effectLst>
        </p:spPr>
      </p:sp>
      <p:sp>
        <p:nvSpPr>
          <p:cNvPr id="5" name="Shape 3"/>
          <p:cNvSpPr/>
          <p:nvPr/>
        </p:nvSpPr>
        <p:spPr>
          <a:xfrm>
            <a:off x="777240" y="1783080"/>
            <a:ext cx="502920" cy="502920"/>
          </a:xfrm>
          <a:prstGeom prst="ellipse">
            <a:avLst/>
          </a:prstGeom>
          <a:solidFill>
            <a:srgbClr val="FFFFFF"/>
          </a:solidFill>
          <a:ln w="15875">
            <a:solidFill>
              <a:srgbClr val="2F6FED"/>
            </a:solidFill>
            <a:prstDash val="solid"/>
          </a:ln>
        </p:spPr>
      </p:sp>
      <p:pic>
        <p:nvPicPr>
          <p:cNvPr id="6" name="Image 0" descr="/home/claude/icons_accent/zap.png">    </p:cNvPr>
          <p:cNvPicPr>
            <a:picLocks noChangeAspect="1"/>
          </p:cNvPicPr>
          <p:nvPr/>
        </p:nvPicPr>
        <p:blipFill>
          <a:blip r:embed="rId1"/>
          <a:stretch>
            <a:fillRect/>
          </a:stretch>
        </p:blipFill>
        <p:spPr>
          <a:xfrm>
            <a:off x="914400" y="1920240"/>
            <a:ext cx="228600" cy="228600"/>
          </a:xfrm>
          <a:prstGeom prst="rect">
            <a:avLst/>
          </a:prstGeom>
        </p:spPr>
      </p:pic>
      <p:sp>
        <p:nvSpPr>
          <p:cNvPr id="7" name="Text 4"/>
          <p:cNvSpPr/>
          <p:nvPr/>
        </p:nvSpPr>
        <p:spPr>
          <a:xfrm>
            <a:off x="777240" y="2423160"/>
            <a:ext cx="3108960" cy="36576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Scaling Laws</a:t>
            </a:r>
            <a:endParaRPr lang="en-US" sz="1500" dirty="0"/>
          </a:p>
        </p:txBody>
      </p:sp>
      <p:sp>
        <p:nvSpPr>
          <p:cNvPr id="8" name="Text 5"/>
          <p:cNvSpPr/>
          <p:nvPr/>
        </p:nvSpPr>
        <p:spPr>
          <a:xfrm>
            <a:off x="777240" y="2788920"/>
            <a:ext cx="3108960" cy="822960"/>
          </a:xfrm>
          <a:prstGeom prst="rect">
            <a:avLst/>
          </a:prstGeom>
          <a:noFill/>
          <a:ln/>
        </p:spPr>
        <p:txBody>
          <a:bodyPr wrap="square" rtlCol="0" anchor="t"/>
          <a:lstStyle/>
          <a:p>
            <a:pPr indent="0" marL="0">
              <a:buNone/>
            </a:pPr>
            <a:r>
              <a:rPr lang="en-US" sz="1200" dirty="0">
                <a:solidFill>
                  <a:srgbClr val="5A6472"/>
                </a:solidFill>
                <a:latin typeface="Calibri" pitchFamily="34" charset="0"/>
                <a:ea typeface="Calibri" pitchFamily="34" charset="-122"/>
                <a:cs typeface="Calibri" pitchFamily="34" charset="-120"/>
              </a:rPr>
              <a:t>Performance gains increasingly require exponentially more parameters, data, and compute.</a:t>
            </a:r>
            <a:endParaRPr lang="en-US" sz="1200" dirty="0"/>
          </a:p>
        </p:txBody>
      </p:sp>
      <p:sp>
        <p:nvSpPr>
          <p:cNvPr id="9" name="Shape 6"/>
          <p:cNvSpPr/>
          <p:nvPr/>
        </p:nvSpPr>
        <p:spPr>
          <a:xfrm>
            <a:off x="4343400" y="1508760"/>
            <a:ext cx="3566160" cy="2148840"/>
          </a:xfrm>
          <a:prstGeom prst="roundRect">
            <a:avLst>
              <a:gd name="adj" fmla="val 4255"/>
            </a:avLst>
          </a:prstGeom>
          <a:solidFill>
            <a:srgbClr val="F4F6FB"/>
          </a:solidFill>
          <a:ln/>
          <a:effectLst>
            <a:outerShdw sx="100000" sy="100000" kx="0" ky="0" algn="bl" rotWithShape="0" blurRad="76200" dist="25400" dir="5400000">
              <a:srgbClr val="94A3B8">
                <a:alpha val="25000"/>
              </a:srgbClr>
            </a:outerShdw>
          </a:effectLst>
        </p:spPr>
      </p:sp>
      <p:sp>
        <p:nvSpPr>
          <p:cNvPr id="10" name="Shape 7"/>
          <p:cNvSpPr/>
          <p:nvPr/>
        </p:nvSpPr>
        <p:spPr>
          <a:xfrm>
            <a:off x="4572000" y="1783080"/>
            <a:ext cx="502920" cy="502920"/>
          </a:xfrm>
          <a:prstGeom prst="ellipse">
            <a:avLst/>
          </a:prstGeom>
          <a:solidFill>
            <a:srgbClr val="FFFFFF"/>
          </a:solidFill>
          <a:ln w="15875">
            <a:solidFill>
              <a:srgbClr val="2F6FED"/>
            </a:solidFill>
            <a:prstDash val="solid"/>
          </a:ln>
        </p:spPr>
      </p:sp>
      <p:pic>
        <p:nvPicPr>
          <p:cNvPr id="11" name="Image 1" descr="/home/claude/icons_accent/gitbranch.png">    </p:cNvPr>
          <p:cNvPicPr>
            <a:picLocks noChangeAspect="1"/>
          </p:cNvPicPr>
          <p:nvPr/>
        </p:nvPicPr>
        <p:blipFill>
          <a:blip r:embed="rId2"/>
          <a:stretch>
            <a:fillRect/>
          </a:stretch>
        </p:blipFill>
        <p:spPr>
          <a:xfrm>
            <a:off x="4709160" y="1920240"/>
            <a:ext cx="228600" cy="228600"/>
          </a:xfrm>
          <a:prstGeom prst="rect">
            <a:avLst/>
          </a:prstGeom>
        </p:spPr>
      </p:pic>
      <p:sp>
        <p:nvSpPr>
          <p:cNvPr id="12" name="Text 8"/>
          <p:cNvSpPr/>
          <p:nvPr/>
        </p:nvSpPr>
        <p:spPr>
          <a:xfrm>
            <a:off x="4572000" y="2423160"/>
            <a:ext cx="3108960" cy="36576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Chain-of-Thought</a:t>
            </a:r>
            <a:endParaRPr lang="en-US" sz="1500" dirty="0"/>
          </a:p>
        </p:txBody>
      </p:sp>
      <p:sp>
        <p:nvSpPr>
          <p:cNvPr id="13" name="Text 9"/>
          <p:cNvSpPr/>
          <p:nvPr/>
        </p:nvSpPr>
        <p:spPr>
          <a:xfrm>
            <a:off x="4572000" y="2788920"/>
            <a:ext cx="3108960" cy="822960"/>
          </a:xfrm>
          <a:prstGeom prst="rect">
            <a:avLst/>
          </a:prstGeom>
          <a:noFill/>
          <a:ln/>
        </p:spPr>
        <p:txBody>
          <a:bodyPr wrap="square" rtlCol="0" anchor="t"/>
          <a:lstStyle/>
          <a:p>
            <a:pPr indent="0" marL="0">
              <a:buNone/>
            </a:pPr>
            <a:r>
              <a:rPr lang="en-US" sz="1200" dirty="0">
                <a:solidFill>
                  <a:srgbClr val="5A6472"/>
                </a:solidFill>
                <a:latin typeface="Calibri" pitchFamily="34" charset="0"/>
                <a:ea typeface="Calibri" pitchFamily="34" charset="-122"/>
                <a:cs typeface="Calibri" pitchFamily="34" charset="-120"/>
              </a:rPr>
              <a:t>CoT reasoning is brittle, depends on large curated reasoning traces, and can generate plausible but wrong steps.</a:t>
            </a:r>
            <a:endParaRPr lang="en-US" sz="1200" dirty="0"/>
          </a:p>
        </p:txBody>
      </p:sp>
      <p:sp>
        <p:nvSpPr>
          <p:cNvPr id="14" name="Shape 10"/>
          <p:cNvSpPr/>
          <p:nvPr/>
        </p:nvSpPr>
        <p:spPr>
          <a:xfrm>
            <a:off x="8138160" y="1508760"/>
            <a:ext cx="3566160" cy="2148840"/>
          </a:xfrm>
          <a:prstGeom prst="roundRect">
            <a:avLst>
              <a:gd name="adj" fmla="val 4255"/>
            </a:avLst>
          </a:prstGeom>
          <a:solidFill>
            <a:srgbClr val="F4F6FB"/>
          </a:solidFill>
          <a:ln/>
          <a:effectLst>
            <a:outerShdw sx="100000" sy="100000" kx="0" ky="0" algn="bl" rotWithShape="0" blurRad="76200" dist="25400" dir="5400000">
              <a:srgbClr val="94A3B8">
                <a:alpha val="25000"/>
              </a:srgbClr>
            </a:outerShdw>
          </a:effectLst>
        </p:spPr>
      </p:sp>
      <p:sp>
        <p:nvSpPr>
          <p:cNvPr id="15" name="Shape 11"/>
          <p:cNvSpPr/>
          <p:nvPr/>
        </p:nvSpPr>
        <p:spPr>
          <a:xfrm>
            <a:off x="8366760" y="1783080"/>
            <a:ext cx="502920" cy="502920"/>
          </a:xfrm>
          <a:prstGeom prst="ellipse">
            <a:avLst/>
          </a:prstGeom>
          <a:solidFill>
            <a:srgbClr val="FFFFFF"/>
          </a:solidFill>
          <a:ln w="15875">
            <a:solidFill>
              <a:srgbClr val="2F6FED"/>
            </a:solidFill>
            <a:prstDash val="solid"/>
          </a:ln>
        </p:spPr>
      </p:sp>
      <p:pic>
        <p:nvPicPr>
          <p:cNvPr id="16" name="Image 2" descr="/home/claude/icons_accent/clock.png">    </p:cNvPr>
          <p:cNvPicPr>
            <a:picLocks noChangeAspect="1"/>
          </p:cNvPicPr>
          <p:nvPr/>
        </p:nvPicPr>
        <p:blipFill>
          <a:blip r:embed="rId3"/>
          <a:stretch>
            <a:fillRect/>
          </a:stretch>
        </p:blipFill>
        <p:spPr>
          <a:xfrm>
            <a:off x="8503920" y="1920240"/>
            <a:ext cx="228600" cy="228600"/>
          </a:xfrm>
          <a:prstGeom prst="rect">
            <a:avLst/>
          </a:prstGeom>
        </p:spPr>
      </p:pic>
      <p:sp>
        <p:nvSpPr>
          <p:cNvPr id="17" name="Text 12"/>
          <p:cNvSpPr/>
          <p:nvPr/>
        </p:nvSpPr>
        <p:spPr>
          <a:xfrm>
            <a:off x="8366760" y="2423160"/>
            <a:ext cx="3108960" cy="36576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High Compute Cost</a:t>
            </a:r>
            <a:endParaRPr lang="en-US" sz="1500" dirty="0"/>
          </a:p>
        </p:txBody>
      </p:sp>
      <p:sp>
        <p:nvSpPr>
          <p:cNvPr id="18" name="Text 13"/>
          <p:cNvSpPr/>
          <p:nvPr/>
        </p:nvSpPr>
        <p:spPr>
          <a:xfrm>
            <a:off x="8366760" y="2788920"/>
            <a:ext cx="3108960" cy="822960"/>
          </a:xfrm>
          <a:prstGeom prst="rect">
            <a:avLst/>
          </a:prstGeom>
          <a:noFill/>
          <a:ln/>
        </p:spPr>
        <p:txBody>
          <a:bodyPr wrap="square" rtlCol="0" anchor="t"/>
          <a:lstStyle/>
          <a:p>
            <a:pPr indent="0" marL="0">
              <a:buNone/>
            </a:pPr>
            <a:r>
              <a:rPr lang="en-US" sz="1200" dirty="0">
                <a:solidFill>
                  <a:srgbClr val="5A6472"/>
                </a:solidFill>
                <a:latin typeface="Calibri" pitchFamily="34" charset="0"/>
                <a:ea typeface="Calibri" pitchFamily="34" charset="-122"/>
                <a:cs typeface="Calibri" pitchFamily="34" charset="-120"/>
              </a:rPr>
              <a:t>Long token-by-token generation at inference time drives latency and cost for reasoning tasks.</a:t>
            </a:r>
            <a:endParaRPr lang="en-US" sz="1200" dirty="0"/>
          </a:p>
        </p:txBody>
      </p:sp>
      <p:sp>
        <p:nvSpPr>
          <p:cNvPr id="19" name="Text 14"/>
          <p:cNvSpPr/>
          <p:nvPr/>
        </p:nvSpPr>
        <p:spPr>
          <a:xfrm>
            <a:off x="548640" y="3977640"/>
            <a:ext cx="7315200" cy="274320"/>
          </a:xfrm>
          <a:prstGeom prst="rect">
            <a:avLst/>
          </a:prstGeom>
          <a:noFill/>
          <a:ln/>
        </p:spPr>
        <p:txBody>
          <a:bodyPr wrap="square" rtlCol="0" anchor="ctr"/>
          <a:lstStyle/>
          <a:p>
            <a:pPr indent="0" marL="0">
              <a:buNone/>
            </a:pPr>
            <a:r>
              <a:rPr lang="en-US" sz="1200" i="1" dirty="0">
                <a:solidFill>
                  <a:srgbClr val="5A6472"/>
                </a:solidFill>
                <a:latin typeface="Calibri" pitchFamily="34" charset="0"/>
                <a:ea typeface="Calibri" pitchFamily="34" charset="-122"/>
                <a:cs typeface="Calibri" pitchFamily="34" charset="-120"/>
              </a:rPr>
              <a:t>Illustrative trade-off: reasoning quality vs. inference compute</a:t>
            </a:r>
            <a:endParaRPr lang="en-US" sz="1200" dirty="0"/>
          </a:p>
        </p:txBody>
      </p:sp>
      <p:sp>
        <p:nvSpPr>
          <p:cNvPr id="20" name="Shape 15"/>
          <p:cNvSpPr/>
          <p:nvPr/>
        </p:nvSpPr>
        <p:spPr>
          <a:xfrm>
            <a:off x="822960" y="4559198"/>
            <a:ext cx="1005840" cy="1430122"/>
          </a:xfrm>
          <a:prstGeom prst="roundRect">
            <a:avLst>
              <a:gd name="adj" fmla="val 3636"/>
            </a:avLst>
          </a:prstGeom>
          <a:solidFill>
            <a:srgbClr val="E8503A"/>
          </a:solidFill>
          <a:ln/>
        </p:spPr>
      </p:sp>
      <p:sp>
        <p:nvSpPr>
          <p:cNvPr id="21" name="Text 16"/>
          <p:cNvSpPr/>
          <p:nvPr/>
        </p:nvSpPr>
        <p:spPr>
          <a:xfrm>
            <a:off x="685800" y="6035040"/>
            <a:ext cx="1280160" cy="274320"/>
          </a:xfrm>
          <a:prstGeom prst="rect">
            <a:avLst/>
          </a:prstGeom>
          <a:noFill/>
          <a:ln/>
        </p:spPr>
        <p:txBody>
          <a:bodyPr wrap="square" rtlCol="0" anchor="ctr"/>
          <a:lstStyle/>
          <a:p>
            <a:pPr algn="ctr" indent="0" marL="0">
              <a:buNone/>
            </a:pPr>
            <a:r>
              <a:rPr lang="en-US" sz="1000" dirty="0">
                <a:solidFill>
                  <a:srgbClr val="1E2761"/>
                </a:solidFill>
                <a:latin typeface="Calibri" pitchFamily="34" charset="0"/>
                <a:ea typeface="Calibri" pitchFamily="34" charset="-122"/>
                <a:cs typeface="Calibri" pitchFamily="34" charset="-120"/>
              </a:rPr>
              <a:t>LLM + CoT</a:t>
            </a:r>
            <a:endParaRPr lang="en-US" sz="1000" dirty="0"/>
          </a:p>
        </p:txBody>
      </p:sp>
      <p:sp>
        <p:nvSpPr>
          <p:cNvPr id="22" name="Shape 17"/>
          <p:cNvSpPr/>
          <p:nvPr/>
        </p:nvSpPr>
        <p:spPr>
          <a:xfrm>
            <a:off x="2240280" y="5709514"/>
            <a:ext cx="1005840" cy="279806"/>
          </a:xfrm>
          <a:prstGeom prst="roundRect">
            <a:avLst>
              <a:gd name="adj" fmla="val 13072"/>
            </a:avLst>
          </a:prstGeom>
          <a:solidFill>
            <a:srgbClr val="2F6FED"/>
          </a:solidFill>
          <a:ln/>
        </p:spPr>
      </p:sp>
      <p:sp>
        <p:nvSpPr>
          <p:cNvPr id="23" name="Text 18"/>
          <p:cNvSpPr/>
          <p:nvPr/>
        </p:nvSpPr>
        <p:spPr>
          <a:xfrm>
            <a:off x="2103120" y="6035040"/>
            <a:ext cx="1280160" cy="274320"/>
          </a:xfrm>
          <a:prstGeom prst="rect">
            <a:avLst/>
          </a:prstGeom>
          <a:noFill/>
          <a:ln/>
        </p:spPr>
        <p:txBody>
          <a:bodyPr wrap="square" rtlCol="0" anchor="ctr"/>
          <a:lstStyle/>
          <a:p>
            <a:pPr algn="ctr" indent="0" marL="0">
              <a:buNone/>
            </a:pPr>
            <a:r>
              <a:rPr lang="en-US" sz="1000" dirty="0">
                <a:solidFill>
                  <a:srgbClr val="1E2761"/>
                </a:solidFill>
                <a:latin typeface="Calibri" pitchFamily="34" charset="0"/>
                <a:ea typeface="Calibri" pitchFamily="34" charset="-122"/>
                <a:cs typeface="Calibri" pitchFamily="34" charset="-120"/>
              </a:rPr>
              <a:t>HRM (27M)</a:t>
            </a:r>
            <a:endParaRPr lang="en-US" sz="1000" dirty="0"/>
          </a:p>
        </p:txBody>
      </p:sp>
      <p:sp>
        <p:nvSpPr>
          <p:cNvPr id="24" name="Shape 19"/>
          <p:cNvSpPr/>
          <p:nvPr/>
        </p:nvSpPr>
        <p:spPr>
          <a:xfrm>
            <a:off x="3657600" y="5833872"/>
            <a:ext cx="1005840" cy="155448"/>
          </a:xfrm>
          <a:prstGeom prst="roundRect">
            <a:avLst>
              <a:gd name="adj" fmla="val 23529"/>
            </a:avLst>
          </a:prstGeom>
          <a:solidFill>
            <a:srgbClr val="1E9E7A"/>
          </a:solidFill>
          <a:ln/>
        </p:spPr>
      </p:sp>
      <p:sp>
        <p:nvSpPr>
          <p:cNvPr id="25" name="Text 20"/>
          <p:cNvSpPr/>
          <p:nvPr/>
        </p:nvSpPr>
        <p:spPr>
          <a:xfrm>
            <a:off x="3520440" y="6035040"/>
            <a:ext cx="1280160" cy="274320"/>
          </a:xfrm>
          <a:prstGeom prst="rect">
            <a:avLst/>
          </a:prstGeom>
          <a:noFill/>
          <a:ln/>
        </p:spPr>
        <p:txBody>
          <a:bodyPr wrap="square" rtlCol="0" anchor="ctr"/>
          <a:lstStyle/>
          <a:p>
            <a:pPr algn="ctr" indent="0" marL="0">
              <a:buNone/>
            </a:pPr>
            <a:r>
              <a:rPr lang="en-US" sz="1000" dirty="0">
                <a:solidFill>
                  <a:srgbClr val="1E2761"/>
                </a:solidFill>
                <a:latin typeface="Calibri" pitchFamily="34" charset="0"/>
                <a:ea typeface="Calibri" pitchFamily="34" charset="-122"/>
                <a:cs typeface="Calibri" pitchFamily="34" charset="-120"/>
              </a:rPr>
              <a:t>TRM (7M)</a:t>
            </a:r>
            <a:endParaRPr lang="en-US" sz="1000" dirty="0"/>
          </a:p>
        </p:txBody>
      </p:sp>
      <p:sp>
        <p:nvSpPr>
          <p:cNvPr id="26" name="Text 21"/>
          <p:cNvSpPr/>
          <p:nvPr/>
        </p:nvSpPr>
        <p:spPr>
          <a:xfrm>
            <a:off x="5212080" y="5074920"/>
            <a:ext cx="6309360" cy="640080"/>
          </a:xfrm>
          <a:prstGeom prst="rect">
            <a:avLst/>
          </a:prstGeom>
          <a:noFill/>
          <a:ln/>
        </p:spPr>
        <p:txBody>
          <a:bodyPr wrap="square" rtlCol="0" anchor="t"/>
          <a:lstStyle/>
          <a:p>
            <a:pPr indent="0" marL="0">
              <a:buNone/>
            </a:pPr>
            <a:r>
              <a:rPr lang="en-US" sz="1100" i="1" dirty="0">
                <a:solidFill>
                  <a:srgbClr val="5A6472"/>
                </a:solidFill>
                <a:latin typeface="Calibri" pitchFamily="34" charset="0"/>
                <a:ea typeface="Calibri" pitchFamily="34" charset="-122"/>
                <a:cs typeface="Calibri" pitchFamily="34" charset="-120"/>
              </a:rPr>
              <a:t>Relative inference-time compute per problem solved (illustrative, not to scale)</a:t>
            </a:r>
            <a:endParaRPr lang="en-US" sz="1100" dirty="0"/>
          </a:p>
        </p:txBody>
      </p:sp>
      <p:sp>
        <p:nvSpPr>
          <p:cNvPr id="27" name="Text 22"/>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2F6FED"/>
                </a:solidFill>
                <a:latin typeface="Calibri" pitchFamily="34" charset="0"/>
                <a:ea typeface="Calibri" pitchFamily="34" charset="-122"/>
                <a:cs typeface="Calibri" pitchFamily="34" charset="-120"/>
              </a:rPr>
              <a:t>ARCHITECTURE</a:t>
            </a:r>
            <a:endParaRPr lang="en-US" sz="1200" dirty="0"/>
          </a:p>
        </p:txBody>
      </p:sp>
      <p:sp>
        <p:nvSpPr>
          <p:cNvPr id="3" name="Text 1"/>
          <p:cNvSpPr/>
          <p:nvPr/>
        </p:nvSpPr>
        <p:spPr>
          <a:xfrm>
            <a:off x="548640" y="658368"/>
            <a:ext cx="11064240" cy="68580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Hierarchical Reasoning Model (HRM)</a:t>
            </a:r>
            <a:endParaRPr lang="en-US" sz="3000" dirty="0"/>
          </a:p>
        </p:txBody>
      </p:sp>
      <p:sp>
        <p:nvSpPr>
          <p:cNvPr id="4" name="Text 2"/>
          <p:cNvSpPr/>
          <p:nvPr/>
        </p:nvSpPr>
        <p:spPr>
          <a:xfrm>
            <a:off x="548640" y="1280160"/>
            <a:ext cx="7315200" cy="274320"/>
          </a:xfrm>
          <a:prstGeom prst="rect">
            <a:avLst/>
          </a:prstGeom>
          <a:noFill/>
          <a:ln/>
        </p:spPr>
        <p:txBody>
          <a:bodyPr wrap="square" rtlCol="0" anchor="ctr"/>
          <a:lstStyle/>
          <a:p>
            <a:pPr indent="0" marL="0">
              <a:buNone/>
            </a:pPr>
            <a:r>
              <a:rPr lang="en-US" sz="1100" i="1" dirty="0">
                <a:solidFill>
                  <a:srgbClr val="5A6472"/>
                </a:solidFill>
                <a:latin typeface="Calibri" pitchFamily="34" charset="0"/>
                <a:ea typeface="Calibri" pitchFamily="34" charset="-122"/>
                <a:cs typeface="Calibri" pitchFamily="34" charset="-120"/>
              </a:rPr>
              <a:t>Wang et al., “Hierarchical Reasoning Model,” arXiv:2506.21734 (2025)</a:t>
            </a:r>
            <a:endParaRPr lang="en-US" sz="1100" dirty="0"/>
          </a:p>
        </p:txBody>
      </p:sp>
      <p:sp>
        <p:nvSpPr>
          <p:cNvPr id="5" name="Shape 3"/>
          <p:cNvSpPr/>
          <p:nvPr/>
        </p:nvSpPr>
        <p:spPr>
          <a:xfrm>
            <a:off x="640080" y="1828800"/>
            <a:ext cx="6035040" cy="3931920"/>
          </a:xfrm>
          <a:prstGeom prst="roundRect">
            <a:avLst>
              <a:gd name="adj" fmla="val 2791"/>
            </a:avLst>
          </a:prstGeom>
          <a:solidFill>
            <a:srgbClr val="F4F6FB"/>
          </a:solidFill>
          <a:ln w="12700">
            <a:solidFill>
              <a:srgbClr val="D7DEEC"/>
            </a:solidFill>
            <a:prstDash val="solid"/>
          </a:ln>
        </p:spPr>
      </p:sp>
      <p:sp>
        <p:nvSpPr>
          <p:cNvPr id="6" name="Shape 4"/>
          <p:cNvSpPr/>
          <p:nvPr/>
        </p:nvSpPr>
        <p:spPr>
          <a:xfrm>
            <a:off x="1097280" y="2194560"/>
            <a:ext cx="5120640" cy="1371600"/>
          </a:xfrm>
          <a:prstGeom prst="roundRect">
            <a:avLst>
              <a:gd name="adj" fmla="val 6667"/>
            </a:avLst>
          </a:prstGeom>
          <a:solidFill>
            <a:srgbClr val="1E2761"/>
          </a:solidFill>
          <a:ln/>
        </p:spPr>
      </p:sp>
      <p:sp>
        <p:nvSpPr>
          <p:cNvPr id="7" name="Text 5"/>
          <p:cNvSpPr/>
          <p:nvPr/>
        </p:nvSpPr>
        <p:spPr>
          <a:xfrm>
            <a:off x="1097280" y="2286000"/>
            <a:ext cx="512064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High-Level Module (H)</a:t>
            </a:r>
            <a:endParaRPr lang="en-US" sz="1400" dirty="0"/>
          </a:p>
        </p:txBody>
      </p:sp>
      <p:sp>
        <p:nvSpPr>
          <p:cNvPr id="8" name="Text 6"/>
          <p:cNvSpPr/>
          <p:nvPr/>
        </p:nvSpPr>
        <p:spPr>
          <a:xfrm>
            <a:off x="1097280" y="2697480"/>
            <a:ext cx="5120640" cy="548640"/>
          </a:xfrm>
          <a:prstGeom prst="rect">
            <a:avLst/>
          </a:prstGeom>
          <a:noFill/>
          <a:ln/>
        </p:spPr>
        <p:txBody>
          <a:bodyPr wrap="square" rtlCol="0" anchor="t"/>
          <a:lstStyle/>
          <a:p>
            <a:pPr algn="ctr" indent="0" marL="0">
              <a:buNone/>
            </a:pPr>
            <a:r>
              <a:rPr lang="en-US" sz="1100" dirty="0">
                <a:solidFill>
                  <a:srgbClr val="CADCFC"/>
                </a:solidFill>
                <a:latin typeface="Calibri" pitchFamily="34" charset="0"/>
                <a:ea typeface="Calibri" pitchFamily="34" charset="-122"/>
                <a:cs typeface="Calibri" pitchFamily="34" charset="-120"/>
              </a:rPr>
              <a:t>Slow, abstract planning — updates once per H-cycle</a:t>
            </a:r>
            <a:endParaRPr lang="en-US" sz="1100" dirty="0"/>
          </a:p>
        </p:txBody>
      </p:sp>
      <p:sp>
        <p:nvSpPr>
          <p:cNvPr id="9" name="Shape 7"/>
          <p:cNvSpPr/>
          <p:nvPr/>
        </p:nvSpPr>
        <p:spPr>
          <a:xfrm>
            <a:off x="3657600" y="3566160"/>
            <a:ext cx="0" cy="502920"/>
          </a:xfrm>
          <a:prstGeom prst="line">
            <a:avLst/>
          </a:prstGeom>
          <a:noFill/>
          <a:ln w="25400">
            <a:solidFill>
              <a:srgbClr val="2F6FED"/>
            </a:solidFill>
            <a:prstDash val="solid"/>
            <a:tailEnd type="triangle"/>
          </a:ln>
        </p:spPr>
      </p:sp>
      <p:sp>
        <p:nvSpPr>
          <p:cNvPr id="10" name="Shape 8"/>
          <p:cNvSpPr/>
          <p:nvPr/>
        </p:nvSpPr>
        <p:spPr>
          <a:xfrm>
            <a:off x="3017520" y="5166360"/>
            <a:ext cx="0" cy="502920"/>
          </a:xfrm>
          <a:prstGeom prst="line">
            <a:avLst/>
          </a:prstGeom>
          <a:noFill/>
          <a:ln w="25400">
            <a:solidFill>
              <a:srgbClr val="2F6FED"/>
            </a:solidFill>
            <a:prstDash val="solid"/>
            <a:headEnd type="triangle"/>
          </a:ln>
        </p:spPr>
      </p:sp>
      <p:sp>
        <p:nvSpPr>
          <p:cNvPr id="11" name="Shape 9"/>
          <p:cNvSpPr/>
          <p:nvPr/>
        </p:nvSpPr>
        <p:spPr>
          <a:xfrm>
            <a:off x="1097280" y="4069080"/>
            <a:ext cx="5120640" cy="1371600"/>
          </a:xfrm>
          <a:prstGeom prst="roundRect">
            <a:avLst>
              <a:gd name="adj" fmla="val 6667"/>
            </a:avLst>
          </a:prstGeom>
          <a:solidFill>
            <a:srgbClr val="2F6FED"/>
          </a:solidFill>
          <a:ln/>
        </p:spPr>
      </p:sp>
      <p:sp>
        <p:nvSpPr>
          <p:cNvPr id="12" name="Text 10"/>
          <p:cNvSpPr/>
          <p:nvPr/>
        </p:nvSpPr>
        <p:spPr>
          <a:xfrm>
            <a:off x="1097280" y="4160520"/>
            <a:ext cx="512064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Low-Level Module (L)</a:t>
            </a:r>
            <a:endParaRPr lang="en-US" sz="1400" dirty="0"/>
          </a:p>
        </p:txBody>
      </p:sp>
      <p:sp>
        <p:nvSpPr>
          <p:cNvPr id="13" name="Text 11"/>
          <p:cNvSpPr/>
          <p:nvPr/>
        </p:nvSpPr>
        <p:spPr>
          <a:xfrm>
            <a:off x="1097280" y="4572000"/>
            <a:ext cx="5120640" cy="548640"/>
          </a:xfrm>
          <a:prstGeom prst="rect">
            <a:avLst/>
          </a:prstGeom>
          <a:noFill/>
          <a:ln/>
        </p:spPr>
        <p:txBody>
          <a:bodyPr wrap="square"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Fast, detailed computation — many L-steps per H-cycle</a:t>
            </a:r>
            <a:endParaRPr lang="en-US" sz="1100" dirty="0"/>
          </a:p>
        </p:txBody>
      </p:sp>
      <p:sp>
        <p:nvSpPr>
          <p:cNvPr id="14" name="Text 12"/>
          <p:cNvSpPr/>
          <p:nvPr/>
        </p:nvSpPr>
        <p:spPr>
          <a:xfrm>
            <a:off x="960120" y="5532120"/>
            <a:ext cx="5486400" cy="914400"/>
          </a:xfrm>
          <a:prstGeom prst="rect">
            <a:avLst/>
          </a:prstGeom>
          <a:noFill/>
          <a:ln/>
        </p:spPr>
        <p:txBody>
          <a:bodyPr wrap="square" rtlCol="0" anchor="t"/>
          <a:lstStyle/>
          <a:p>
            <a:pPr indent="0" marL="0">
              <a:buNone/>
            </a:pPr>
            <a:r>
              <a:rPr lang="en-US" sz="1050" i="1" dirty="0">
                <a:solidFill>
                  <a:srgbClr val="5A6472"/>
                </a:solidFill>
                <a:latin typeface="Calibri" pitchFamily="34" charset="0"/>
                <a:ea typeface="Calibri" pitchFamily="34" charset="-122"/>
                <a:cs typeface="Calibri" pitchFamily="34" charset="-120"/>
              </a:rPr>
              <a:t>“Hierarchical convergence” — the L-module converges within each H-cycle before the H-module updates, giving effective computational depth in a single forward pass.</a:t>
            </a:r>
            <a:endParaRPr lang="en-US" sz="1050" dirty="0"/>
          </a:p>
        </p:txBody>
      </p:sp>
      <p:pic>
        <p:nvPicPr>
          <p:cNvPr id="15" name="Image 0" descr="/home/claude/icons_accent/trending.png">    </p:cNvPr>
          <p:cNvPicPr>
            <a:picLocks noChangeAspect="1"/>
          </p:cNvPicPr>
          <p:nvPr/>
        </p:nvPicPr>
        <p:blipFill>
          <a:blip r:embed="rId1"/>
          <a:stretch>
            <a:fillRect/>
          </a:stretch>
        </p:blipFill>
        <p:spPr>
          <a:xfrm>
            <a:off x="7040880" y="1874520"/>
            <a:ext cx="201168" cy="201168"/>
          </a:xfrm>
          <a:prstGeom prst="rect">
            <a:avLst/>
          </a:prstGeom>
        </p:spPr>
      </p:pic>
      <p:sp>
        <p:nvSpPr>
          <p:cNvPr id="16" name="Text 13"/>
          <p:cNvSpPr/>
          <p:nvPr/>
        </p:nvSpPr>
        <p:spPr>
          <a:xfrm>
            <a:off x="7360920" y="1801368"/>
            <a:ext cx="4206240" cy="594360"/>
          </a:xfrm>
          <a:prstGeom prst="rect">
            <a:avLst/>
          </a:prstGeom>
          <a:noFill/>
          <a:ln/>
        </p:spPr>
        <p:txBody>
          <a:bodyPr wrap="square" rtlCol="0" anchor="t"/>
          <a:lstStyle/>
          <a:p>
            <a:pPr indent="0" marL="0">
              <a:buNone/>
            </a:pPr>
            <a:r>
              <a:rPr lang="en-US" sz="1250" dirty="0">
                <a:solidFill>
                  <a:srgbClr val="2A2E35"/>
                </a:solidFill>
                <a:latin typeface="Calibri" pitchFamily="34" charset="0"/>
                <a:ea typeface="Calibri" pitchFamily="34" charset="-122"/>
                <a:cs typeface="Calibri" pitchFamily="34" charset="-120"/>
              </a:rPr>
              <a:t>Single forward pass, no explicit CoT supervision needed</a:t>
            </a:r>
            <a:endParaRPr lang="en-US" sz="1250" dirty="0"/>
          </a:p>
        </p:txBody>
      </p:sp>
      <p:pic>
        <p:nvPicPr>
          <p:cNvPr id="17" name="Image 1" descr="/home/claude/icons_accent/trending.png">    </p:cNvPr>
          <p:cNvPicPr>
            <a:picLocks noChangeAspect="1"/>
          </p:cNvPicPr>
          <p:nvPr/>
        </p:nvPicPr>
        <p:blipFill>
          <a:blip r:embed="rId2"/>
          <a:stretch>
            <a:fillRect/>
          </a:stretch>
        </p:blipFill>
        <p:spPr>
          <a:xfrm>
            <a:off x="7040880" y="2651760"/>
            <a:ext cx="201168" cy="201168"/>
          </a:xfrm>
          <a:prstGeom prst="rect">
            <a:avLst/>
          </a:prstGeom>
        </p:spPr>
      </p:pic>
      <p:sp>
        <p:nvSpPr>
          <p:cNvPr id="18" name="Text 14"/>
          <p:cNvSpPr/>
          <p:nvPr/>
        </p:nvSpPr>
        <p:spPr>
          <a:xfrm>
            <a:off x="7360920" y="2578608"/>
            <a:ext cx="4206240" cy="594360"/>
          </a:xfrm>
          <a:prstGeom prst="rect">
            <a:avLst/>
          </a:prstGeom>
          <a:noFill/>
          <a:ln/>
        </p:spPr>
        <p:txBody>
          <a:bodyPr wrap="square" rtlCol="0" anchor="t"/>
          <a:lstStyle/>
          <a:p>
            <a:pPr indent="0" marL="0">
              <a:buNone/>
            </a:pPr>
            <a:r>
              <a:rPr lang="en-US" sz="1250" dirty="0">
                <a:solidFill>
                  <a:srgbClr val="2A2E35"/>
                </a:solidFill>
                <a:latin typeface="Calibri" pitchFamily="34" charset="0"/>
                <a:ea typeface="Calibri" pitchFamily="34" charset="-122"/>
                <a:cs typeface="Calibri" pitchFamily="34" charset="-120"/>
              </a:rPr>
              <a:t>Trained via one-step gradient approximation (avoids full BPTT)</a:t>
            </a:r>
            <a:endParaRPr lang="en-US" sz="1250" dirty="0"/>
          </a:p>
        </p:txBody>
      </p:sp>
      <p:pic>
        <p:nvPicPr>
          <p:cNvPr id="19" name="Image 2" descr="/home/claude/icons_accent/trending.png">    </p:cNvPr>
          <p:cNvPicPr>
            <a:picLocks noChangeAspect="1"/>
          </p:cNvPicPr>
          <p:nvPr/>
        </p:nvPicPr>
        <p:blipFill>
          <a:blip r:embed="rId3"/>
          <a:stretch>
            <a:fillRect/>
          </a:stretch>
        </p:blipFill>
        <p:spPr>
          <a:xfrm>
            <a:off x="7040880" y="3429000"/>
            <a:ext cx="201168" cy="201168"/>
          </a:xfrm>
          <a:prstGeom prst="rect">
            <a:avLst/>
          </a:prstGeom>
        </p:spPr>
      </p:pic>
      <p:sp>
        <p:nvSpPr>
          <p:cNvPr id="20" name="Text 15"/>
          <p:cNvSpPr/>
          <p:nvPr/>
        </p:nvSpPr>
        <p:spPr>
          <a:xfrm>
            <a:off x="7360920" y="3355848"/>
            <a:ext cx="4206240" cy="594360"/>
          </a:xfrm>
          <a:prstGeom prst="rect">
            <a:avLst/>
          </a:prstGeom>
          <a:noFill/>
          <a:ln/>
        </p:spPr>
        <p:txBody>
          <a:bodyPr wrap="square" rtlCol="0" anchor="t"/>
          <a:lstStyle/>
          <a:p>
            <a:pPr indent="0" marL="0">
              <a:buNone/>
            </a:pPr>
            <a:r>
              <a:rPr lang="en-US" sz="1250" dirty="0">
                <a:solidFill>
                  <a:srgbClr val="2A2E35"/>
                </a:solidFill>
                <a:latin typeface="Calibri" pitchFamily="34" charset="0"/>
                <a:ea typeface="Calibri" pitchFamily="34" charset="-122"/>
                <a:cs typeface="Calibri" pitchFamily="34" charset="-120"/>
              </a:rPr>
              <a:t>Adaptive Computational Time (ACT) allocates extra cycles to harder inputs</a:t>
            </a:r>
            <a:endParaRPr lang="en-US" sz="1250" dirty="0"/>
          </a:p>
        </p:txBody>
      </p:sp>
      <p:pic>
        <p:nvPicPr>
          <p:cNvPr id="21" name="Image 3" descr="/home/claude/icons_accent/trending.png">    </p:cNvPr>
          <p:cNvPicPr>
            <a:picLocks noChangeAspect="1"/>
          </p:cNvPicPr>
          <p:nvPr/>
        </p:nvPicPr>
        <p:blipFill>
          <a:blip r:embed="rId4"/>
          <a:stretch>
            <a:fillRect/>
          </a:stretch>
        </p:blipFill>
        <p:spPr>
          <a:xfrm>
            <a:off x="7040880" y="4206240"/>
            <a:ext cx="201168" cy="201168"/>
          </a:xfrm>
          <a:prstGeom prst="rect">
            <a:avLst/>
          </a:prstGeom>
        </p:spPr>
      </p:pic>
      <p:sp>
        <p:nvSpPr>
          <p:cNvPr id="22" name="Text 16"/>
          <p:cNvSpPr/>
          <p:nvPr/>
        </p:nvSpPr>
        <p:spPr>
          <a:xfrm>
            <a:off x="7360920" y="4133088"/>
            <a:ext cx="4206240" cy="594360"/>
          </a:xfrm>
          <a:prstGeom prst="rect">
            <a:avLst/>
          </a:prstGeom>
          <a:noFill/>
          <a:ln/>
        </p:spPr>
        <p:txBody>
          <a:bodyPr wrap="square" rtlCol="0" anchor="t"/>
          <a:lstStyle/>
          <a:p>
            <a:pPr indent="0" marL="0">
              <a:buNone/>
            </a:pPr>
            <a:r>
              <a:rPr lang="en-US" sz="1250" dirty="0">
                <a:solidFill>
                  <a:srgbClr val="2A2E35"/>
                </a:solidFill>
                <a:latin typeface="Calibri" pitchFamily="34" charset="0"/>
                <a:ea typeface="Calibri" pitchFamily="34" charset="-122"/>
                <a:cs typeface="Calibri" pitchFamily="34" charset="-120"/>
              </a:rPr>
              <a:t>27M parameters; strong results with ~1,000 training examples</a:t>
            </a:r>
            <a:endParaRPr lang="en-US" sz="1250" dirty="0"/>
          </a:p>
        </p:txBody>
      </p:sp>
      <p:sp>
        <p:nvSpPr>
          <p:cNvPr id="23" name="Shape 17"/>
          <p:cNvSpPr/>
          <p:nvPr/>
        </p:nvSpPr>
        <p:spPr>
          <a:xfrm>
            <a:off x="7040880" y="5029200"/>
            <a:ext cx="4526280" cy="777240"/>
          </a:xfrm>
          <a:prstGeom prst="roundRect">
            <a:avLst>
              <a:gd name="adj" fmla="val 9412"/>
            </a:avLst>
          </a:prstGeom>
          <a:solidFill>
            <a:srgbClr val="EAF0FE"/>
          </a:solidFill>
          <a:ln/>
        </p:spPr>
      </p:sp>
      <p:sp>
        <p:nvSpPr>
          <p:cNvPr id="24" name="Text 18"/>
          <p:cNvSpPr/>
          <p:nvPr/>
        </p:nvSpPr>
        <p:spPr>
          <a:xfrm>
            <a:off x="7223760" y="5102352"/>
            <a:ext cx="4206240" cy="640080"/>
          </a:xfrm>
          <a:prstGeom prst="rect">
            <a:avLst/>
          </a:prstGeom>
          <a:noFill/>
          <a:ln/>
        </p:spPr>
        <p:txBody>
          <a:bodyPr wrap="square" rtlCol="0" anchor="ctr"/>
          <a:lstStyle/>
          <a:p>
            <a:pPr indent="0" marL="0">
              <a:buNone/>
            </a:pPr>
            <a:r>
              <a:rPr lang="en-US" sz="1150" dirty="0">
                <a:solidFill>
                  <a:srgbClr val="1E2761"/>
                </a:solidFill>
                <a:latin typeface="Calibri" pitchFamily="34" charset="0"/>
                <a:ea typeface="Calibri" pitchFamily="34" charset="-122"/>
                <a:cs typeface="Calibri" pitchFamily="34" charset="-120"/>
              </a:rPr>
              <a:t>Advantage: strong reasoning depth from a tiny model on structured puzzle tasks, without pretraining or CoT data.</a:t>
            </a:r>
            <a:endParaRPr lang="en-US" sz="1150" dirty="0"/>
          </a:p>
        </p:txBody>
      </p:sp>
      <p:sp>
        <p:nvSpPr>
          <p:cNvPr id="25" name="Text 19"/>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2F6FED"/>
                </a:solidFill>
                <a:latin typeface="Calibri" pitchFamily="34" charset="0"/>
                <a:ea typeface="Calibri" pitchFamily="34" charset="-122"/>
                <a:cs typeface="Calibri" pitchFamily="34" charset="-120"/>
              </a:rPr>
              <a:t>ARCHITECTURE</a:t>
            </a:r>
            <a:endParaRPr lang="en-US" sz="1200" dirty="0"/>
          </a:p>
        </p:txBody>
      </p:sp>
      <p:sp>
        <p:nvSpPr>
          <p:cNvPr id="3" name="Text 1"/>
          <p:cNvSpPr/>
          <p:nvPr/>
        </p:nvSpPr>
        <p:spPr>
          <a:xfrm>
            <a:off x="548640" y="658368"/>
            <a:ext cx="11064240" cy="68580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Tiny Recursive Model (TRM)</a:t>
            </a:r>
            <a:endParaRPr lang="en-US" sz="3000" dirty="0"/>
          </a:p>
        </p:txBody>
      </p:sp>
      <p:sp>
        <p:nvSpPr>
          <p:cNvPr id="4" name="Text 2"/>
          <p:cNvSpPr/>
          <p:nvPr/>
        </p:nvSpPr>
        <p:spPr>
          <a:xfrm>
            <a:off x="548640" y="1280160"/>
            <a:ext cx="9144000" cy="274320"/>
          </a:xfrm>
          <a:prstGeom prst="rect">
            <a:avLst/>
          </a:prstGeom>
          <a:noFill/>
          <a:ln/>
        </p:spPr>
        <p:txBody>
          <a:bodyPr wrap="square" rtlCol="0" anchor="ctr"/>
          <a:lstStyle/>
          <a:p>
            <a:pPr indent="0" marL="0">
              <a:buNone/>
            </a:pPr>
            <a:r>
              <a:rPr lang="en-US" sz="1100" i="1" dirty="0">
                <a:solidFill>
                  <a:srgbClr val="5A6472"/>
                </a:solidFill>
                <a:latin typeface="Calibri" pitchFamily="34" charset="0"/>
                <a:ea typeface="Calibri" pitchFamily="34" charset="-122"/>
                <a:cs typeface="Calibri" pitchFamily="34" charset="-120"/>
              </a:rPr>
              <a:t>Jolicoeur-Martineau, “Less is More: Recursive Reasoning with Tiny Networks,” arXiv:2510.04871 (2025)</a:t>
            </a:r>
            <a:endParaRPr lang="en-US" sz="1100" dirty="0"/>
          </a:p>
        </p:txBody>
      </p:sp>
      <p:sp>
        <p:nvSpPr>
          <p:cNvPr id="5" name="Shape 3"/>
          <p:cNvSpPr/>
          <p:nvPr/>
        </p:nvSpPr>
        <p:spPr>
          <a:xfrm>
            <a:off x="640080" y="1828800"/>
            <a:ext cx="5303520" cy="3931920"/>
          </a:xfrm>
          <a:prstGeom prst="roundRect">
            <a:avLst>
              <a:gd name="adj" fmla="val 2791"/>
            </a:avLst>
          </a:prstGeom>
          <a:solidFill>
            <a:srgbClr val="F4F6FB"/>
          </a:solidFill>
          <a:ln w="12700">
            <a:solidFill>
              <a:srgbClr val="D7DEEC"/>
            </a:solidFill>
            <a:prstDash val="solid"/>
          </a:ln>
        </p:spPr>
      </p:sp>
      <p:sp>
        <p:nvSpPr>
          <p:cNvPr id="6" name="Shape 4"/>
          <p:cNvSpPr/>
          <p:nvPr/>
        </p:nvSpPr>
        <p:spPr>
          <a:xfrm>
            <a:off x="1005840" y="2148840"/>
            <a:ext cx="4480560" cy="685800"/>
          </a:xfrm>
          <a:prstGeom prst="roundRect">
            <a:avLst>
              <a:gd name="adj" fmla="val 10667"/>
            </a:avLst>
          </a:prstGeom>
          <a:solidFill>
            <a:srgbClr val="FFFFFF"/>
          </a:solidFill>
          <a:ln w="15875">
            <a:solidFill>
              <a:srgbClr val="1E9E7A"/>
            </a:solidFill>
            <a:prstDash val="solid"/>
          </a:ln>
        </p:spPr>
      </p:sp>
      <p:sp>
        <p:nvSpPr>
          <p:cNvPr id="7" name="Text 5"/>
          <p:cNvSpPr/>
          <p:nvPr/>
        </p:nvSpPr>
        <p:spPr>
          <a:xfrm>
            <a:off x="1005840" y="2148840"/>
            <a:ext cx="4480560" cy="685800"/>
          </a:xfrm>
          <a:prstGeom prst="rect">
            <a:avLst/>
          </a:prstGeom>
          <a:noFill/>
          <a:ln/>
        </p:spPr>
        <p:txBody>
          <a:bodyPr wrap="square" rtlCol="0" anchor="ctr"/>
          <a:lstStyle/>
          <a:p>
            <a:pPr algn="ctr" indent="0" marL="0">
              <a:buNone/>
            </a:pPr>
            <a:r>
              <a:rPr lang="en-US" sz="1250" dirty="0">
                <a:solidFill>
                  <a:srgbClr val="1E2761"/>
                </a:solidFill>
                <a:latin typeface="Calibri" pitchFamily="34" charset="0"/>
                <a:ea typeface="Calibri" pitchFamily="34" charset="-122"/>
                <a:cs typeface="Calibri" pitchFamily="34" charset="-120"/>
              </a:rPr>
              <a:t>Input: question x, latent z, answer y</a:t>
            </a:r>
            <a:endParaRPr lang="en-US" sz="1250" dirty="0"/>
          </a:p>
        </p:txBody>
      </p:sp>
      <p:sp>
        <p:nvSpPr>
          <p:cNvPr id="8" name="Shape 6"/>
          <p:cNvSpPr/>
          <p:nvPr/>
        </p:nvSpPr>
        <p:spPr>
          <a:xfrm>
            <a:off x="3246120" y="2834640"/>
            <a:ext cx="0" cy="411480"/>
          </a:xfrm>
          <a:prstGeom prst="line">
            <a:avLst/>
          </a:prstGeom>
          <a:noFill/>
          <a:ln w="19050">
            <a:solidFill>
              <a:srgbClr val="5A6472"/>
            </a:solidFill>
            <a:prstDash val="solid"/>
            <a:tailEnd type="triangle"/>
          </a:ln>
        </p:spPr>
      </p:sp>
      <p:sp>
        <p:nvSpPr>
          <p:cNvPr id="9" name="Shape 7"/>
          <p:cNvSpPr/>
          <p:nvPr/>
        </p:nvSpPr>
        <p:spPr>
          <a:xfrm>
            <a:off x="1463040" y="3246120"/>
            <a:ext cx="3566160" cy="960120"/>
          </a:xfrm>
          <a:prstGeom prst="roundRect">
            <a:avLst>
              <a:gd name="adj" fmla="val 9524"/>
            </a:avLst>
          </a:prstGeom>
          <a:solidFill>
            <a:srgbClr val="1E9E7A"/>
          </a:solidFill>
          <a:ln/>
        </p:spPr>
      </p:sp>
      <p:sp>
        <p:nvSpPr>
          <p:cNvPr id="10" name="Text 8"/>
          <p:cNvSpPr/>
          <p:nvPr/>
        </p:nvSpPr>
        <p:spPr>
          <a:xfrm>
            <a:off x="1463040" y="3246120"/>
            <a:ext cx="3566160" cy="9601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Tiny Network (2 layers)</a:t>
            </a:r>
            <a:endParaRPr lang="en-US" sz="1400" dirty="0"/>
          </a:p>
        </p:txBody>
      </p:sp>
      <p:sp>
        <p:nvSpPr>
          <p:cNvPr id="11" name="Shape 9"/>
          <p:cNvSpPr/>
          <p:nvPr/>
        </p:nvSpPr>
        <p:spPr>
          <a:xfrm>
            <a:off x="3246120" y="4206240"/>
            <a:ext cx="0" cy="411480"/>
          </a:xfrm>
          <a:prstGeom prst="line">
            <a:avLst/>
          </a:prstGeom>
          <a:noFill/>
          <a:ln w="19050">
            <a:solidFill>
              <a:srgbClr val="5A6472"/>
            </a:solidFill>
            <a:prstDash val="solid"/>
            <a:tailEnd type="triangle"/>
          </a:ln>
        </p:spPr>
      </p:sp>
      <p:sp>
        <p:nvSpPr>
          <p:cNvPr id="12" name="Shape 10"/>
          <p:cNvSpPr/>
          <p:nvPr/>
        </p:nvSpPr>
        <p:spPr>
          <a:xfrm>
            <a:off x="1005840" y="4617720"/>
            <a:ext cx="4480560" cy="685800"/>
          </a:xfrm>
          <a:prstGeom prst="roundRect">
            <a:avLst>
              <a:gd name="adj" fmla="val 10667"/>
            </a:avLst>
          </a:prstGeom>
          <a:solidFill>
            <a:srgbClr val="FFFFFF"/>
          </a:solidFill>
          <a:ln w="15875">
            <a:solidFill>
              <a:srgbClr val="1E9E7A"/>
            </a:solidFill>
            <a:prstDash val="solid"/>
          </a:ln>
        </p:spPr>
      </p:sp>
      <p:sp>
        <p:nvSpPr>
          <p:cNvPr id="13" name="Text 11"/>
          <p:cNvSpPr/>
          <p:nvPr/>
        </p:nvSpPr>
        <p:spPr>
          <a:xfrm>
            <a:off x="1005840" y="4617720"/>
            <a:ext cx="4480560" cy="685800"/>
          </a:xfrm>
          <a:prstGeom prst="rect">
            <a:avLst/>
          </a:prstGeom>
          <a:noFill/>
          <a:ln/>
        </p:spPr>
        <p:txBody>
          <a:bodyPr wrap="square" rtlCol="0" anchor="ctr"/>
          <a:lstStyle/>
          <a:p>
            <a:pPr algn="ctr" indent="0" marL="0">
              <a:buNone/>
            </a:pPr>
            <a:r>
              <a:rPr lang="en-US" sz="1250" dirty="0">
                <a:solidFill>
                  <a:srgbClr val="1E2761"/>
                </a:solidFill>
                <a:latin typeface="Calibri" pitchFamily="34" charset="0"/>
                <a:ea typeface="Calibri" pitchFamily="34" charset="-122"/>
                <a:cs typeface="Calibri" pitchFamily="34" charset="-120"/>
              </a:rPr>
              <a:t>Updated latent z and answer y</a:t>
            </a:r>
            <a:endParaRPr lang="en-US" sz="1250" dirty="0"/>
          </a:p>
        </p:txBody>
      </p:sp>
      <p:sp>
        <p:nvSpPr>
          <p:cNvPr id="14" name="Shape 12"/>
          <p:cNvSpPr/>
          <p:nvPr/>
        </p:nvSpPr>
        <p:spPr>
          <a:xfrm>
            <a:off x="5532120" y="4937760"/>
            <a:ext cx="502920" cy="0"/>
          </a:xfrm>
          <a:prstGeom prst="line">
            <a:avLst/>
          </a:prstGeom>
          <a:noFill/>
          <a:ln w="19050">
            <a:solidFill>
              <a:srgbClr val="5A6472"/>
            </a:solidFill>
            <a:prstDash val="solid"/>
          </a:ln>
        </p:spPr>
      </p:sp>
      <p:sp>
        <p:nvSpPr>
          <p:cNvPr id="15" name="Shape 13"/>
          <p:cNvSpPr/>
          <p:nvPr/>
        </p:nvSpPr>
        <p:spPr>
          <a:xfrm>
            <a:off x="6035040" y="2468880"/>
            <a:ext cx="0" cy="2468880"/>
          </a:xfrm>
          <a:prstGeom prst="line">
            <a:avLst/>
          </a:prstGeom>
          <a:noFill/>
          <a:ln w="19050">
            <a:solidFill>
              <a:srgbClr val="5A6472"/>
            </a:solidFill>
            <a:prstDash val="solid"/>
          </a:ln>
        </p:spPr>
      </p:sp>
      <p:sp>
        <p:nvSpPr>
          <p:cNvPr id="16" name="Shape 14"/>
          <p:cNvSpPr/>
          <p:nvPr/>
        </p:nvSpPr>
        <p:spPr>
          <a:xfrm>
            <a:off x="5532120" y="2468880"/>
            <a:ext cx="502920" cy="0"/>
          </a:xfrm>
          <a:prstGeom prst="line">
            <a:avLst/>
          </a:prstGeom>
          <a:noFill/>
          <a:ln w="19050">
            <a:solidFill>
              <a:srgbClr val="5A6472"/>
            </a:solidFill>
            <a:prstDash val="solid"/>
            <a:tailEnd type="triangle"/>
          </a:ln>
        </p:spPr>
      </p:sp>
      <p:sp>
        <p:nvSpPr>
          <p:cNvPr id="17" name="Text 15"/>
          <p:cNvSpPr/>
          <p:nvPr/>
        </p:nvSpPr>
        <p:spPr>
          <a:xfrm>
            <a:off x="5623560" y="3429000"/>
            <a:ext cx="822960" cy="822960"/>
          </a:xfrm>
          <a:prstGeom prst="rect">
            <a:avLst/>
          </a:prstGeom>
          <a:noFill/>
          <a:ln/>
        </p:spPr>
        <p:txBody>
          <a:bodyPr wrap="square"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recurse</a:t>
            </a:r>
            <a:endParaRPr lang="en-US" sz="950" dirty="0"/>
          </a:p>
        </p:txBody>
      </p:sp>
      <p:sp>
        <p:nvSpPr>
          <p:cNvPr id="18" name="Text 16"/>
          <p:cNvSpPr/>
          <p:nvPr/>
        </p:nvSpPr>
        <p:spPr>
          <a:xfrm>
            <a:off x="1005840" y="5440680"/>
            <a:ext cx="4480560" cy="548640"/>
          </a:xfrm>
          <a:prstGeom prst="rect">
            <a:avLst/>
          </a:prstGeom>
          <a:noFill/>
          <a:ln/>
        </p:spPr>
        <p:txBody>
          <a:bodyPr wrap="square" rtlCol="0" anchor="t"/>
          <a:lstStyle/>
          <a:p>
            <a:pPr algn="ctr" indent="0" marL="0">
              <a:buNone/>
            </a:pPr>
            <a:r>
              <a:rPr lang="en-US" sz="1000" i="1" dirty="0">
                <a:solidFill>
                  <a:srgbClr val="5A6472"/>
                </a:solidFill>
                <a:latin typeface="Calibri" pitchFamily="34" charset="0"/>
                <a:ea typeface="Calibri" pitchFamily="34" charset="-122"/>
                <a:cs typeface="Calibri" pitchFamily="34" charset="-120"/>
              </a:rPr>
              <a:t>Repeats for up to N_sup improvement steps at inference — this is the model's test-time compute.</a:t>
            </a:r>
            <a:endParaRPr lang="en-US" sz="1000" dirty="0"/>
          </a:p>
        </p:txBody>
      </p:sp>
      <p:pic>
        <p:nvPicPr>
          <p:cNvPr id="19" name="Image 0" descr="/home/claude/icons_accent/refresh.png">    </p:cNvPr>
          <p:cNvPicPr>
            <a:picLocks noChangeAspect="1"/>
          </p:cNvPicPr>
          <p:nvPr/>
        </p:nvPicPr>
        <p:blipFill>
          <a:blip r:embed="rId1"/>
          <a:stretch>
            <a:fillRect/>
          </a:stretch>
        </p:blipFill>
        <p:spPr>
          <a:xfrm>
            <a:off x="6400800" y="1920240"/>
            <a:ext cx="201168" cy="201168"/>
          </a:xfrm>
          <a:prstGeom prst="rect">
            <a:avLst/>
          </a:prstGeom>
        </p:spPr>
      </p:pic>
      <p:sp>
        <p:nvSpPr>
          <p:cNvPr id="20" name="Text 17"/>
          <p:cNvSpPr/>
          <p:nvPr/>
        </p:nvSpPr>
        <p:spPr>
          <a:xfrm>
            <a:off x="6720840" y="1847088"/>
            <a:ext cx="4892040" cy="594360"/>
          </a:xfrm>
          <a:prstGeom prst="rect">
            <a:avLst/>
          </a:prstGeom>
          <a:noFill/>
          <a:ln/>
        </p:spPr>
        <p:txBody>
          <a:bodyPr wrap="square" rtlCol="0" anchor="t"/>
          <a:lstStyle/>
          <a:p>
            <a:pPr indent="0" marL="0">
              <a:buNone/>
            </a:pPr>
            <a:r>
              <a:rPr lang="en-US" sz="1250" dirty="0">
                <a:solidFill>
                  <a:srgbClr val="2A2E35"/>
                </a:solidFill>
                <a:latin typeface="Calibri" pitchFamily="34" charset="0"/>
                <a:ea typeface="Calibri" pitchFamily="34" charset="-122"/>
                <a:cs typeface="Calibri" pitchFamily="34" charset="-120"/>
              </a:rPr>
              <a:t>Single tiny network (2 layers) replaces HRM's two separate modules</a:t>
            </a:r>
            <a:endParaRPr lang="en-US" sz="1250" dirty="0"/>
          </a:p>
        </p:txBody>
      </p:sp>
      <p:pic>
        <p:nvPicPr>
          <p:cNvPr id="21" name="Image 1" descr="/home/claude/icons_accent/refresh.png">    </p:cNvPr>
          <p:cNvPicPr>
            <a:picLocks noChangeAspect="1"/>
          </p:cNvPicPr>
          <p:nvPr/>
        </p:nvPicPr>
        <p:blipFill>
          <a:blip r:embed="rId2"/>
          <a:stretch>
            <a:fillRect/>
          </a:stretch>
        </p:blipFill>
        <p:spPr>
          <a:xfrm>
            <a:off x="6400800" y="2697480"/>
            <a:ext cx="201168" cy="201168"/>
          </a:xfrm>
          <a:prstGeom prst="rect">
            <a:avLst/>
          </a:prstGeom>
        </p:spPr>
      </p:pic>
      <p:sp>
        <p:nvSpPr>
          <p:cNvPr id="22" name="Text 18"/>
          <p:cNvSpPr/>
          <p:nvPr/>
        </p:nvSpPr>
        <p:spPr>
          <a:xfrm>
            <a:off x="6720840" y="2624328"/>
            <a:ext cx="4892040" cy="594360"/>
          </a:xfrm>
          <a:prstGeom prst="rect">
            <a:avLst/>
          </a:prstGeom>
          <a:noFill/>
          <a:ln/>
        </p:spPr>
        <p:txBody>
          <a:bodyPr wrap="square" rtlCol="0" anchor="t"/>
          <a:lstStyle/>
          <a:p>
            <a:pPr indent="0" marL="0">
              <a:buNone/>
            </a:pPr>
            <a:r>
              <a:rPr lang="en-US" sz="1250" dirty="0">
                <a:solidFill>
                  <a:srgbClr val="2A2E35"/>
                </a:solidFill>
                <a:latin typeface="Calibri" pitchFamily="34" charset="0"/>
                <a:ea typeface="Calibri" pitchFamily="34" charset="-122"/>
                <a:cs typeface="Calibri" pitchFamily="34" charset="-120"/>
              </a:rPr>
              <a:t>Recursively refines its own latent state and answer over improvement steps</a:t>
            </a:r>
            <a:endParaRPr lang="en-US" sz="1250" dirty="0"/>
          </a:p>
        </p:txBody>
      </p:sp>
      <p:pic>
        <p:nvPicPr>
          <p:cNvPr id="23" name="Image 2" descr="/home/claude/icons_accent/refresh.png">    </p:cNvPr>
          <p:cNvPicPr>
            <a:picLocks noChangeAspect="1"/>
          </p:cNvPicPr>
          <p:nvPr/>
        </p:nvPicPr>
        <p:blipFill>
          <a:blip r:embed="rId3"/>
          <a:stretch>
            <a:fillRect/>
          </a:stretch>
        </p:blipFill>
        <p:spPr>
          <a:xfrm>
            <a:off x="6400800" y="3474720"/>
            <a:ext cx="201168" cy="201168"/>
          </a:xfrm>
          <a:prstGeom prst="rect">
            <a:avLst/>
          </a:prstGeom>
        </p:spPr>
      </p:pic>
      <p:sp>
        <p:nvSpPr>
          <p:cNvPr id="24" name="Text 19"/>
          <p:cNvSpPr/>
          <p:nvPr/>
        </p:nvSpPr>
        <p:spPr>
          <a:xfrm>
            <a:off x="6720840" y="3401568"/>
            <a:ext cx="4892040" cy="594360"/>
          </a:xfrm>
          <a:prstGeom prst="rect">
            <a:avLst/>
          </a:prstGeom>
          <a:noFill/>
          <a:ln/>
        </p:spPr>
        <p:txBody>
          <a:bodyPr wrap="square" rtlCol="0" anchor="t"/>
          <a:lstStyle/>
          <a:p>
            <a:pPr indent="0" marL="0">
              <a:buNone/>
            </a:pPr>
            <a:r>
              <a:rPr lang="en-US" sz="1250" dirty="0">
                <a:solidFill>
                  <a:srgbClr val="2A2E35"/>
                </a:solidFill>
                <a:latin typeface="Calibri" pitchFamily="34" charset="0"/>
                <a:ea typeface="Calibri" pitchFamily="34" charset="-122"/>
                <a:cs typeface="Calibri" pitchFamily="34" charset="-120"/>
              </a:rPr>
              <a:t>No fixed-point theorem or biological argument required — a simplification of HRM</a:t>
            </a:r>
            <a:endParaRPr lang="en-US" sz="1250" dirty="0"/>
          </a:p>
        </p:txBody>
      </p:sp>
      <p:pic>
        <p:nvPicPr>
          <p:cNvPr id="25" name="Image 3" descr="/home/claude/icons_accent/refresh.png">    </p:cNvPr>
          <p:cNvPicPr>
            <a:picLocks noChangeAspect="1"/>
          </p:cNvPicPr>
          <p:nvPr/>
        </p:nvPicPr>
        <p:blipFill>
          <a:blip r:embed="rId4"/>
          <a:stretch>
            <a:fillRect/>
          </a:stretch>
        </p:blipFill>
        <p:spPr>
          <a:xfrm>
            <a:off x="6400800" y="4251960"/>
            <a:ext cx="201168" cy="201168"/>
          </a:xfrm>
          <a:prstGeom prst="rect">
            <a:avLst/>
          </a:prstGeom>
        </p:spPr>
      </p:pic>
      <p:sp>
        <p:nvSpPr>
          <p:cNvPr id="26" name="Text 20"/>
          <p:cNvSpPr/>
          <p:nvPr/>
        </p:nvSpPr>
        <p:spPr>
          <a:xfrm>
            <a:off x="6720840" y="4178808"/>
            <a:ext cx="4892040" cy="594360"/>
          </a:xfrm>
          <a:prstGeom prst="rect">
            <a:avLst/>
          </a:prstGeom>
          <a:noFill/>
          <a:ln/>
        </p:spPr>
        <p:txBody>
          <a:bodyPr wrap="square" rtlCol="0" anchor="t"/>
          <a:lstStyle/>
          <a:p>
            <a:pPr indent="0" marL="0">
              <a:buNone/>
            </a:pPr>
            <a:r>
              <a:rPr lang="en-US" sz="1250" dirty="0">
                <a:solidFill>
                  <a:srgbClr val="2A2E35"/>
                </a:solidFill>
                <a:latin typeface="Calibri" pitchFamily="34" charset="0"/>
                <a:ea typeface="Calibri" pitchFamily="34" charset="-122"/>
                <a:cs typeface="Calibri" pitchFamily="34" charset="-120"/>
              </a:rPr>
              <a:t>Test-time compute: more recursive steps trade compute for accuracy</a:t>
            </a:r>
            <a:endParaRPr lang="en-US" sz="1250" dirty="0"/>
          </a:p>
        </p:txBody>
      </p:sp>
      <p:sp>
        <p:nvSpPr>
          <p:cNvPr id="27" name="Shape 21"/>
          <p:cNvSpPr/>
          <p:nvPr/>
        </p:nvSpPr>
        <p:spPr>
          <a:xfrm>
            <a:off x="6400800" y="4983480"/>
            <a:ext cx="4846320" cy="960120"/>
          </a:xfrm>
          <a:prstGeom prst="roundRect">
            <a:avLst>
              <a:gd name="adj" fmla="val 7619"/>
            </a:avLst>
          </a:prstGeom>
          <a:solidFill>
            <a:srgbClr val="E7F7F1"/>
          </a:solidFill>
          <a:ln/>
        </p:spPr>
      </p:sp>
      <p:sp>
        <p:nvSpPr>
          <p:cNvPr id="28" name="Text 22"/>
          <p:cNvSpPr/>
          <p:nvPr/>
        </p:nvSpPr>
        <p:spPr>
          <a:xfrm>
            <a:off x="6583680" y="5056632"/>
            <a:ext cx="4526280" cy="841248"/>
          </a:xfrm>
          <a:prstGeom prst="rect">
            <a:avLst/>
          </a:prstGeom>
          <a:noFill/>
          <a:ln/>
        </p:spPr>
        <p:txBody>
          <a:bodyPr wrap="square" rtlCol="0" anchor="ctr"/>
          <a:lstStyle/>
          <a:p>
            <a:pPr indent="0" marL="0">
              <a:buNone/>
            </a:pPr>
            <a:r>
              <a:rPr lang="en-US" sz="1050" b="1" dirty="0">
                <a:solidFill>
                  <a:srgbClr val="1E9E7A"/>
                </a:solidFill>
                <a:latin typeface="Calibri" pitchFamily="34" charset="0"/>
                <a:ea typeface="Calibri" pitchFamily="34" charset="-122"/>
                <a:cs typeface="Calibri" pitchFamily="34" charset="-120"/>
              </a:rPr>
              <a:t>On specific structured reasoning benchmarks (ARC-AGI), published TRM results exceed the reported scores of several much larger LLMs — using well under 0.01% of their parameters. This does not indicate general language superiority.</a:t>
            </a:r>
            <a:endParaRPr lang="en-US" sz="1050" dirty="0"/>
          </a:p>
        </p:txBody>
      </p:sp>
      <p:sp>
        <p:nvSpPr>
          <p:cNvPr id="29" name="Text 23"/>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2F6FED"/>
                </a:solidFill>
                <a:latin typeface="Calibri" pitchFamily="34" charset="0"/>
                <a:ea typeface="Calibri" pitchFamily="34" charset="-122"/>
                <a:cs typeface="Calibri" pitchFamily="34" charset="-120"/>
              </a:rPr>
              <a:t>COMPARISON</a:t>
            </a:r>
            <a:endParaRPr lang="en-US" sz="1200" dirty="0"/>
          </a:p>
        </p:txBody>
      </p:sp>
      <p:sp>
        <p:nvSpPr>
          <p:cNvPr id="3" name="Text 1"/>
          <p:cNvSpPr/>
          <p:nvPr/>
        </p:nvSpPr>
        <p:spPr>
          <a:xfrm>
            <a:off x="548640" y="658368"/>
            <a:ext cx="11064240" cy="68580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Transformer vs. HRM vs. TRM</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286000"/>
                <a:gridCol w="3200400"/>
                <a:gridCol w="2743200"/>
                <a:gridCol w="2834640"/>
              </a:tblGrid>
              <a:tr h="576072">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Feature</a:t>
                      </a:r>
                      <a:endParaRPr lang="en-US" sz="125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1E2761"/>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Transformer LLM</a:t>
                      </a:r>
                      <a:endParaRPr lang="en-US" sz="125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1E2761"/>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HRM</a:t>
                      </a:r>
                      <a:endParaRPr lang="en-US" sz="125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1E2761"/>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TRM</a:t>
                      </a:r>
                      <a:endParaRPr lang="en-US" sz="125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1E2761"/>
                    </a:solidFill>
                  </a:tcPr>
                </a:tc>
              </a:tr>
              <a:tr h="576072">
                <a:tc>
                  <a:txBody>
                    <a:bodyPr/>
                    <a:lstStyle/>
                    <a:p>
                      <a:pPr indent="0" marL="0">
                        <a:buNone/>
                      </a:pPr>
                      <a:r>
                        <a:rPr lang="en-US" sz="1100" b="1" dirty="0">
                          <a:solidFill>
                            <a:srgbClr val="1E2761"/>
                          </a:solidFill>
                          <a:latin typeface="Calibri" pitchFamily="34" charset="0"/>
                          <a:ea typeface="Calibri" pitchFamily="34" charset="-122"/>
                          <a:cs typeface="Calibri" pitchFamily="34" charset="-120"/>
                        </a:rPr>
                        <a:t>Parameters</a:t>
                      </a:r>
                      <a:endParaRPr lang="en-US" sz="11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FFFF"/>
                    </a:solidFill>
                  </a:tcPr>
                </a:tc>
                <a:tc>
                  <a:txBody>
                    <a:bodyPr/>
                    <a:lstStyle/>
                    <a:p>
                      <a:pPr indent="0" marL="0">
                        <a:buNone/>
                      </a:pPr>
                      <a:r>
                        <a:rPr lang="en-US" sz="1100" dirty="0">
                          <a:solidFill>
                            <a:srgbClr val="2A2E35"/>
                          </a:solidFill>
                          <a:latin typeface="Calibri" pitchFamily="34" charset="0"/>
                          <a:ea typeface="Calibri" pitchFamily="34" charset="-122"/>
                          <a:cs typeface="Calibri" pitchFamily="34" charset="-120"/>
                        </a:rPr>
                        <a:t>Large (billions+)</a:t>
                      </a:r>
                      <a:endParaRPr lang="en-US" sz="11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FFFF"/>
                    </a:solidFill>
                  </a:tcPr>
                </a:tc>
                <a:tc>
                  <a:txBody>
                    <a:bodyPr/>
                    <a:lstStyle/>
                    <a:p>
                      <a:pPr indent="0" marL="0">
                        <a:buNone/>
                      </a:pPr>
                      <a:r>
                        <a:rPr lang="en-US" sz="1100" dirty="0">
                          <a:solidFill>
                            <a:srgbClr val="2A2E35"/>
                          </a:solidFill>
                          <a:latin typeface="Calibri" pitchFamily="34" charset="0"/>
                          <a:ea typeface="Calibri" pitchFamily="34" charset="-122"/>
                          <a:cs typeface="Calibri" pitchFamily="34" charset="-120"/>
                        </a:rPr>
                        <a:t>~27 M</a:t>
                      </a:r>
                      <a:endParaRPr lang="en-US" sz="11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FFFF"/>
                    </a:solidFill>
                  </a:tcPr>
                </a:tc>
                <a:tc>
                  <a:txBody>
                    <a:bodyPr/>
                    <a:lstStyle/>
                    <a:p>
                      <a:pPr indent="0" marL="0">
                        <a:buNone/>
                      </a:pPr>
                      <a:r>
                        <a:rPr lang="en-US" sz="1100" dirty="0">
                          <a:solidFill>
                            <a:srgbClr val="2A2E35"/>
                          </a:solidFill>
                          <a:latin typeface="Calibri" pitchFamily="34" charset="0"/>
                          <a:ea typeface="Calibri" pitchFamily="34" charset="-122"/>
                          <a:cs typeface="Calibri" pitchFamily="34" charset="-120"/>
                        </a:rPr>
                        <a:t>~7 M</a:t>
                      </a:r>
                      <a:endParaRPr lang="en-US" sz="11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FFFF"/>
                    </a:solidFill>
                  </a:tcPr>
                </a:tc>
              </a:tr>
              <a:tr h="576072">
                <a:tc>
                  <a:txBody>
                    <a:bodyPr/>
                    <a:lstStyle/>
                    <a:p>
                      <a:pPr indent="0" marL="0">
                        <a:buNone/>
                      </a:pPr>
                      <a:r>
                        <a:rPr lang="en-US" sz="1100" b="1" dirty="0">
                          <a:solidFill>
                            <a:srgbClr val="1E2761"/>
                          </a:solidFill>
                          <a:latin typeface="Calibri" pitchFamily="34" charset="0"/>
                          <a:ea typeface="Calibri" pitchFamily="34" charset="-122"/>
                          <a:cs typeface="Calibri" pitchFamily="34" charset="-120"/>
                        </a:rPr>
                        <a:t>Attention mechanism</a:t>
                      </a:r>
                      <a:endParaRPr lang="en-US" sz="11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4F6FB"/>
                    </a:solidFill>
                  </a:tcPr>
                </a:tc>
                <a:tc>
                  <a:txBody>
                    <a:bodyPr/>
                    <a:lstStyle/>
                    <a:p>
                      <a:pPr indent="0" marL="0">
                        <a:buNone/>
                      </a:pPr>
                      <a:r>
                        <a:rPr lang="en-US" sz="1100" dirty="0">
                          <a:solidFill>
                            <a:srgbClr val="2A2E35"/>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4F6FB"/>
                    </a:solidFill>
                  </a:tcPr>
                </a:tc>
                <a:tc>
                  <a:txBody>
                    <a:bodyPr/>
                    <a:lstStyle/>
                    <a:p>
                      <a:pPr indent="0" marL="0">
                        <a:buNone/>
                      </a:pPr>
                      <a:r>
                        <a:rPr lang="en-US" sz="1100" dirty="0">
                          <a:solidFill>
                            <a:srgbClr val="2A2E3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4F6FB"/>
                    </a:solidFill>
                  </a:tcPr>
                </a:tc>
                <a:tc>
                  <a:txBody>
                    <a:bodyPr/>
                    <a:lstStyle/>
                    <a:p>
                      <a:pPr indent="0" marL="0">
                        <a:buNone/>
                      </a:pPr>
                      <a:r>
                        <a:rPr lang="en-US" sz="1100" dirty="0">
                          <a:solidFill>
                            <a:srgbClr val="2A2E35"/>
                          </a:solidFill>
                          <a:latin typeface="Calibri" pitchFamily="34" charset="0"/>
                          <a:ea typeface="Calibri" pitchFamily="34" charset="-122"/>
                          <a:cs typeface="Calibri" pitchFamily="34" charset="-120"/>
                        </a:rPr>
                        <a:t>No (attn-free variant available)</a:t>
                      </a:r>
                      <a:endParaRPr lang="en-US" sz="11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4F6FB"/>
                    </a:solidFill>
                  </a:tcPr>
                </a:tc>
              </a:tr>
              <a:tr h="576072">
                <a:tc>
                  <a:txBody>
                    <a:bodyPr/>
                    <a:lstStyle/>
                    <a:p>
                      <a:pPr indent="0" marL="0">
                        <a:buNone/>
                      </a:pPr>
                      <a:r>
                        <a:rPr lang="en-US" sz="1100" b="1" dirty="0">
                          <a:solidFill>
                            <a:srgbClr val="1E2761"/>
                          </a:solidFill>
                          <a:latin typeface="Calibri" pitchFamily="34" charset="0"/>
                          <a:ea typeface="Calibri" pitchFamily="34" charset="-122"/>
                          <a:cs typeface="Calibri" pitchFamily="34" charset="-120"/>
                        </a:rPr>
                        <a:t>Recursion / recurrence</a:t>
                      </a:r>
                      <a:endParaRPr lang="en-US" sz="11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FFFF"/>
                    </a:solidFill>
                  </a:tcPr>
                </a:tc>
                <a:tc>
                  <a:txBody>
                    <a:bodyPr/>
                    <a:lstStyle/>
                    <a:p>
                      <a:pPr indent="0" marL="0">
                        <a:buNone/>
                      </a:pPr>
                      <a:r>
                        <a:rPr lang="en-US" sz="1100" dirty="0">
                          <a:solidFill>
                            <a:srgbClr val="2A2E35"/>
                          </a:solidFill>
                          <a:latin typeface="Calibri" pitchFamily="34" charset="0"/>
                          <a:ea typeface="Calibri" pitchFamily="34" charset="-122"/>
                          <a:cs typeface="Calibri" pitchFamily="34" charset="-120"/>
                        </a:rPr>
                        <a:t>No (feed-forward depth only)</a:t>
                      </a:r>
                      <a:endParaRPr lang="en-US" sz="11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FFFF"/>
                    </a:solidFill>
                  </a:tcPr>
                </a:tc>
                <a:tc>
                  <a:txBody>
                    <a:bodyPr/>
                    <a:lstStyle/>
                    <a:p>
                      <a:pPr indent="0" marL="0">
                        <a:buNone/>
                      </a:pPr>
                      <a:r>
                        <a:rPr lang="en-US" sz="1100" dirty="0">
                          <a:solidFill>
                            <a:srgbClr val="2A2E35"/>
                          </a:solidFill>
                          <a:latin typeface="Calibri" pitchFamily="34" charset="0"/>
                          <a:ea typeface="Calibri" pitchFamily="34" charset="-122"/>
                          <a:cs typeface="Calibri" pitchFamily="34" charset="-120"/>
                        </a:rPr>
                        <a:t>Yes — two modules</a:t>
                      </a:r>
                      <a:endParaRPr lang="en-US" sz="11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FFFF"/>
                    </a:solidFill>
                  </a:tcPr>
                </a:tc>
                <a:tc>
                  <a:txBody>
                    <a:bodyPr/>
                    <a:lstStyle/>
                    <a:p>
                      <a:pPr indent="0" marL="0">
                        <a:buNone/>
                      </a:pPr>
                      <a:r>
                        <a:rPr lang="en-US" sz="1100" dirty="0">
                          <a:solidFill>
                            <a:srgbClr val="2A2E35"/>
                          </a:solidFill>
                          <a:latin typeface="Calibri" pitchFamily="34" charset="0"/>
                          <a:ea typeface="Calibri" pitchFamily="34" charset="-122"/>
                          <a:cs typeface="Calibri" pitchFamily="34" charset="-120"/>
                        </a:rPr>
                        <a:t>Yes — single network</a:t>
                      </a:r>
                      <a:endParaRPr lang="en-US" sz="11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FFFF"/>
                    </a:solidFill>
                  </a:tcPr>
                </a:tc>
              </a:tr>
              <a:tr h="576072">
                <a:tc>
                  <a:txBody>
                    <a:bodyPr/>
                    <a:lstStyle/>
                    <a:p>
                      <a:pPr indent="0" marL="0">
                        <a:buNone/>
                      </a:pPr>
                      <a:r>
                        <a:rPr lang="en-US" sz="1100" b="1" dirty="0">
                          <a:solidFill>
                            <a:srgbClr val="1E2761"/>
                          </a:solidFill>
                          <a:latin typeface="Calibri" pitchFamily="34" charset="0"/>
                          <a:ea typeface="Calibri" pitchFamily="34" charset="-122"/>
                          <a:cs typeface="Calibri" pitchFamily="34" charset="-120"/>
                        </a:rPr>
                        <a:t>Test-time compute</a:t>
                      </a:r>
                      <a:endParaRPr lang="en-US" sz="11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4F6FB"/>
                    </a:solidFill>
                  </a:tcPr>
                </a:tc>
                <a:tc>
                  <a:txBody>
                    <a:bodyPr/>
                    <a:lstStyle/>
                    <a:p>
                      <a:pPr indent="0" marL="0">
                        <a:buNone/>
                      </a:pPr>
                      <a:r>
                        <a:rPr lang="en-US" sz="1100" dirty="0">
                          <a:solidFill>
                            <a:srgbClr val="2A2E35"/>
                          </a:solidFill>
                          <a:latin typeface="Calibri" pitchFamily="34" charset="0"/>
                          <a:ea typeface="Calibri" pitchFamily="34" charset="-122"/>
                          <a:cs typeface="Calibri" pitchFamily="34" charset="-120"/>
                        </a:rPr>
                        <a:t>Limited (sampling / CoT length)</a:t>
                      </a:r>
                      <a:endParaRPr lang="en-US" sz="11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4F6FB"/>
                    </a:solidFill>
                  </a:tcPr>
                </a:tc>
                <a:tc>
                  <a:txBody>
                    <a:bodyPr/>
                    <a:lstStyle/>
                    <a:p>
                      <a:pPr indent="0" marL="0">
                        <a:buNone/>
                      </a:pPr>
                      <a:r>
                        <a:rPr lang="en-US" sz="1100" dirty="0">
                          <a:solidFill>
                            <a:srgbClr val="2A2E35"/>
                          </a:solidFill>
                          <a:latin typeface="Calibri" pitchFamily="34" charset="0"/>
                          <a:ea typeface="Calibri" pitchFamily="34" charset="-122"/>
                          <a:cs typeface="Calibri" pitchFamily="34" charset="-120"/>
                        </a:rPr>
                        <a:t>Yes — ACT halting</a:t>
                      </a:r>
                      <a:endParaRPr lang="en-US" sz="11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4F6FB"/>
                    </a:solidFill>
                  </a:tcPr>
                </a:tc>
                <a:tc>
                  <a:txBody>
                    <a:bodyPr/>
                    <a:lstStyle/>
                    <a:p>
                      <a:pPr indent="0" marL="0">
                        <a:buNone/>
                      </a:pPr>
                      <a:r>
                        <a:rPr lang="en-US" sz="1100" dirty="0">
                          <a:solidFill>
                            <a:srgbClr val="2A2E35"/>
                          </a:solidFill>
                          <a:latin typeface="Calibri" pitchFamily="34" charset="0"/>
                          <a:ea typeface="Calibri" pitchFamily="34" charset="-122"/>
                          <a:cs typeface="Calibri" pitchFamily="34" charset="-120"/>
                        </a:rPr>
                        <a:t>Yes — recursive steps</a:t>
                      </a:r>
                      <a:endParaRPr lang="en-US" sz="11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4F6FB"/>
                    </a:solidFill>
                  </a:tcPr>
                </a:tc>
              </a:tr>
              <a:tr h="576072">
                <a:tc>
                  <a:txBody>
                    <a:bodyPr/>
                    <a:lstStyle/>
                    <a:p>
                      <a:pPr indent="0" marL="0">
                        <a:buNone/>
                      </a:pPr>
                      <a:r>
                        <a:rPr lang="en-US" sz="1100" b="1" dirty="0">
                          <a:solidFill>
                            <a:srgbClr val="1E2761"/>
                          </a:solidFill>
                          <a:latin typeface="Calibri" pitchFamily="34" charset="0"/>
                          <a:ea typeface="Calibri" pitchFamily="34" charset="-122"/>
                          <a:cs typeface="Calibri" pitchFamily="34" charset="-120"/>
                        </a:rPr>
                        <a:t>Chain-of-thought needed</a:t>
                      </a:r>
                      <a:endParaRPr lang="en-US" sz="11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FFFF"/>
                    </a:solidFill>
                  </a:tcPr>
                </a:tc>
                <a:tc>
                  <a:txBody>
                    <a:bodyPr/>
                    <a:lstStyle/>
                    <a:p>
                      <a:pPr indent="0" marL="0">
                        <a:buNone/>
                      </a:pPr>
                      <a:r>
                        <a:rPr lang="en-US" sz="1100" dirty="0">
                          <a:solidFill>
                            <a:srgbClr val="2A2E35"/>
                          </a:solidFill>
                          <a:latin typeface="Calibri" pitchFamily="34" charset="0"/>
                          <a:ea typeface="Calibri" pitchFamily="34" charset="-122"/>
                          <a:cs typeface="Calibri" pitchFamily="34" charset="-120"/>
                        </a:rPr>
                        <a:t>Often required for reasoning</a:t>
                      </a:r>
                      <a:endParaRPr lang="en-US" sz="11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FFFF"/>
                    </a:solidFill>
                  </a:tcPr>
                </a:tc>
                <a:tc>
                  <a:txBody>
                    <a:bodyPr/>
                    <a:lstStyle/>
                    <a:p>
                      <a:pPr indent="0" marL="0">
                        <a:buNone/>
                      </a:pPr>
                      <a:r>
                        <a:rPr lang="en-US" sz="1100" dirty="0">
                          <a:solidFill>
                            <a:srgbClr val="2A2E3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FFFF"/>
                    </a:solidFill>
                  </a:tcPr>
                </a:tc>
                <a:tc>
                  <a:txBody>
                    <a:bodyPr/>
                    <a:lstStyle/>
                    <a:p>
                      <a:pPr indent="0" marL="0">
                        <a:buNone/>
                      </a:pPr>
                      <a:r>
                        <a:rPr lang="en-US" sz="1100" dirty="0">
                          <a:solidFill>
                            <a:srgbClr val="2A2E35"/>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FFFF"/>
                    </a:solidFill>
                  </a:tcPr>
                </a:tc>
              </a:tr>
              <a:tr h="576072">
                <a:tc>
                  <a:txBody>
                    <a:bodyPr/>
                    <a:lstStyle/>
                    <a:p>
                      <a:pPr indent="0" marL="0">
                        <a:buNone/>
                      </a:pPr>
                      <a:r>
                        <a:rPr lang="en-US" sz="1100" b="1" dirty="0">
                          <a:solidFill>
                            <a:srgbClr val="1E2761"/>
                          </a:solidFill>
                          <a:latin typeface="Calibri" pitchFamily="34" charset="0"/>
                          <a:ea typeface="Calibri" pitchFamily="34" charset="-122"/>
                          <a:cs typeface="Calibri" pitchFamily="34" charset="-120"/>
                        </a:rPr>
                        <a:t>Primary domain today</a:t>
                      </a:r>
                      <a:endParaRPr lang="en-US" sz="11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4F6FB"/>
                    </a:solidFill>
                  </a:tcPr>
                </a:tc>
                <a:tc>
                  <a:txBody>
                    <a:bodyPr/>
                    <a:lstStyle/>
                    <a:p>
                      <a:pPr indent="0" marL="0">
                        <a:buNone/>
                      </a:pPr>
                      <a:r>
                        <a:rPr lang="en-US" sz="1100" dirty="0">
                          <a:solidFill>
                            <a:srgbClr val="2A2E35"/>
                          </a:solidFill>
                          <a:latin typeface="Calibri" pitchFamily="34" charset="0"/>
                          <a:ea typeface="Calibri" pitchFamily="34" charset="-122"/>
                          <a:cs typeface="Calibri" pitchFamily="34" charset="-120"/>
                        </a:rPr>
                        <a:t>General-purpose NLP</a:t>
                      </a:r>
                      <a:endParaRPr lang="en-US" sz="11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4F6FB"/>
                    </a:solidFill>
                  </a:tcPr>
                </a:tc>
                <a:tc>
                  <a:txBody>
                    <a:bodyPr/>
                    <a:lstStyle/>
                    <a:p>
                      <a:pPr indent="0" marL="0">
                        <a:buNone/>
                      </a:pPr>
                      <a:r>
                        <a:rPr lang="en-US" sz="1100" dirty="0">
                          <a:solidFill>
                            <a:srgbClr val="2A2E35"/>
                          </a:solidFill>
                          <a:latin typeface="Calibri" pitchFamily="34" charset="0"/>
                          <a:ea typeface="Calibri" pitchFamily="34" charset="-122"/>
                          <a:cs typeface="Calibri" pitchFamily="34" charset="-120"/>
                        </a:rPr>
                        <a:t>Structured reasoning puzzles</a:t>
                      </a:r>
                      <a:endParaRPr lang="en-US" sz="11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4F6FB"/>
                    </a:solidFill>
                  </a:tcPr>
                </a:tc>
                <a:tc>
                  <a:txBody>
                    <a:bodyPr/>
                    <a:lstStyle/>
                    <a:p>
                      <a:pPr indent="0" marL="0">
                        <a:buNone/>
                      </a:pPr>
                      <a:r>
                        <a:rPr lang="en-US" sz="1100" dirty="0">
                          <a:solidFill>
                            <a:srgbClr val="2A2E35"/>
                          </a:solidFill>
                          <a:latin typeface="Calibri" pitchFamily="34" charset="0"/>
                          <a:ea typeface="Calibri" pitchFamily="34" charset="-122"/>
                          <a:cs typeface="Calibri" pitchFamily="34" charset="-120"/>
                        </a:rPr>
                        <a:t>Structured reasoning puzzles</a:t>
                      </a:r>
                      <a:endParaRPr lang="en-US" sz="11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4F6FB"/>
                    </a:solidFill>
                  </a:tcPr>
                </a:tc>
              </a:tr>
              <a:tr h="576072">
                <a:tc>
                  <a:txBody>
                    <a:bodyPr/>
                    <a:lstStyle/>
                    <a:p>
                      <a:pPr indent="0" marL="0">
                        <a:buNone/>
                      </a:pPr>
                      <a:r>
                        <a:rPr lang="en-US" sz="1100" b="1" dirty="0">
                          <a:solidFill>
                            <a:srgbClr val="1E2761"/>
                          </a:solidFill>
                          <a:latin typeface="Calibri" pitchFamily="34" charset="0"/>
                          <a:ea typeface="Calibri" pitchFamily="34" charset="-122"/>
                          <a:cs typeface="Calibri" pitchFamily="34" charset="-120"/>
                        </a:rPr>
                        <a:t>Typical training data</a:t>
                      </a:r>
                      <a:endParaRPr lang="en-US" sz="11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FFFF"/>
                    </a:solidFill>
                  </a:tcPr>
                </a:tc>
                <a:tc>
                  <a:txBody>
                    <a:bodyPr/>
                    <a:lstStyle/>
                    <a:p>
                      <a:pPr indent="0" marL="0">
                        <a:buNone/>
                      </a:pPr>
                      <a:r>
                        <a:rPr lang="en-US" sz="1100" dirty="0">
                          <a:solidFill>
                            <a:srgbClr val="2A2E35"/>
                          </a:solidFill>
                          <a:latin typeface="Calibri" pitchFamily="34" charset="0"/>
                          <a:ea typeface="Calibri" pitchFamily="34" charset="-122"/>
                          <a:cs typeface="Calibri" pitchFamily="34" charset="-120"/>
                        </a:rPr>
                        <a:t>Web-scale pretraining</a:t>
                      </a:r>
                      <a:endParaRPr lang="en-US" sz="11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FFFF"/>
                    </a:solidFill>
                  </a:tcPr>
                </a:tc>
                <a:tc>
                  <a:txBody>
                    <a:bodyPr/>
                    <a:lstStyle/>
                    <a:p>
                      <a:pPr indent="0" marL="0">
                        <a:buNone/>
                      </a:pPr>
                      <a:r>
                        <a:rPr lang="en-US" sz="1100" dirty="0">
                          <a:solidFill>
                            <a:srgbClr val="2A2E35"/>
                          </a:solidFill>
                          <a:latin typeface="Calibri" pitchFamily="34" charset="0"/>
                          <a:ea typeface="Calibri" pitchFamily="34" charset="-122"/>
                          <a:cs typeface="Calibri" pitchFamily="34" charset="-120"/>
                        </a:rPr>
                        <a:t>~1,000 examples/task</a:t>
                      </a:r>
                      <a:endParaRPr lang="en-US" sz="11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FFFF"/>
                    </a:solidFill>
                  </a:tcPr>
                </a:tc>
                <a:tc>
                  <a:txBody>
                    <a:bodyPr/>
                    <a:lstStyle/>
                    <a:p>
                      <a:pPr indent="0" marL="0">
                        <a:buNone/>
                      </a:pPr>
                      <a:r>
                        <a:rPr lang="en-US" sz="1100" dirty="0">
                          <a:solidFill>
                            <a:srgbClr val="2A2E35"/>
                          </a:solidFill>
                          <a:latin typeface="Calibri" pitchFamily="34" charset="0"/>
                          <a:ea typeface="Calibri" pitchFamily="34" charset="-122"/>
                          <a:cs typeface="Calibri" pitchFamily="34" charset="-120"/>
                        </a:rPr>
                        <a:t>~1,000 examples/task</a:t>
                      </a:r>
                      <a:endParaRPr lang="en-US" sz="1100" dirty="0">
                        <a:latin typeface="Calibri" charset="0"/>
                        <a:ea typeface="Calibri" charset="0"/>
                        <a:cs typeface="Calibri" charset="0"/>
                      </a:endParaRPr>
                    </a:p>
                  </a:txBody>
                  <a:tcPr marL="91440" marR="91440" marT="45720" marB="45720"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rgbClr val="FFFFFF"/>
                    </a:solidFill>
                  </a:tcPr>
                </a:tc>
              </a:tr>
            </a:tbl>
          </a:graphicData>
        </a:graphic>
      </p:graphicFrame>
      <p:sp>
        <p:nvSpPr>
          <p:cNvPr id="5" name="Text 2"/>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2F6FED"/>
                </a:solidFill>
                <a:latin typeface="Calibri" pitchFamily="34" charset="0"/>
                <a:ea typeface="Calibri" pitchFamily="34" charset="-122"/>
                <a:cs typeface="Calibri" pitchFamily="34" charset="-120"/>
              </a:rPr>
              <a:t>BENCHMARKS</a:t>
            </a:r>
            <a:endParaRPr lang="en-US" sz="1200" dirty="0"/>
          </a:p>
        </p:txBody>
      </p:sp>
      <p:sp>
        <p:nvSpPr>
          <p:cNvPr id="3" name="Text 1"/>
          <p:cNvSpPr/>
          <p:nvPr/>
        </p:nvSpPr>
        <p:spPr>
          <a:xfrm>
            <a:off x="548640" y="658368"/>
            <a:ext cx="11064240" cy="68580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ARC-AGI-1: Reported Accuracy Comparison</a:t>
            </a:r>
            <a:endParaRPr lang="en-US" sz="3000" dirty="0"/>
          </a:p>
        </p:txBody>
      </p:sp>
      <p:sp>
        <p:nvSpPr>
          <p:cNvPr id="4" name="Text 2"/>
          <p:cNvSpPr/>
          <p:nvPr/>
        </p:nvSpPr>
        <p:spPr>
          <a:xfrm>
            <a:off x="548640" y="1280160"/>
            <a:ext cx="9144000" cy="274320"/>
          </a:xfrm>
          <a:prstGeom prst="rect">
            <a:avLst/>
          </a:prstGeom>
          <a:noFill/>
          <a:ln/>
        </p:spPr>
        <p:txBody>
          <a:bodyPr wrap="square" rtlCol="0" anchor="ctr"/>
          <a:lstStyle/>
          <a:p>
            <a:pPr indent="0" marL="0">
              <a:buNone/>
            </a:pPr>
            <a:r>
              <a:rPr lang="en-US" sz="1100" i="1" dirty="0">
                <a:solidFill>
                  <a:srgbClr val="5A6472"/>
                </a:solidFill>
                <a:latin typeface="Calibri" pitchFamily="34" charset="0"/>
                <a:ea typeface="Calibri" pitchFamily="34" charset="-122"/>
                <a:cs typeface="Calibri" pitchFamily="34" charset="-120"/>
              </a:rPr>
              <a:t>2-try test accuracy, as reported in Wang et al. (2025) and Jolicoeur-Martineau (2025)</a:t>
            </a:r>
            <a:endParaRPr lang="en-US" sz="1100" dirty="0"/>
          </a:p>
        </p:txBody>
      </p:sp>
      <p:graphicFrame>
        <p:nvGraphicFramePr>
          <p:cNvPr id="5" name="Chart 0" descr=""/>
          <p:cNvGraphicFramePr/>
          <p:nvPr/>
        </p:nvGraphicFramePr>
        <p:xfrm>
          <a:off x="548640" y="1737360"/>
          <a:ext cx="7315200" cy="41148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8229600" y="1975104"/>
            <a:ext cx="118872" cy="118872"/>
          </a:xfrm>
          <a:prstGeom prst="ellipse">
            <a:avLst/>
          </a:prstGeom>
          <a:solidFill>
            <a:srgbClr val="2F6FED"/>
          </a:solidFill>
          <a:ln/>
        </p:spPr>
      </p:sp>
      <p:sp>
        <p:nvSpPr>
          <p:cNvPr id="7" name="Text 4"/>
          <p:cNvSpPr/>
          <p:nvPr/>
        </p:nvSpPr>
        <p:spPr>
          <a:xfrm>
            <a:off x="8458200" y="1828800"/>
            <a:ext cx="3200400" cy="685800"/>
          </a:xfrm>
          <a:prstGeom prst="rect">
            <a:avLst/>
          </a:prstGeom>
          <a:noFill/>
          <a:ln/>
        </p:spPr>
        <p:txBody>
          <a:bodyPr wrap="square" rtlCol="0" anchor="t"/>
          <a:lstStyle/>
          <a:p>
            <a:pPr indent="0" marL="0">
              <a:buNone/>
            </a:pPr>
            <a:r>
              <a:rPr lang="en-US" sz="1100" dirty="0">
                <a:solidFill>
                  <a:srgbClr val="2A2E35"/>
                </a:solidFill>
                <a:latin typeface="Calibri" pitchFamily="34" charset="0"/>
                <a:ea typeface="Calibri" pitchFamily="34" charset="-122"/>
                <a:cs typeface="Calibri" pitchFamily="34" charset="-120"/>
              </a:rPr>
              <a:t>Grey bars: general-purpose LLMs, zero-shot</a:t>
            </a:r>
            <a:endParaRPr lang="en-US" sz="1100" dirty="0"/>
          </a:p>
        </p:txBody>
      </p:sp>
      <p:sp>
        <p:nvSpPr>
          <p:cNvPr id="8" name="Shape 5"/>
          <p:cNvSpPr/>
          <p:nvPr/>
        </p:nvSpPr>
        <p:spPr>
          <a:xfrm>
            <a:off x="8229600" y="3026664"/>
            <a:ext cx="118872" cy="118872"/>
          </a:xfrm>
          <a:prstGeom prst="ellipse">
            <a:avLst/>
          </a:prstGeom>
          <a:solidFill>
            <a:srgbClr val="2F6FED"/>
          </a:solidFill>
          <a:ln/>
        </p:spPr>
      </p:sp>
      <p:sp>
        <p:nvSpPr>
          <p:cNvPr id="9" name="Text 6"/>
          <p:cNvSpPr/>
          <p:nvPr/>
        </p:nvSpPr>
        <p:spPr>
          <a:xfrm>
            <a:off x="8458200" y="2880360"/>
            <a:ext cx="3200400" cy="685800"/>
          </a:xfrm>
          <a:prstGeom prst="rect">
            <a:avLst/>
          </a:prstGeom>
          <a:noFill/>
          <a:ln/>
        </p:spPr>
        <p:txBody>
          <a:bodyPr wrap="square" rtlCol="0" anchor="t"/>
          <a:lstStyle/>
          <a:p>
            <a:pPr indent="0" marL="0">
              <a:buNone/>
            </a:pPr>
            <a:r>
              <a:rPr lang="en-US" sz="1100" dirty="0">
                <a:solidFill>
                  <a:srgbClr val="2A2E35"/>
                </a:solidFill>
                <a:latin typeface="Calibri" pitchFamily="34" charset="0"/>
                <a:ea typeface="Calibri" pitchFamily="34" charset="-122"/>
                <a:cs typeface="Calibri" pitchFamily="34" charset="-120"/>
              </a:rPr>
              <a:t>Blue / green bars: small models trained from scratch on ~1,000 task examples</a:t>
            </a:r>
            <a:endParaRPr lang="en-US" sz="1100" dirty="0"/>
          </a:p>
        </p:txBody>
      </p:sp>
      <p:sp>
        <p:nvSpPr>
          <p:cNvPr id="10" name="Shape 7"/>
          <p:cNvSpPr/>
          <p:nvPr/>
        </p:nvSpPr>
        <p:spPr>
          <a:xfrm>
            <a:off x="8229600" y="4078224"/>
            <a:ext cx="118872" cy="118872"/>
          </a:xfrm>
          <a:prstGeom prst="ellipse">
            <a:avLst/>
          </a:prstGeom>
          <a:solidFill>
            <a:srgbClr val="2F6FED"/>
          </a:solidFill>
          <a:ln/>
        </p:spPr>
      </p:sp>
      <p:sp>
        <p:nvSpPr>
          <p:cNvPr id="11" name="Text 8"/>
          <p:cNvSpPr/>
          <p:nvPr/>
        </p:nvSpPr>
        <p:spPr>
          <a:xfrm>
            <a:off x="8458200" y="3931920"/>
            <a:ext cx="3200400" cy="685800"/>
          </a:xfrm>
          <a:prstGeom prst="rect">
            <a:avLst/>
          </a:prstGeom>
          <a:noFill/>
          <a:ln/>
        </p:spPr>
        <p:txBody>
          <a:bodyPr wrap="square" rtlCol="0" anchor="t"/>
          <a:lstStyle/>
          <a:p>
            <a:pPr indent="0" marL="0">
              <a:buNone/>
            </a:pPr>
            <a:r>
              <a:rPr lang="en-US" sz="1100" dirty="0">
                <a:solidFill>
                  <a:srgbClr val="2A2E35"/>
                </a:solidFill>
                <a:latin typeface="Calibri" pitchFamily="34" charset="0"/>
                <a:ea typeface="Calibri" pitchFamily="34" charset="-122"/>
                <a:cs typeface="Calibri" pitchFamily="34" charset="-120"/>
              </a:rPr>
              <a:t>Bigger specialized systems (e.g. Grok-4-thinking, 66.7%) still lead overall</a:t>
            </a:r>
            <a:endParaRPr lang="en-US" sz="1100" dirty="0"/>
          </a:p>
        </p:txBody>
      </p:sp>
      <p:sp>
        <p:nvSpPr>
          <p:cNvPr id="12" name="Shape 9"/>
          <p:cNvSpPr/>
          <p:nvPr/>
        </p:nvSpPr>
        <p:spPr>
          <a:xfrm>
            <a:off x="8229600" y="5074920"/>
            <a:ext cx="3246120" cy="777240"/>
          </a:xfrm>
          <a:prstGeom prst="roundRect">
            <a:avLst>
              <a:gd name="adj" fmla="val 9412"/>
            </a:avLst>
          </a:prstGeom>
          <a:solidFill>
            <a:srgbClr val="FCF3E3"/>
          </a:solidFill>
          <a:ln/>
        </p:spPr>
      </p:sp>
      <p:sp>
        <p:nvSpPr>
          <p:cNvPr id="13" name="Text 10"/>
          <p:cNvSpPr/>
          <p:nvPr/>
        </p:nvSpPr>
        <p:spPr>
          <a:xfrm>
            <a:off x="8366760" y="5138928"/>
            <a:ext cx="2971800" cy="658368"/>
          </a:xfrm>
          <a:prstGeom prst="rect">
            <a:avLst/>
          </a:prstGeom>
          <a:noFill/>
          <a:ln/>
        </p:spPr>
        <p:txBody>
          <a:bodyPr wrap="square" rtlCol="0" anchor="ctr"/>
          <a:lstStyle/>
          <a:p>
            <a:pPr indent="0" marL="0">
              <a:buNone/>
            </a:pPr>
            <a:r>
              <a:rPr lang="en-US" sz="950" i="1" dirty="0">
                <a:solidFill>
                  <a:srgbClr val="B8791A"/>
                </a:solidFill>
                <a:latin typeface="Calibri" pitchFamily="34" charset="0"/>
                <a:ea typeface="Calibri" pitchFamily="34" charset="-122"/>
                <a:cs typeface="Calibri" pitchFamily="34" charset="-120"/>
              </a:rPr>
              <a:t>Comparison spans very different training regimes (heavy task-specific augmentation vs. zero-shot) — see Limitations.</a:t>
            </a:r>
            <a:endParaRPr lang="en-US" sz="950" dirty="0"/>
          </a:p>
        </p:txBody>
      </p:sp>
      <p:sp>
        <p:nvSpPr>
          <p:cNvPr id="14" name="Text 11"/>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2F6FED"/>
                </a:solidFill>
                <a:latin typeface="Calibri" pitchFamily="34" charset="0"/>
                <a:ea typeface="Calibri" pitchFamily="34" charset="-122"/>
                <a:cs typeface="Calibri" pitchFamily="34" charset="-120"/>
              </a:rPr>
              <a:t>METHODS</a:t>
            </a:r>
            <a:endParaRPr lang="en-US" sz="1200" dirty="0"/>
          </a:p>
        </p:txBody>
      </p:sp>
      <p:sp>
        <p:nvSpPr>
          <p:cNvPr id="3" name="Text 1"/>
          <p:cNvSpPr/>
          <p:nvPr/>
        </p:nvSpPr>
        <p:spPr>
          <a:xfrm>
            <a:off x="548640" y="658368"/>
            <a:ext cx="11064240" cy="68580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Mechanistic Interpretability Techniques</a:t>
            </a:r>
            <a:endParaRPr lang="en-US" sz="3000" dirty="0"/>
          </a:p>
        </p:txBody>
      </p:sp>
      <p:sp>
        <p:nvSpPr>
          <p:cNvPr id="4" name="Shape 2"/>
          <p:cNvSpPr/>
          <p:nvPr/>
        </p:nvSpPr>
        <p:spPr>
          <a:xfrm>
            <a:off x="548640" y="1600200"/>
            <a:ext cx="2084832" cy="2834640"/>
          </a:xfrm>
          <a:prstGeom prst="roundRect">
            <a:avLst>
              <a:gd name="adj" fmla="val 4386"/>
            </a:avLst>
          </a:prstGeom>
          <a:solidFill>
            <a:srgbClr val="F4F6FB"/>
          </a:solidFill>
          <a:ln w="12700">
            <a:solidFill>
              <a:srgbClr val="E3E7EF"/>
            </a:solidFill>
            <a:prstDash val="solid"/>
          </a:ln>
        </p:spPr>
      </p:sp>
      <p:sp>
        <p:nvSpPr>
          <p:cNvPr id="5" name="Shape 3"/>
          <p:cNvSpPr/>
          <p:nvPr/>
        </p:nvSpPr>
        <p:spPr>
          <a:xfrm>
            <a:off x="1316736" y="1828800"/>
            <a:ext cx="548640" cy="548640"/>
          </a:xfrm>
          <a:prstGeom prst="ellipse">
            <a:avLst/>
          </a:prstGeom>
          <a:solidFill>
            <a:srgbClr val="1E2761"/>
          </a:solidFill>
          <a:ln/>
        </p:spPr>
      </p:sp>
      <p:pic>
        <p:nvPicPr>
          <p:cNvPr id="6" name="Image 0" descr="/home/claude/icons_white/gitbranch.png">    </p:cNvPr>
          <p:cNvPicPr>
            <a:picLocks noChangeAspect="1"/>
          </p:cNvPicPr>
          <p:nvPr/>
        </p:nvPicPr>
        <p:blipFill>
          <a:blip r:embed="rId1"/>
          <a:stretch>
            <a:fillRect/>
          </a:stretch>
        </p:blipFill>
        <p:spPr>
          <a:xfrm>
            <a:off x="1453896" y="1965960"/>
            <a:ext cx="274320" cy="274320"/>
          </a:xfrm>
          <a:prstGeom prst="rect">
            <a:avLst/>
          </a:prstGeom>
        </p:spPr>
      </p:pic>
      <p:sp>
        <p:nvSpPr>
          <p:cNvPr id="7" name="Text 4"/>
          <p:cNvSpPr/>
          <p:nvPr/>
        </p:nvSpPr>
        <p:spPr>
          <a:xfrm>
            <a:off x="658368" y="2514600"/>
            <a:ext cx="1865376" cy="502920"/>
          </a:xfrm>
          <a:prstGeom prst="rect">
            <a:avLst/>
          </a:prstGeom>
          <a:noFill/>
          <a:ln/>
        </p:spPr>
        <p:txBody>
          <a:bodyPr wrap="square" rtlCol="0" anchor="t"/>
          <a:lstStyle/>
          <a:p>
            <a:pPr algn="ctr" indent="0" marL="0">
              <a:buNone/>
            </a:pPr>
            <a:r>
              <a:rPr lang="en-US" sz="1250" b="1" dirty="0">
                <a:solidFill>
                  <a:srgbClr val="1E2761"/>
                </a:solidFill>
                <a:latin typeface="Calibri" pitchFamily="34" charset="0"/>
                <a:ea typeface="Calibri" pitchFamily="34" charset="-122"/>
                <a:cs typeface="Calibri" pitchFamily="34" charset="-120"/>
              </a:rPr>
              <a:t>Circuit Analysis</a:t>
            </a:r>
            <a:endParaRPr lang="en-US" sz="1250" dirty="0"/>
          </a:p>
        </p:txBody>
      </p:sp>
      <p:sp>
        <p:nvSpPr>
          <p:cNvPr id="8" name="Text 5"/>
          <p:cNvSpPr/>
          <p:nvPr/>
        </p:nvSpPr>
        <p:spPr>
          <a:xfrm>
            <a:off x="685800" y="3017520"/>
            <a:ext cx="1810512" cy="1325880"/>
          </a:xfrm>
          <a:prstGeom prst="rect">
            <a:avLst/>
          </a:prstGeom>
          <a:noFill/>
          <a:ln/>
        </p:spPr>
        <p:txBody>
          <a:bodyPr wrap="square" rtlCol="0" anchor="t"/>
          <a:lstStyle/>
          <a:p>
            <a:pPr algn="ctr" indent="0" marL="0">
              <a:buNone/>
            </a:pPr>
            <a:r>
              <a:rPr lang="en-US" sz="1050" dirty="0">
                <a:solidFill>
                  <a:srgbClr val="5A6472"/>
                </a:solidFill>
                <a:latin typeface="Calibri" pitchFamily="34" charset="0"/>
                <a:ea typeface="Calibri" pitchFamily="34" charset="-122"/>
                <a:cs typeface="Calibri" pitchFamily="34" charset="-120"/>
              </a:rPr>
              <a:t>Trace computational sub-graphs (“circuits”) that implement specific behaviors across layers.</a:t>
            </a:r>
            <a:endParaRPr lang="en-US" sz="1050" dirty="0"/>
          </a:p>
        </p:txBody>
      </p:sp>
      <p:sp>
        <p:nvSpPr>
          <p:cNvPr id="9" name="Shape 6"/>
          <p:cNvSpPr/>
          <p:nvPr/>
        </p:nvSpPr>
        <p:spPr>
          <a:xfrm>
            <a:off x="2642616" y="3017520"/>
            <a:ext cx="118872" cy="0"/>
          </a:xfrm>
          <a:prstGeom prst="line">
            <a:avLst/>
          </a:prstGeom>
          <a:noFill/>
          <a:ln w="19050">
            <a:solidFill>
              <a:srgbClr val="2F6FED"/>
            </a:solidFill>
            <a:prstDash val="solid"/>
            <a:tailEnd type="triangle"/>
          </a:ln>
        </p:spPr>
      </p:sp>
      <p:sp>
        <p:nvSpPr>
          <p:cNvPr id="10" name="Shape 7"/>
          <p:cNvSpPr/>
          <p:nvPr/>
        </p:nvSpPr>
        <p:spPr>
          <a:xfrm>
            <a:off x="2770632" y="1600200"/>
            <a:ext cx="2084832" cy="2834640"/>
          </a:xfrm>
          <a:prstGeom prst="roundRect">
            <a:avLst>
              <a:gd name="adj" fmla="val 4386"/>
            </a:avLst>
          </a:prstGeom>
          <a:solidFill>
            <a:srgbClr val="FFFFFF"/>
          </a:solidFill>
          <a:ln w="12700">
            <a:solidFill>
              <a:srgbClr val="E3E7EF"/>
            </a:solidFill>
            <a:prstDash val="solid"/>
          </a:ln>
        </p:spPr>
      </p:sp>
      <p:sp>
        <p:nvSpPr>
          <p:cNvPr id="11" name="Shape 8"/>
          <p:cNvSpPr/>
          <p:nvPr/>
        </p:nvSpPr>
        <p:spPr>
          <a:xfrm>
            <a:off x="3538728" y="1828800"/>
            <a:ext cx="548640" cy="548640"/>
          </a:xfrm>
          <a:prstGeom prst="ellipse">
            <a:avLst/>
          </a:prstGeom>
          <a:solidFill>
            <a:srgbClr val="1E2761"/>
          </a:solidFill>
          <a:ln/>
        </p:spPr>
      </p:sp>
      <p:pic>
        <p:nvPicPr>
          <p:cNvPr id="12" name="Image 1" descr="/home/claude/icons_white/grid.png">    </p:cNvPr>
          <p:cNvPicPr>
            <a:picLocks noChangeAspect="1"/>
          </p:cNvPicPr>
          <p:nvPr/>
        </p:nvPicPr>
        <p:blipFill>
          <a:blip r:embed="rId2"/>
          <a:stretch>
            <a:fillRect/>
          </a:stretch>
        </p:blipFill>
        <p:spPr>
          <a:xfrm>
            <a:off x="3675888" y="1965960"/>
            <a:ext cx="274320" cy="274320"/>
          </a:xfrm>
          <a:prstGeom prst="rect">
            <a:avLst/>
          </a:prstGeom>
        </p:spPr>
      </p:pic>
      <p:sp>
        <p:nvSpPr>
          <p:cNvPr id="13" name="Text 9"/>
          <p:cNvSpPr/>
          <p:nvPr/>
        </p:nvSpPr>
        <p:spPr>
          <a:xfrm>
            <a:off x="2880360" y="2514600"/>
            <a:ext cx="1865376" cy="502920"/>
          </a:xfrm>
          <a:prstGeom prst="rect">
            <a:avLst/>
          </a:prstGeom>
          <a:noFill/>
          <a:ln/>
        </p:spPr>
        <p:txBody>
          <a:bodyPr wrap="square" rtlCol="0" anchor="t"/>
          <a:lstStyle/>
          <a:p>
            <a:pPr algn="ctr" indent="0" marL="0">
              <a:buNone/>
            </a:pPr>
            <a:r>
              <a:rPr lang="en-US" sz="1250" b="1" dirty="0">
                <a:solidFill>
                  <a:srgbClr val="1E2761"/>
                </a:solidFill>
                <a:latin typeface="Calibri" pitchFamily="34" charset="0"/>
                <a:ea typeface="Calibri" pitchFamily="34" charset="-122"/>
                <a:cs typeface="Calibri" pitchFamily="34" charset="-120"/>
              </a:rPr>
              <a:t>Sparse Autoencoders</a:t>
            </a:r>
            <a:endParaRPr lang="en-US" sz="1250" dirty="0"/>
          </a:p>
        </p:txBody>
      </p:sp>
      <p:sp>
        <p:nvSpPr>
          <p:cNvPr id="14" name="Text 10"/>
          <p:cNvSpPr/>
          <p:nvPr/>
        </p:nvSpPr>
        <p:spPr>
          <a:xfrm>
            <a:off x="2907792" y="3017520"/>
            <a:ext cx="1810512" cy="1325880"/>
          </a:xfrm>
          <a:prstGeom prst="rect">
            <a:avLst/>
          </a:prstGeom>
          <a:noFill/>
          <a:ln/>
        </p:spPr>
        <p:txBody>
          <a:bodyPr wrap="square" rtlCol="0" anchor="t"/>
          <a:lstStyle/>
          <a:p>
            <a:pPr algn="ctr" indent="0" marL="0">
              <a:buNone/>
            </a:pPr>
            <a:r>
              <a:rPr lang="en-US" sz="1050" dirty="0">
                <a:solidFill>
                  <a:srgbClr val="5A6472"/>
                </a:solidFill>
                <a:latin typeface="Calibri" pitchFamily="34" charset="0"/>
                <a:ea typeface="Calibri" pitchFamily="34" charset="-122"/>
                <a:cs typeface="Calibri" pitchFamily="34" charset="-120"/>
              </a:rPr>
              <a:t>Decompose polysemantic activations into sparse, more monosemantic features.</a:t>
            </a:r>
            <a:endParaRPr lang="en-US" sz="1050" dirty="0"/>
          </a:p>
        </p:txBody>
      </p:sp>
      <p:sp>
        <p:nvSpPr>
          <p:cNvPr id="15" name="Shape 11"/>
          <p:cNvSpPr/>
          <p:nvPr/>
        </p:nvSpPr>
        <p:spPr>
          <a:xfrm>
            <a:off x="4864608" y="3017520"/>
            <a:ext cx="118872" cy="0"/>
          </a:xfrm>
          <a:prstGeom prst="line">
            <a:avLst/>
          </a:prstGeom>
          <a:noFill/>
          <a:ln w="19050">
            <a:solidFill>
              <a:srgbClr val="2F6FED"/>
            </a:solidFill>
            <a:prstDash val="solid"/>
            <a:tailEnd type="triangle"/>
          </a:ln>
        </p:spPr>
      </p:sp>
      <p:sp>
        <p:nvSpPr>
          <p:cNvPr id="16" name="Shape 12"/>
          <p:cNvSpPr/>
          <p:nvPr/>
        </p:nvSpPr>
        <p:spPr>
          <a:xfrm>
            <a:off x="4992624" y="1600200"/>
            <a:ext cx="2084832" cy="2834640"/>
          </a:xfrm>
          <a:prstGeom prst="roundRect">
            <a:avLst>
              <a:gd name="adj" fmla="val 4386"/>
            </a:avLst>
          </a:prstGeom>
          <a:solidFill>
            <a:srgbClr val="F4F6FB"/>
          </a:solidFill>
          <a:ln w="12700">
            <a:solidFill>
              <a:srgbClr val="E3E7EF"/>
            </a:solidFill>
            <a:prstDash val="solid"/>
          </a:ln>
        </p:spPr>
      </p:sp>
      <p:sp>
        <p:nvSpPr>
          <p:cNvPr id="17" name="Shape 13"/>
          <p:cNvSpPr/>
          <p:nvPr/>
        </p:nvSpPr>
        <p:spPr>
          <a:xfrm>
            <a:off x="5760720" y="1828800"/>
            <a:ext cx="548640" cy="548640"/>
          </a:xfrm>
          <a:prstGeom prst="ellipse">
            <a:avLst/>
          </a:prstGeom>
          <a:solidFill>
            <a:srgbClr val="1E2761"/>
          </a:solidFill>
          <a:ln/>
        </p:spPr>
      </p:sp>
      <p:pic>
        <p:nvPicPr>
          <p:cNvPr id="18" name="Image 2" descr="/home/claude/icons_white/eye.png">    </p:cNvPr>
          <p:cNvPicPr>
            <a:picLocks noChangeAspect="1"/>
          </p:cNvPicPr>
          <p:nvPr/>
        </p:nvPicPr>
        <p:blipFill>
          <a:blip r:embed="rId3"/>
          <a:stretch>
            <a:fillRect/>
          </a:stretch>
        </p:blipFill>
        <p:spPr>
          <a:xfrm>
            <a:off x="5897880" y="1965960"/>
            <a:ext cx="274320" cy="274320"/>
          </a:xfrm>
          <a:prstGeom prst="rect">
            <a:avLst/>
          </a:prstGeom>
        </p:spPr>
      </p:pic>
      <p:sp>
        <p:nvSpPr>
          <p:cNvPr id="19" name="Text 14"/>
          <p:cNvSpPr/>
          <p:nvPr/>
        </p:nvSpPr>
        <p:spPr>
          <a:xfrm>
            <a:off x="5102352" y="2514600"/>
            <a:ext cx="1865376" cy="502920"/>
          </a:xfrm>
          <a:prstGeom prst="rect">
            <a:avLst/>
          </a:prstGeom>
          <a:noFill/>
          <a:ln/>
        </p:spPr>
        <p:txBody>
          <a:bodyPr wrap="square" rtlCol="0" anchor="t"/>
          <a:lstStyle/>
          <a:p>
            <a:pPr algn="ctr" indent="0" marL="0">
              <a:buNone/>
            </a:pPr>
            <a:r>
              <a:rPr lang="en-US" sz="1250" b="1" dirty="0">
                <a:solidFill>
                  <a:srgbClr val="1E2761"/>
                </a:solidFill>
                <a:latin typeface="Calibri" pitchFamily="34" charset="0"/>
                <a:ea typeface="Calibri" pitchFamily="34" charset="-122"/>
                <a:cs typeface="Calibri" pitchFamily="34" charset="-120"/>
              </a:rPr>
              <a:t>Feature Visualization</a:t>
            </a:r>
            <a:endParaRPr lang="en-US" sz="1250" dirty="0"/>
          </a:p>
        </p:txBody>
      </p:sp>
      <p:sp>
        <p:nvSpPr>
          <p:cNvPr id="20" name="Text 15"/>
          <p:cNvSpPr/>
          <p:nvPr/>
        </p:nvSpPr>
        <p:spPr>
          <a:xfrm>
            <a:off x="5129784" y="3017520"/>
            <a:ext cx="1810512" cy="1325880"/>
          </a:xfrm>
          <a:prstGeom prst="rect">
            <a:avLst/>
          </a:prstGeom>
          <a:noFill/>
          <a:ln/>
        </p:spPr>
        <p:txBody>
          <a:bodyPr wrap="square" rtlCol="0" anchor="t"/>
          <a:lstStyle/>
          <a:p>
            <a:pPr algn="ctr" indent="0" marL="0">
              <a:buNone/>
            </a:pPr>
            <a:r>
              <a:rPr lang="en-US" sz="1050" dirty="0">
                <a:solidFill>
                  <a:srgbClr val="5A6472"/>
                </a:solidFill>
                <a:latin typeface="Calibri" pitchFamily="34" charset="0"/>
                <a:ea typeface="Calibri" pitchFamily="34" charset="-122"/>
                <a:cs typeface="Calibri" pitchFamily="34" charset="-120"/>
              </a:rPr>
              <a:t>Identify inputs that maximally activate a given neuron, head, or feature direction.</a:t>
            </a:r>
            <a:endParaRPr lang="en-US" sz="1050" dirty="0"/>
          </a:p>
        </p:txBody>
      </p:sp>
      <p:sp>
        <p:nvSpPr>
          <p:cNvPr id="21" name="Shape 16"/>
          <p:cNvSpPr/>
          <p:nvPr/>
        </p:nvSpPr>
        <p:spPr>
          <a:xfrm>
            <a:off x="7086600" y="3017520"/>
            <a:ext cx="118872" cy="0"/>
          </a:xfrm>
          <a:prstGeom prst="line">
            <a:avLst/>
          </a:prstGeom>
          <a:noFill/>
          <a:ln w="19050">
            <a:solidFill>
              <a:srgbClr val="2F6FED"/>
            </a:solidFill>
            <a:prstDash val="solid"/>
            <a:tailEnd type="triangle"/>
          </a:ln>
        </p:spPr>
      </p:sp>
      <p:sp>
        <p:nvSpPr>
          <p:cNvPr id="22" name="Shape 17"/>
          <p:cNvSpPr/>
          <p:nvPr/>
        </p:nvSpPr>
        <p:spPr>
          <a:xfrm>
            <a:off x="7214616" y="1600200"/>
            <a:ext cx="2084832" cy="2834640"/>
          </a:xfrm>
          <a:prstGeom prst="roundRect">
            <a:avLst>
              <a:gd name="adj" fmla="val 4386"/>
            </a:avLst>
          </a:prstGeom>
          <a:solidFill>
            <a:srgbClr val="FFFFFF"/>
          </a:solidFill>
          <a:ln w="12700">
            <a:solidFill>
              <a:srgbClr val="E3E7EF"/>
            </a:solidFill>
            <a:prstDash val="solid"/>
          </a:ln>
        </p:spPr>
      </p:sp>
      <p:sp>
        <p:nvSpPr>
          <p:cNvPr id="23" name="Shape 18"/>
          <p:cNvSpPr/>
          <p:nvPr/>
        </p:nvSpPr>
        <p:spPr>
          <a:xfrm>
            <a:off x="7982712" y="1828800"/>
            <a:ext cx="548640" cy="548640"/>
          </a:xfrm>
          <a:prstGeom prst="ellipse">
            <a:avLst/>
          </a:prstGeom>
          <a:solidFill>
            <a:srgbClr val="1E2761"/>
          </a:solidFill>
          <a:ln/>
        </p:spPr>
      </p:sp>
      <p:pic>
        <p:nvPicPr>
          <p:cNvPr id="24" name="Image 3" descr="/home/claude/icons_white/activity.png">    </p:cNvPr>
          <p:cNvPicPr>
            <a:picLocks noChangeAspect="1"/>
          </p:cNvPicPr>
          <p:nvPr/>
        </p:nvPicPr>
        <p:blipFill>
          <a:blip r:embed="rId4"/>
          <a:stretch>
            <a:fillRect/>
          </a:stretch>
        </p:blipFill>
        <p:spPr>
          <a:xfrm>
            <a:off x="8119872" y="1965960"/>
            <a:ext cx="274320" cy="274320"/>
          </a:xfrm>
          <a:prstGeom prst="rect">
            <a:avLst/>
          </a:prstGeom>
        </p:spPr>
      </p:pic>
      <p:sp>
        <p:nvSpPr>
          <p:cNvPr id="25" name="Text 19"/>
          <p:cNvSpPr/>
          <p:nvPr/>
        </p:nvSpPr>
        <p:spPr>
          <a:xfrm>
            <a:off x="7324344" y="2514600"/>
            <a:ext cx="1865376" cy="502920"/>
          </a:xfrm>
          <a:prstGeom prst="rect">
            <a:avLst/>
          </a:prstGeom>
          <a:noFill/>
          <a:ln/>
        </p:spPr>
        <p:txBody>
          <a:bodyPr wrap="square" rtlCol="0" anchor="t"/>
          <a:lstStyle/>
          <a:p>
            <a:pPr algn="ctr" indent="0" marL="0">
              <a:buNone/>
            </a:pPr>
            <a:r>
              <a:rPr lang="en-US" sz="1250" b="1" dirty="0">
                <a:solidFill>
                  <a:srgbClr val="1E2761"/>
                </a:solidFill>
                <a:latin typeface="Calibri" pitchFamily="34" charset="0"/>
                <a:ea typeface="Calibri" pitchFamily="34" charset="-122"/>
                <a:cs typeface="Calibri" pitchFamily="34" charset="-120"/>
              </a:rPr>
              <a:t>Activation Analysis</a:t>
            </a:r>
            <a:endParaRPr lang="en-US" sz="1250" dirty="0"/>
          </a:p>
        </p:txBody>
      </p:sp>
      <p:sp>
        <p:nvSpPr>
          <p:cNvPr id="26" name="Text 20"/>
          <p:cNvSpPr/>
          <p:nvPr/>
        </p:nvSpPr>
        <p:spPr>
          <a:xfrm>
            <a:off x="7351776" y="3017520"/>
            <a:ext cx="1810512" cy="1325880"/>
          </a:xfrm>
          <a:prstGeom prst="rect">
            <a:avLst/>
          </a:prstGeom>
          <a:noFill/>
          <a:ln/>
        </p:spPr>
        <p:txBody>
          <a:bodyPr wrap="square" rtlCol="0" anchor="t"/>
          <a:lstStyle/>
          <a:p>
            <a:pPr algn="ctr" indent="0" marL="0">
              <a:buNone/>
            </a:pPr>
            <a:r>
              <a:rPr lang="en-US" sz="1050" dirty="0">
                <a:solidFill>
                  <a:srgbClr val="5A6472"/>
                </a:solidFill>
                <a:latin typeface="Calibri" pitchFamily="34" charset="0"/>
                <a:ea typeface="Calibri" pitchFamily="34" charset="-122"/>
                <a:cs typeface="Calibri" pitchFamily="34" charset="-120"/>
              </a:rPr>
              <a:t>Study activation statistics/patterns across layers during recursive computation.</a:t>
            </a:r>
            <a:endParaRPr lang="en-US" sz="1050" dirty="0"/>
          </a:p>
        </p:txBody>
      </p:sp>
      <p:sp>
        <p:nvSpPr>
          <p:cNvPr id="27" name="Shape 21"/>
          <p:cNvSpPr/>
          <p:nvPr/>
        </p:nvSpPr>
        <p:spPr>
          <a:xfrm>
            <a:off x="9308592" y="3017520"/>
            <a:ext cx="118872" cy="0"/>
          </a:xfrm>
          <a:prstGeom prst="line">
            <a:avLst/>
          </a:prstGeom>
          <a:noFill/>
          <a:ln w="19050">
            <a:solidFill>
              <a:srgbClr val="2F6FED"/>
            </a:solidFill>
            <a:prstDash val="solid"/>
            <a:tailEnd type="triangle"/>
          </a:ln>
        </p:spPr>
      </p:sp>
      <p:sp>
        <p:nvSpPr>
          <p:cNvPr id="28" name="Shape 22"/>
          <p:cNvSpPr/>
          <p:nvPr/>
        </p:nvSpPr>
        <p:spPr>
          <a:xfrm>
            <a:off x="9436608" y="1600200"/>
            <a:ext cx="2084832" cy="2834640"/>
          </a:xfrm>
          <a:prstGeom prst="roundRect">
            <a:avLst>
              <a:gd name="adj" fmla="val 4386"/>
            </a:avLst>
          </a:prstGeom>
          <a:solidFill>
            <a:srgbClr val="F4F6FB"/>
          </a:solidFill>
          <a:ln w="12700">
            <a:solidFill>
              <a:srgbClr val="E3E7EF"/>
            </a:solidFill>
            <a:prstDash val="solid"/>
          </a:ln>
        </p:spPr>
      </p:sp>
      <p:sp>
        <p:nvSpPr>
          <p:cNvPr id="29" name="Shape 23"/>
          <p:cNvSpPr/>
          <p:nvPr/>
        </p:nvSpPr>
        <p:spPr>
          <a:xfrm>
            <a:off x="10204704" y="1828800"/>
            <a:ext cx="548640" cy="548640"/>
          </a:xfrm>
          <a:prstGeom prst="ellipse">
            <a:avLst/>
          </a:prstGeom>
          <a:solidFill>
            <a:srgbClr val="1E2761"/>
          </a:solidFill>
          <a:ln/>
        </p:spPr>
      </p:sp>
      <p:pic>
        <p:nvPicPr>
          <p:cNvPr id="30" name="Image 4" descr="/home/claude/icons_white/layers.png">    </p:cNvPr>
          <p:cNvPicPr>
            <a:picLocks noChangeAspect="1"/>
          </p:cNvPicPr>
          <p:nvPr/>
        </p:nvPicPr>
        <p:blipFill>
          <a:blip r:embed="rId5"/>
          <a:stretch>
            <a:fillRect/>
          </a:stretch>
        </p:blipFill>
        <p:spPr>
          <a:xfrm>
            <a:off x="10341864" y="1965960"/>
            <a:ext cx="274320" cy="274320"/>
          </a:xfrm>
          <a:prstGeom prst="rect">
            <a:avLst/>
          </a:prstGeom>
        </p:spPr>
      </p:pic>
      <p:sp>
        <p:nvSpPr>
          <p:cNvPr id="31" name="Text 24"/>
          <p:cNvSpPr/>
          <p:nvPr/>
        </p:nvSpPr>
        <p:spPr>
          <a:xfrm>
            <a:off x="9546336" y="2514600"/>
            <a:ext cx="1865376" cy="502920"/>
          </a:xfrm>
          <a:prstGeom prst="rect">
            <a:avLst/>
          </a:prstGeom>
          <a:noFill/>
          <a:ln/>
        </p:spPr>
        <p:txBody>
          <a:bodyPr wrap="square" rtlCol="0" anchor="t"/>
          <a:lstStyle/>
          <a:p>
            <a:pPr algn="ctr" indent="0" marL="0">
              <a:buNone/>
            </a:pPr>
            <a:r>
              <a:rPr lang="en-US" sz="1250" b="1" dirty="0">
                <a:solidFill>
                  <a:srgbClr val="1E2761"/>
                </a:solidFill>
                <a:latin typeface="Calibri" pitchFamily="34" charset="0"/>
                <a:ea typeface="Calibri" pitchFamily="34" charset="-122"/>
                <a:cs typeface="Calibri" pitchFamily="34" charset="-120"/>
              </a:rPr>
              <a:t>Latent Representations</a:t>
            </a:r>
            <a:endParaRPr lang="en-US" sz="1250" dirty="0"/>
          </a:p>
        </p:txBody>
      </p:sp>
      <p:sp>
        <p:nvSpPr>
          <p:cNvPr id="32" name="Text 25"/>
          <p:cNvSpPr/>
          <p:nvPr/>
        </p:nvSpPr>
        <p:spPr>
          <a:xfrm>
            <a:off x="9573768" y="3017520"/>
            <a:ext cx="1810512" cy="1325880"/>
          </a:xfrm>
          <a:prstGeom prst="rect">
            <a:avLst/>
          </a:prstGeom>
          <a:noFill/>
          <a:ln/>
        </p:spPr>
        <p:txBody>
          <a:bodyPr wrap="square" rtlCol="0" anchor="t"/>
          <a:lstStyle/>
          <a:p>
            <a:pPr algn="ctr" indent="0" marL="0">
              <a:buNone/>
            </a:pPr>
            <a:r>
              <a:rPr lang="en-US" sz="1050" dirty="0">
                <a:solidFill>
                  <a:srgbClr val="5A6472"/>
                </a:solidFill>
                <a:latin typeface="Calibri" pitchFamily="34" charset="0"/>
                <a:ea typeface="Calibri" pitchFamily="34" charset="-122"/>
                <a:cs typeface="Calibri" pitchFamily="34" charset="-120"/>
              </a:rPr>
              <a:t>Examine how latent states (e.g. HRM's z_H, z_L) evolve across recursive steps.</a:t>
            </a:r>
            <a:endParaRPr lang="en-US" sz="1050" dirty="0"/>
          </a:p>
        </p:txBody>
      </p:sp>
      <p:sp>
        <p:nvSpPr>
          <p:cNvPr id="33" name="Text 26"/>
          <p:cNvSpPr/>
          <p:nvPr/>
        </p:nvSpPr>
        <p:spPr>
          <a:xfrm>
            <a:off x="548640" y="4709160"/>
            <a:ext cx="10972800" cy="777240"/>
          </a:xfrm>
          <a:prstGeom prst="rect">
            <a:avLst/>
          </a:prstGeom>
          <a:noFill/>
          <a:ln/>
        </p:spPr>
        <p:txBody>
          <a:bodyPr wrap="square" rtlCol="0" anchor="t"/>
          <a:lstStyle/>
          <a:p>
            <a:pPr indent="0" marL="0">
              <a:buNone/>
            </a:pPr>
            <a:r>
              <a:rPr lang="en-US" sz="1300" i="1" dirty="0">
                <a:solidFill>
                  <a:srgbClr val="1E2761"/>
                </a:solidFill>
                <a:latin typeface="Calibri" pitchFamily="34" charset="0"/>
                <a:ea typeface="Calibri" pitchFamily="34" charset="-122"/>
                <a:cs typeface="Calibri" pitchFamily="34" charset="-120"/>
              </a:rPr>
              <a:t>Applied to HRM/TRM, these tools probe how the latent state z evolves across recursive steps and whether recognizable sub-algorithms (e.g. constraint propagation in Sudoku) emerge — an active, largely open research direction.</a:t>
            </a:r>
            <a:endParaRPr lang="en-US" sz="1300" dirty="0"/>
          </a:p>
        </p:txBody>
      </p:sp>
      <p:sp>
        <p:nvSpPr>
          <p:cNvPr id="34" name="Text 27"/>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2F6FED"/>
                </a:solidFill>
                <a:latin typeface="Calibri" pitchFamily="34" charset="0"/>
                <a:ea typeface="Calibri" pitchFamily="34" charset="-122"/>
                <a:cs typeface="Calibri" pitchFamily="34" charset="-120"/>
              </a:rPr>
              <a:t>APPLICATIONS</a:t>
            </a:r>
            <a:endParaRPr lang="en-US" sz="1200" dirty="0"/>
          </a:p>
        </p:txBody>
      </p:sp>
      <p:sp>
        <p:nvSpPr>
          <p:cNvPr id="3" name="Text 1"/>
          <p:cNvSpPr/>
          <p:nvPr/>
        </p:nvSpPr>
        <p:spPr>
          <a:xfrm>
            <a:off x="548640" y="658368"/>
            <a:ext cx="11064240" cy="68580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Applications of Recursive Reasoning Models</a:t>
            </a:r>
            <a:endParaRPr lang="en-US" sz="3000" dirty="0"/>
          </a:p>
        </p:txBody>
      </p:sp>
      <p:sp>
        <p:nvSpPr>
          <p:cNvPr id="4" name="Shape 2"/>
          <p:cNvSpPr/>
          <p:nvPr/>
        </p:nvSpPr>
        <p:spPr>
          <a:xfrm>
            <a:off x="548640" y="1508760"/>
            <a:ext cx="3611880" cy="2011680"/>
          </a:xfrm>
          <a:prstGeom prst="roundRect">
            <a:avLst>
              <a:gd name="adj" fmla="val 4545"/>
            </a:avLst>
          </a:prstGeom>
          <a:solidFill>
            <a:srgbClr val="F4F6FB"/>
          </a:solidFill>
          <a:ln/>
        </p:spPr>
      </p:sp>
      <p:sp>
        <p:nvSpPr>
          <p:cNvPr id="5" name="Shape 3"/>
          <p:cNvSpPr/>
          <p:nvPr/>
        </p:nvSpPr>
        <p:spPr>
          <a:xfrm>
            <a:off x="777240" y="1737360"/>
            <a:ext cx="457200" cy="457200"/>
          </a:xfrm>
          <a:prstGeom prst="ellipse">
            <a:avLst/>
          </a:prstGeom>
          <a:solidFill>
            <a:srgbClr val="FFFFFF"/>
          </a:solidFill>
          <a:ln w="15875">
            <a:solidFill>
              <a:srgbClr val="2F6FED"/>
            </a:solidFill>
            <a:prstDash val="solid"/>
          </a:ln>
        </p:spPr>
      </p:sp>
      <p:pic>
        <p:nvPicPr>
          <p:cNvPr id="6" name="Image 0" descr="/home/claude/icons_accent/flask.png">    </p:cNvPr>
          <p:cNvPicPr>
            <a:picLocks noChangeAspect="1"/>
          </p:cNvPicPr>
          <p:nvPr/>
        </p:nvPicPr>
        <p:blipFill>
          <a:blip r:embed="rId1"/>
          <a:stretch>
            <a:fillRect/>
          </a:stretch>
        </p:blipFill>
        <p:spPr>
          <a:xfrm>
            <a:off x="896112" y="1856232"/>
            <a:ext cx="219456" cy="219456"/>
          </a:xfrm>
          <a:prstGeom prst="rect">
            <a:avLst/>
          </a:prstGeom>
        </p:spPr>
      </p:pic>
      <p:sp>
        <p:nvSpPr>
          <p:cNvPr id="7" name="Text 4"/>
          <p:cNvSpPr/>
          <p:nvPr/>
        </p:nvSpPr>
        <p:spPr>
          <a:xfrm>
            <a:off x="1371600" y="1709928"/>
            <a:ext cx="2606040" cy="50292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Scientific Reasoning</a:t>
            </a:r>
            <a:endParaRPr lang="en-US" sz="1350" dirty="0"/>
          </a:p>
        </p:txBody>
      </p:sp>
      <p:sp>
        <p:nvSpPr>
          <p:cNvPr id="8" name="Text 5"/>
          <p:cNvSpPr/>
          <p:nvPr/>
        </p:nvSpPr>
        <p:spPr>
          <a:xfrm>
            <a:off x="777240" y="2377440"/>
            <a:ext cx="3154680" cy="1005840"/>
          </a:xfrm>
          <a:prstGeom prst="rect">
            <a:avLst/>
          </a:prstGeom>
          <a:noFill/>
          <a:ln/>
        </p:spPr>
        <p:txBody>
          <a:bodyPr wrap="square" rtlCol="0" anchor="t"/>
          <a:lstStyle/>
          <a:p>
            <a:pPr indent="0" marL="0">
              <a:buNone/>
            </a:pPr>
            <a:r>
              <a:rPr lang="en-US" sz="1100" dirty="0">
                <a:solidFill>
                  <a:srgbClr val="5A6472"/>
                </a:solidFill>
                <a:latin typeface="Calibri" pitchFamily="34" charset="0"/>
                <a:ea typeface="Calibri" pitchFamily="34" charset="-122"/>
                <a:cs typeface="Calibri" pitchFamily="34" charset="-120"/>
              </a:rPr>
              <a:t>Structured hypothesis search and constraint-satisfaction style problems.</a:t>
            </a:r>
            <a:endParaRPr lang="en-US" sz="1100" dirty="0"/>
          </a:p>
        </p:txBody>
      </p:sp>
      <p:sp>
        <p:nvSpPr>
          <p:cNvPr id="9" name="Shape 6"/>
          <p:cNvSpPr/>
          <p:nvPr/>
        </p:nvSpPr>
        <p:spPr>
          <a:xfrm>
            <a:off x="4297680" y="1508760"/>
            <a:ext cx="3611880" cy="2011680"/>
          </a:xfrm>
          <a:prstGeom prst="roundRect">
            <a:avLst>
              <a:gd name="adj" fmla="val 4545"/>
            </a:avLst>
          </a:prstGeom>
          <a:solidFill>
            <a:srgbClr val="F4F6FB"/>
          </a:solidFill>
          <a:ln/>
        </p:spPr>
      </p:sp>
      <p:sp>
        <p:nvSpPr>
          <p:cNvPr id="10" name="Shape 7"/>
          <p:cNvSpPr/>
          <p:nvPr/>
        </p:nvSpPr>
        <p:spPr>
          <a:xfrm>
            <a:off x="4526280" y="1737360"/>
            <a:ext cx="457200" cy="457200"/>
          </a:xfrm>
          <a:prstGeom prst="ellipse">
            <a:avLst/>
          </a:prstGeom>
          <a:solidFill>
            <a:srgbClr val="FFFFFF"/>
          </a:solidFill>
          <a:ln w="15875">
            <a:solidFill>
              <a:srgbClr val="2F6FED"/>
            </a:solidFill>
            <a:prstDash val="solid"/>
          </a:ln>
        </p:spPr>
      </p:sp>
      <p:pic>
        <p:nvPicPr>
          <p:cNvPr id="11" name="Image 1" descr="/home/claude/icons_accent/robot.png">    </p:cNvPr>
          <p:cNvPicPr>
            <a:picLocks noChangeAspect="1"/>
          </p:cNvPicPr>
          <p:nvPr/>
        </p:nvPicPr>
        <p:blipFill>
          <a:blip r:embed="rId2"/>
          <a:stretch>
            <a:fillRect/>
          </a:stretch>
        </p:blipFill>
        <p:spPr>
          <a:xfrm>
            <a:off x="4645152" y="1856232"/>
            <a:ext cx="219456" cy="219456"/>
          </a:xfrm>
          <a:prstGeom prst="rect">
            <a:avLst/>
          </a:prstGeom>
        </p:spPr>
      </p:pic>
      <p:sp>
        <p:nvSpPr>
          <p:cNvPr id="12" name="Text 8"/>
          <p:cNvSpPr/>
          <p:nvPr/>
        </p:nvSpPr>
        <p:spPr>
          <a:xfrm>
            <a:off x="5120640" y="1709928"/>
            <a:ext cx="2606040" cy="50292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Robotics</a:t>
            </a:r>
            <a:endParaRPr lang="en-US" sz="1350" dirty="0"/>
          </a:p>
        </p:txBody>
      </p:sp>
      <p:sp>
        <p:nvSpPr>
          <p:cNvPr id="13" name="Text 9"/>
          <p:cNvSpPr/>
          <p:nvPr/>
        </p:nvSpPr>
        <p:spPr>
          <a:xfrm>
            <a:off x="4526280" y="2377440"/>
            <a:ext cx="3154680" cy="1005840"/>
          </a:xfrm>
          <a:prstGeom prst="rect">
            <a:avLst/>
          </a:prstGeom>
          <a:noFill/>
          <a:ln/>
        </p:spPr>
        <p:txBody>
          <a:bodyPr wrap="square" rtlCol="0" anchor="t"/>
          <a:lstStyle/>
          <a:p>
            <a:pPr indent="0" marL="0">
              <a:buNone/>
            </a:pPr>
            <a:r>
              <a:rPr lang="en-US" sz="1100" dirty="0">
                <a:solidFill>
                  <a:srgbClr val="5A6472"/>
                </a:solidFill>
                <a:latin typeface="Calibri" pitchFamily="34" charset="0"/>
                <a:ea typeface="Calibri" pitchFamily="34" charset="-122"/>
                <a:cs typeface="Calibri" pitchFamily="34" charset="-120"/>
              </a:rPr>
              <a:t>Low-latency, on-device planning without cloud round-trips.</a:t>
            </a:r>
            <a:endParaRPr lang="en-US" sz="1100" dirty="0"/>
          </a:p>
        </p:txBody>
      </p:sp>
      <p:sp>
        <p:nvSpPr>
          <p:cNvPr id="14" name="Shape 10"/>
          <p:cNvSpPr/>
          <p:nvPr/>
        </p:nvSpPr>
        <p:spPr>
          <a:xfrm>
            <a:off x="8046720" y="1508760"/>
            <a:ext cx="3611880" cy="2011680"/>
          </a:xfrm>
          <a:prstGeom prst="roundRect">
            <a:avLst>
              <a:gd name="adj" fmla="val 4545"/>
            </a:avLst>
          </a:prstGeom>
          <a:solidFill>
            <a:srgbClr val="F4F6FB"/>
          </a:solidFill>
          <a:ln/>
        </p:spPr>
      </p:sp>
      <p:sp>
        <p:nvSpPr>
          <p:cNvPr id="15" name="Shape 11"/>
          <p:cNvSpPr/>
          <p:nvPr/>
        </p:nvSpPr>
        <p:spPr>
          <a:xfrm>
            <a:off x="8275320" y="1737360"/>
            <a:ext cx="457200" cy="457200"/>
          </a:xfrm>
          <a:prstGeom prst="ellipse">
            <a:avLst/>
          </a:prstGeom>
          <a:solidFill>
            <a:srgbClr val="FFFFFF"/>
          </a:solidFill>
          <a:ln w="15875">
            <a:solidFill>
              <a:srgbClr val="2F6FED"/>
            </a:solidFill>
            <a:prstDash val="solid"/>
          </a:ln>
        </p:spPr>
      </p:sp>
      <p:pic>
        <p:nvPicPr>
          <p:cNvPr id="16" name="Image 2" descr="/home/claude/icons_accent/target.png">    </p:cNvPr>
          <p:cNvPicPr>
            <a:picLocks noChangeAspect="1"/>
          </p:cNvPicPr>
          <p:nvPr/>
        </p:nvPicPr>
        <p:blipFill>
          <a:blip r:embed="rId3"/>
          <a:stretch>
            <a:fillRect/>
          </a:stretch>
        </p:blipFill>
        <p:spPr>
          <a:xfrm>
            <a:off x="8394192" y="1856232"/>
            <a:ext cx="219456" cy="219456"/>
          </a:xfrm>
          <a:prstGeom prst="rect">
            <a:avLst/>
          </a:prstGeom>
        </p:spPr>
      </p:pic>
      <p:sp>
        <p:nvSpPr>
          <p:cNvPr id="17" name="Text 12"/>
          <p:cNvSpPr/>
          <p:nvPr/>
        </p:nvSpPr>
        <p:spPr>
          <a:xfrm>
            <a:off x="8869680" y="1709928"/>
            <a:ext cx="2606040" cy="50292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Planning</a:t>
            </a:r>
            <a:endParaRPr lang="en-US" sz="1350" dirty="0"/>
          </a:p>
        </p:txBody>
      </p:sp>
      <p:sp>
        <p:nvSpPr>
          <p:cNvPr id="18" name="Text 13"/>
          <p:cNvSpPr/>
          <p:nvPr/>
        </p:nvSpPr>
        <p:spPr>
          <a:xfrm>
            <a:off x="8275320" y="2377440"/>
            <a:ext cx="3154680" cy="1005840"/>
          </a:xfrm>
          <a:prstGeom prst="rect">
            <a:avLst/>
          </a:prstGeom>
          <a:noFill/>
          <a:ln/>
        </p:spPr>
        <p:txBody>
          <a:bodyPr wrap="square" rtlCol="0" anchor="t"/>
          <a:lstStyle/>
          <a:p>
            <a:pPr indent="0" marL="0">
              <a:buNone/>
            </a:pPr>
            <a:r>
              <a:rPr lang="en-US" sz="1100" dirty="0">
                <a:solidFill>
                  <a:srgbClr val="5A6472"/>
                </a:solidFill>
                <a:latin typeface="Calibri" pitchFamily="34" charset="0"/>
                <a:ea typeface="Calibri" pitchFamily="34" charset="-122"/>
                <a:cs typeface="Calibri" pitchFamily="34" charset="-120"/>
              </a:rPr>
              <a:t>Sequential decision-making tasks with clear goal structure.</a:t>
            </a:r>
            <a:endParaRPr lang="en-US" sz="1100" dirty="0"/>
          </a:p>
        </p:txBody>
      </p:sp>
      <p:sp>
        <p:nvSpPr>
          <p:cNvPr id="19" name="Shape 14"/>
          <p:cNvSpPr/>
          <p:nvPr/>
        </p:nvSpPr>
        <p:spPr>
          <a:xfrm>
            <a:off x="548640" y="3703320"/>
            <a:ext cx="3611880" cy="2011680"/>
          </a:xfrm>
          <a:prstGeom prst="roundRect">
            <a:avLst>
              <a:gd name="adj" fmla="val 4545"/>
            </a:avLst>
          </a:prstGeom>
          <a:solidFill>
            <a:srgbClr val="F4F6FB"/>
          </a:solidFill>
          <a:ln/>
        </p:spPr>
      </p:sp>
      <p:sp>
        <p:nvSpPr>
          <p:cNvPr id="20" name="Shape 15"/>
          <p:cNvSpPr/>
          <p:nvPr/>
        </p:nvSpPr>
        <p:spPr>
          <a:xfrm>
            <a:off x="777240" y="3931920"/>
            <a:ext cx="457200" cy="457200"/>
          </a:xfrm>
          <a:prstGeom prst="ellipse">
            <a:avLst/>
          </a:prstGeom>
          <a:solidFill>
            <a:srgbClr val="FFFFFF"/>
          </a:solidFill>
          <a:ln w="15875">
            <a:solidFill>
              <a:srgbClr val="2F6FED"/>
            </a:solidFill>
            <a:prstDash val="solid"/>
          </a:ln>
        </p:spPr>
      </p:sp>
      <p:pic>
        <p:nvPicPr>
          <p:cNvPr id="21" name="Image 3" descr="/home/claude/icons_accent/math.png">    </p:cNvPr>
          <p:cNvPicPr>
            <a:picLocks noChangeAspect="1"/>
          </p:cNvPicPr>
          <p:nvPr/>
        </p:nvPicPr>
        <p:blipFill>
          <a:blip r:embed="rId4"/>
          <a:stretch>
            <a:fillRect/>
          </a:stretch>
        </p:blipFill>
        <p:spPr>
          <a:xfrm>
            <a:off x="896112" y="4050792"/>
            <a:ext cx="219456" cy="219456"/>
          </a:xfrm>
          <a:prstGeom prst="rect">
            <a:avLst/>
          </a:prstGeom>
        </p:spPr>
      </p:pic>
      <p:sp>
        <p:nvSpPr>
          <p:cNvPr id="22" name="Text 16"/>
          <p:cNvSpPr/>
          <p:nvPr/>
        </p:nvSpPr>
        <p:spPr>
          <a:xfrm>
            <a:off x="1371600" y="3904488"/>
            <a:ext cx="2606040" cy="50292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Mathematical Reasoning</a:t>
            </a:r>
            <a:endParaRPr lang="en-US" sz="1350" dirty="0"/>
          </a:p>
        </p:txBody>
      </p:sp>
      <p:sp>
        <p:nvSpPr>
          <p:cNvPr id="23" name="Text 17"/>
          <p:cNvSpPr/>
          <p:nvPr/>
        </p:nvSpPr>
        <p:spPr>
          <a:xfrm>
            <a:off x="777240" y="4572000"/>
            <a:ext cx="3154680" cy="1005840"/>
          </a:xfrm>
          <a:prstGeom prst="rect">
            <a:avLst/>
          </a:prstGeom>
          <a:noFill/>
          <a:ln/>
        </p:spPr>
        <p:txBody>
          <a:bodyPr wrap="square" rtlCol="0" anchor="t"/>
          <a:lstStyle/>
          <a:p>
            <a:pPr indent="0" marL="0">
              <a:buNone/>
            </a:pPr>
            <a:r>
              <a:rPr lang="en-US" sz="1100" dirty="0">
                <a:solidFill>
                  <a:srgbClr val="5A6472"/>
                </a:solidFill>
                <a:latin typeface="Calibri" pitchFamily="34" charset="0"/>
                <a:ea typeface="Calibri" pitchFamily="34" charset="-122"/>
                <a:cs typeface="Calibri" pitchFamily="34" charset="-120"/>
              </a:rPr>
              <a:t>Puzzle- and proof-like tasks such as Sudoku-style constraint problems.</a:t>
            </a:r>
            <a:endParaRPr lang="en-US" sz="1100" dirty="0"/>
          </a:p>
        </p:txBody>
      </p:sp>
      <p:sp>
        <p:nvSpPr>
          <p:cNvPr id="24" name="Shape 18"/>
          <p:cNvSpPr/>
          <p:nvPr/>
        </p:nvSpPr>
        <p:spPr>
          <a:xfrm>
            <a:off x="4297680" y="3703320"/>
            <a:ext cx="3611880" cy="2011680"/>
          </a:xfrm>
          <a:prstGeom prst="roundRect">
            <a:avLst>
              <a:gd name="adj" fmla="val 4545"/>
            </a:avLst>
          </a:prstGeom>
          <a:solidFill>
            <a:srgbClr val="F4F6FB"/>
          </a:solidFill>
          <a:ln/>
        </p:spPr>
      </p:sp>
      <p:sp>
        <p:nvSpPr>
          <p:cNvPr id="25" name="Shape 19"/>
          <p:cNvSpPr/>
          <p:nvPr/>
        </p:nvSpPr>
        <p:spPr>
          <a:xfrm>
            <a:off x="4526280" y="3931920"/>
            <a:ext cx="457200" cy="457200"/>
          </a:xfrm>
          <a:prstGeom prst="ellipse">
            <a:avLst/>
          </a:prstGeom>
          <a:solidFill>
            <a:srgbClr val="FFFFFF"/>
          </a:solidFill>
          <a:ln w="15875">
            <a:solidFill>
              <a:srgbClr val="2F6FED"/>
            </a:solidFill>
            <a:prstDash val="solid"/>
          </a:ln>
        </p:spPr>
      </p:sp>
      <p:pic>
        <p:nvPicPr>
          <p:cNvPr id="26" name="Image 4" descr="/home/claude/icons_accent/zap.png">    </p:cNvPr>
          <p:cNvPicPr>
            <a:picLocks noChangeAspect="1"/>
          </p:cNvPicPr>
          <p:nvPr/>
        </p:nvPicPr>
        <p:blipFill>
          <a:blip r:embed="rId5"/>
          <a:stretch>
            <a:fillRect/>
          </a:stretch>
        </p:blipFill>
        <p:spPr>
          <a:xfrm>
            <a:off x="4645152" y="4050792"/>
            <a:ext cx="219456" cy="219456"/>
          </a:xfrm>
          <a:prstGeom prst="rect">
            <a:avLst/>
          </a:prstGeom>
        </p:spPr>
      </p:pic>
      <p:sp>
        <p:nvSpPr>
          <p:cNvPr id="27" name="Text 20"/>
          <p:cNvSpPr/>
          <p:nvPr/>
        </p:nvSpPr>
        <p:spPr>
          <a:xfrm>
            <a:off x="5120640" y="3904488"/>
            <a:ext cx="2606040" cy="50292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Efficient AI</a:t>
            </a:r>
            <a:endParaRPr lang="en-US" sz="1350" dirty="0"/>
          </a:p>
        </p:txBody>
      </p:sp>
      <p:sp>
        <p:nvSpPr>
          <p:cNvPr id="28" name="Text 21"/>
          <p:cNvSpPr/>
          <p:nvPr/>
        </p:nvSpPr>
        <p:spPr>
          <a:xfrm>
            <a:off x="4526280" y="4572000"/>
            <a:ext cx="3154680" cy="1005840"/>
          </a:xfrm>
          <a:prstGeom prst="rect">
            <a:avLst/>
          </a:prstGeom>
          <a:noFill/>
          <a:ln/>
        </p:spPr>
        <p:txBody>
          <a:bodyPr wrap="square" rtlCol="0" anchor="t"/>
          <a:lstStyle/>
          <a:p>
            <a:pPr indent="0" marL="0">
              <a:buNone/>
            </a:pPr>
            <a:r>
              <a:rPr lang="en-US" sz="1100" dirty="0">
                <a:solidFill>
                  <a:srgbClr val="5A6472"/>
                </a:solidFill>
                <a:latin typeface="Calibri" pitchFamily="34" charset="0"/>
                <a:ea typeface="Calibri" pitchFamily="34" charset="-122"/>
                <a:cs typeface="Calibri" pitchFamily="34" charset="-120"/>
              </a:rPr>
              <a:t>Small-footprint models deployable on mobile/edge hardware.</a:t>
            </a:r>
            <a:endParaRPr lang="en-US" sz="1100" dirty="0"/>
          </a:p>
        </p:txBody>
      </p:sp>
      <p:sp>
        <p:nvSpPr>
          <p:cNvPr id="29" name="Shape 22"/>
          <p:cNvSpPr/>
          <p:nvPr/>
        </p:nvSpPr>
        <p:spPr>
          <a:xfrm>
            <a:off x="8046720" y="3703320"/>
            <a:ext cx="3611880" cy="2011680"/>
          </a:xfrm>
          <a:prstGeom prst="roundRect">
            <a:avLst>
              <a:gd name="adj" fmla="val 4545"/>
            </a:avLst>
          </a:prstGeom>
          <a:solidFill>
            <a:srgbClr val="F4F6FB"/>
          </a:solidFill>
          <a:ln/>
        </p:spPr>
      </p:sp>
      <p:sp>
        <p:nvSpPr>
          <p:cNvPr id="30" name="Shape 23"/>
          <p:cNvSpPr/>
          <p:nvPr/>
        </p:nvSpPr>
        <p:spPr>
          <a:xfrm>
            <a:off x="8275320" y="3931920"/>
            <a:ext cx="457200" cy="457200"/>
          </a:xfrm>
          <a:prstGeom prst="ellipse">
            <a:avLst/>
          </a:prstGeom>
          <a:solidFill>
            <a:srgbClr val="FFFFFF"/>
          </a:solidFill>
          <a:ln w="15875">
            <a:solidFill>
              <a:srgbClr val="2F6FED"/>
            </a:solidFill>
            <a:prstDash val="solid"/>
          </a:ln>
        </p:spPr>
      </p:sp>
      <p:pic>
        <p:nvPicPr>
          <p:cNvPr id="31" name="Image 5" descr="/home/claude/icons_accent/brain.png">    </p:cNvPr>
          <p:cNvPicPr>
            <a:picLocks noChangeAspect="1"/>
          </p:cNvPicPr>
          <p:nvPr/>
        </p:nvPicPr>
        <p:blipFill>
          <a:blip r:embed="rId6"/>
          <a:stretch>
            <a:fillRect/>
          </a:stretch>
        </p:blipFill>
        <p:spPr>
          <a:xfrm>
            <a:off x="8394192" y="4050792"/>
            <a:ext cx="219456" cy="219456"/>
          </a:xfrm>
          <a:prstGeom prst="rect">
            <a:avLst/>
          </a:prstGeom>
        </p:spPr>
      </p:pic>
      <p:sp>
        <p:nvSpPr>
          <p:cNvPr id="32" name="Text 24"/>
          <p:cNvSpPr/>
          <p:nvPr/>
        </p:nvSpPr>
        <p:spPr>
          <a:xfrm>
            <a:off x="8869680" y="3904488"/>
            <a:ext cx="2606040" cy="50292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AGI Research</a:t>
            </a:r>
            <a:endParaRPr lang="en-US" sz="1350" dirty="0"/>
          </a:p>
        </p:txBody>
      </p:sp>
      <p:sp>
        <p:nvSpPr>
          <p:cNvPr id="33" name="Text 25"/>
          <p:cNvSpPr/>
          <p:nvPr/>
        </p:nvSpPr>
        <p:spPr>
          <a:xfrm>
            <a:off x="8275320" y="4572000"/>
            <a:ext cx="3154680" cy="1005840"/>
          </a:xfrm>
          <a:prstGeom prst="rect">
            <a:avLst/>
          </a:prstGeom>
          <a:noFill/>
          <a:ln/>
        </p:spPr>
        <p:txBody>
          <a:bodyPr wrap="square" rtlCol="0" anchor="t"/>
          <a:lstStyle/>
          <a:p>
            <a:pPr indent="0" marL="0">
              <a:buNone/>
            </a:pPr>
            <a:r>
              <a:rPr lang="en-US" sz="1100" dirty="0">
                <a:solidFill>
                  <a:srgbClr val="5A6472"/>
                </a:solidFill>
                <a:latin typeface="Calibri" pitchFamily="34" charset="0"/>
                <a:ea typeface="Calibri" pitchFamily="34" charset="-122"/>
                <a:cs typeface="Calibri" pitchFamily="34" charset="-120"/>
              </a:rPr>
              <a:t>Probing whether reasoning can emerge without massive pretraining.</a:t>
            </a:r>
            <a:endParaRPr lang="en-US" sz="1100" dirty="0"/>
          </a:p>
        </p:txBody>
      </p:sp>
      <p:sp>
        <p:nvSpPr>
          <p:cNvPr id="34" name="Text 26"/>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2F6FED"/>
                </a:solidFill>
                <a:latin typeface="Calibri" pitchFamily="34" charset="0"/>
                <a:ea typeface="Calibri" pitchFamily="34" charset="-122"/>
                <a:cs typeface="Calibri" pitchFamily="34" charset="-120"/>
              </a:rPr>
              <a:t>LIMITATIONS</a:t>
            </a:r>
            <a:endParaRPr lang="en-US" sz="1200" dirty="0"/>
          </a:p>
        </p:txBody>
      </p:sp>
      <p:sp>
        <p:nvSpPr>
          <p:cNvPr id="3" name="Text 1"/>
          <p:cNvSpPr/>
          <p:nvPr/>
        </p:nvSpPr>
        <p:spPr>
          <a:xfrm>
            <a:off x="548640" y="658368"/>
            <a:ext cx="11064240" cy="68580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Current Limitations — Why Not Replace LLMs Yet?</a:t>
            </a:r>
            <a:endParaRPr lang="en-US" sz="3000" dirty="0"/>
          </a:p>
        </p:txBody>
      </p:sp>
      <p:sp>
        <p:nvSpPr>
          <p:cNvPr id="4" name="Text 2"/>
          <p:cNvSpPr/>
          <p:nvPr/>
        </p:nvSpPr>
        <p:spPr>
          <a:xfrm>
            <a:off x="548640" y="1325880"/>
            <a:ext cx="10972800" cy="457200"/>
          </a:xfrm>
          <a:prstGeom prst="rect">
            <a:avLst/>
          </a:prstGeom>
          <a:noFill/>
          <a:ln/>
        </p:spPr>
        <p:txBody>
          <a:bodyPr wrap="square" rtlCol="0" anchor="ctr"/>
          <a:lstStyle/>
          <a:p>
            <a:pPr indent="0" marL="0">
              <a:buNone/>
            </a:pPr>
            <a:r>
              <a:rPr lang="en-US" sz="1400" i="1" dirty="0">
                <a:solidFill>
                  <a:srgbClr val="2A2E35"/>
                </a:solidFill>
                <a:latin typeface="Calibri" pitchFamily="34" charset="0"/>
                <a:ea typeface="Calibri" pitchFamily="34" charset="-122"/>
                <a:cs typeface="Calibri" pitchFamily="34" charset="-120"/>
              </a:rPr>
              <a:t>A natural question: “If TRM is so good, why aren't we replacing GPT-style models?” The results are real, but narrow.</a:t>
            </a:r>
            <a:endParaRPr lang="en-US" sz="1400" dirty="0"/>
          </a:p>
        </p:txBody>
      </p:sp>
      <p:sp>
        <p:nvSpPr>
          <p:cNvPr id="5" name="Shape 3"/>
          <p:cNvSpPr/>
          <p:nvPr/>
        </p:nvSpPr>
        <p:spPr>
          <a:xfrm>
            <a:off x="548640" y="1965960"/>
            <a:ext cx="3611880" cy="1691640"/>
          </a:xfrm>
          <a:prstGeom prst="roundRect">
            <a:avLst>
              <a:gd name="adj" fmla="val 5405"/>
            </a:avLst>
          </a:prstGeom>
          <a:solidFill>
            <a:srgbClr val="FCF3E3"/>
          </a:solidFill>
          <a:ln/>
        </p:spPr>
      </p:sp>
      <p:pic>
        <p:nvPicPr>
          <p:cNvPr id="6" name="Image 0" descr="/home/claude/icons_accent/target.png">    </p:cNvPr>
          <p:cNvPicPr>
            <a:picLocks noChangeAspect="1"/>
          </p:cNvPicPr>
          <p:nvPr/>
        </p:nvPicPr>
        <p:blipFill>
          <a:blip r:embed="rId1"/>
          <a:stretch>
            <a:fillRect/>
          </a:stretch>
        </p:blipFill>
        <p:spPr>
          <a:xfrm>
            <a:off x="777240" y="2167128"/>
            <a:ext cx="237744" cy="237744"/>
          </a:xfrm>
          <a:prstGeom prst="rect">
            <a:avLst/>
          </a:prstGeom>
        </p:spPr>
      </p:pic>
      <p:sp>
        <p:nvSpPr>
          <p:cNvPr id="7" name="Text 4"/>
          <p:cNvSpPr/>
          <p:nvPr/>
        </p:nvSpPr>
        <p:spPr>
          <a:xfrm>
            <a:off x="1143000" y="2112264"/>
            <a:ext cx="2834640" cy="502920"/>
          </a:xfrm>
          <a:prstGeom prst="rect">
            <a:avLst/>
          </a:prstGeom>
          <a:noFill/>
          <a:ln/>
        </p:spPr>
        <p:txBody>
          <a:bodyPr wrap="square" rtlCol="0" anchor="t"/>
          <a:lstStyle/>
          <a:p>
            <a:pPr indent="0" marL="0">
              <a:buNone/>
            </a:pPr>
            <a:r>
              <a:rPr lang="en-US" sz="1250" b="1" dirty="0">
                <a:solidFill>
                  <a:srgbClr val="B8791A"/>
                </a:solidFill>
                <a:latin typeface="Calibri" pitchFamily="34" charset="0"/>
                <a:ea typeface="Calibri" pitchFamily="34" charset="-122"/>
                <a:cs typeface="Calibri" pitchFamily="34" charset="-120"/>
              </a:rPr>
              <a:t>Puzzle-specific training</a:t>
            </a:r>
            <a:endParaRPr lang="en-US" sz="1250" dirty="0"/>
          </a:p>
        </p:txBody>
      </p:sp>
      <p:sp>
        <p:nvSpPr>
          <p:cNvPr id="8" name="Text 5"/>
          <p:cNvSpPr/>
          <p:nvPr/>
        </p:nvSpPr>
        <p:spPr>
          <a:xfrm>
            <a:off x="777240" y="2651760"/>
            <a:ext cx="3154680" cy="914400"/>
          </a:xfrm>
          <a:prstGeom prst="rect">
            <a:avLst/>
          </a:prstGeom>
          <a:noFill/>
          <a:ln/>
        </p:spPr>
        <p:txBody>
          <a:bodyPr wrap="square" rtlCol="0" anchor="t"/>
          <a:lstStyle/>
          <a:p>
            <a:pPr indent="0" marL="0">
              <a:buNone/>
            </a:pPr>
            <a:r>
              <a:rPr lang="en-US" sz="1050" dirty="0">
                <a:solidFill>
                  <a:srgbClr val="2A2E35"/>
                </a:solidFill>
                <a:latin typeface="Calibri" pitchFamily="34" charset="0"/>
                <a:ea typeface="Calibri" pitchFamily="34" charset="-122"/>
                <a:cs typeface="Calibri" pitchFamily="34" charset="-120"/>
              </a:rPr>
              <a:t>Models are trained from scratch on one task family (e.g. Sudoku, ARC grids), not general corpora.</a:t>
            </a:r>
            <a:endParaRPr lang="en-US" sz="1050" dirty="0"/>
          </a:p>
        </p:txBody>
      </p:sp>
      <p:sp>
        <p:nvSpPr>
          <p:cNvPr id="9" name="Shape 6"/>
          <p:cNvSpPr/>
          <p:nvPr/>
        </p:nvSpPr>
        <p:spPr>
          <a:xfrm>
            <a:off x="4297680" y="1965960"/>
            <a:ext cx="3611880" cy="1691640"/>
          </a:xfrm>
          <a:prstGeom prst="roundRect">
            <a:avLst>
              <a:gd name="adj" fmla="val 5405"/>
            </a:avLst>
          </a:prstGeom>
          <a:solidFill>
            <a:srgbClr val="FCF3E3"/>
          </a:solidFill>
          <a:ln/>
        </p:spPr>
      </p:sp>
      <p:pic>
        <p:nvPicPr>
          <p:cNvPr id="10" name="Image 1" descr="/home/claude/icons_accent/book.png">    </p:cNvPr>
          <p:cNvPicPr>
            <a:picLocks noChangeAspect="1"/>
          </p:cNvPicPr>
          <p:nvPr/>
        </p:nvPicPr>
        <p:blipFill>
          <a:blip r:embed="rId2"/>
          <a:stretch>
            <a:fillRect/>
          </a:stretch>
        </p:blipFill>
        <p:spPr>
          <a:xfrm>
            <a:off x="4526280" y="2167128"/>
            <a:ext cx="237744" cy="237744"/>
          </a:xfrm>
          <a:prstGeom prst="rect">
            <a:avLst/>
          </a:prstGeom>
        </p:spPr>
      </p:pic>
      <p:sp>
        <p:nvSpPr>
          <p:cNvPr id="11" name="Text 7"/>
          <p:cNvSpPr/>
          <p:nvPr/>
        </p:nvSpPr>
        <p:spPr>
          <a:xfrm>
            <a:off x="4892040" y="2112264"/>
            <a:ext cx="2834640" cy="502920"/>
          </a:xfrm>
          <a:prstGeom prst="rect">
            <a:avLst/>
          </a:prstGeom>
          <a:noFill/>
          <a:ln/>
        </p:spPr>
        <p:txBody>
          <a:bodyPr wrap="square" rtlCol="0" anchor="t"/>
          <a:lstStyle/>
          <a:p>
            <a:pPr indent="0" marL="0">
              <a:buNone/>
            </a:pPr>
            <a:r>
              <a:rPr lang="en-US" sz="1250" b="1" dirty="0">
                <a:solidFill>
                  <a:srgbClr val="B8791A"/>
                </a:solidFill>
                <a:latin typeface="Calibri" pitchFamily="34" charset="0"/>
                <a:ea typeface="Calibri" pitchFamily="34" charset="-122"/>
                <a:cs typeface="Calibri" pitchFamily="34" charset="-120"/>
              </a:rPr>
              <a:t>No general language understanding</a:t>
            </a:r>
            <a:endParaRPr lang="en-US" sz="1250" dirty="0"/>
          </a:p>
        </p:txBody>
      </p:sp>
      <p:sp>
        <p:nvSpPr>
          <p:cNvPr id="12" name="Text 8"/>
          <p:cNvSpPr/>
          <p:nvPr/>
        </p:nvSpPr>
        <p:spPr>
          <a:xfrm>
            <a:off x="4526280" y="2651760"/>
            <a:ext cx="3154680" cy="914400"/>
          </a:xfrm>
          <a:prstGeom prst="rect">
            <a:avLst/>
          </a:prstGeom>
          <a:noFill/>
          <a:ln/>
        </p:spPr>
        <p:txBody>
          <a:bodyPr wrap="square" rtlCol="0" anchor="t"/>
          <a:lstStyle/>
          <a:p>
            <a:pPr indent="0" marL="0">
              <a:buNone/>
            </a:pPr>
            <a:r>
              <a:rPr lang="en-US" sz="1050" dirty="0">
                <a:solidFill>
                  <a:srgbClr val="2A2E35"/>
                </a:solidFill>
                <a:latin typeface="Calibri" pitchFamily="34" charset="0"/>
                <a:ea typeface="Calibri" pitchFamily="34" charset="-122"/>
                <a:cs typeface="Calibri" pitchFamily="34" charset="-120"/>
              </a:rPr>
              <a:t>No demonstrated ability to read, summarize, translate, or converse in natural language.</a:t>
            </a:r>
            <a:endParaRPr lang="en-US" sz="1050" dirty="0"/>
          </a:p>
        </p:txBody>
      </p:sp>
      <p:sp>
        <p:nvSpPr>
          <p:cNvPr id="13" name="Shape 9"/>
          <p:cNvSpPr/>
          <p:nvPr/>
        </p:nvSpPr>
        <p:spPr>
          <a:xfrm>
            <a:off x="8046720" y="1965960"/>
            <a:ext cx="3611880" cy="1691640"/>
          </a:xfrm>
          <a:prstGeom prst="roundRect">
            <a:avLst>
              <a:gd name="adj" fmla="val 5405"/>
            </a:avLst>
          </a:prstGeom>
          <a:solidFill>
            <a:srgbClr val="FCF3E3"/>
          </a:solidFill>
          <a:ln/>
        </p:spPr>
      </p:sp>
      <p:pic>
        <p:nvPicPr>
          <p:cNvPr id="14" name="Image 2" descr="/home/claude/icons_accent/gitbranch.png">    </p:cNvPr>
          <p:cNvPicPr>
            <a:picLocks noChangeAspect="1"/>
          </p:cNvPicPr>
          <p:nvPr/>
        </p:nvPicPr>
        <p:blipFill>
          <a:blip r:embed="rId3"/>
          <a:stretch>
            <a:fillRect/>
          </a:stretch>
        </p:blipFill>
        <p:spPr>
          <a:xfrm>
            <a:off x="8275320" y="2167128"/>
            <a:ext cx="237744" cy="237744"/>
          </a:xfrm>
          <a:prstGeom prst="rect">
            <a:avLst/>
          </a:prstGeom>
        </p:spPr>
      </p:pic>
      <p:sp>
        <p:nvSpPr>
          <p:cNvPr id="15" name="Text 10"/>
          <p:cNvSpPr/>
          <p:nvPr/>
        </p:nvSpPr>
        <p:spPr>
          <a:xfrm>
            <a:off x="8641080" y="2112264"/>
            <a:ext cx="2834640" cy="502920"/>
          </a:xfrm>
          <a:prstGeom prst="rect">
            <a:avLst/>
          </a:prstGeom>
          <a:noFill/>
          <a:ln/>
        </p:spPr>
        <p:txBody>
          <a:bodyPr wrap="square" rtlCol="0" anchor="t"/>
          <a:lstStyle/>
          <a:p>
            <a:pPr indent="0" marL="0">
              <a:buNone/>
            </a:pPr>
            <a:r>
              <a:rPr lang="en-US" sz="1250" b="1" dirty="0">
                <a:solidFill>
                  <a:srgbClr val="B8791A"/>
                </a:solidFill>
                <a:latin typeface="Calibri" pitchFamily="34" charset="0"/>
                <a:ea typeface="Calibri" pitchFamily="34" charset="-122"/>
                <a:cs typeface="Calibri" pitchFamily="34" charset="-120"/>
              </a:rPr>
              <a:t>No conversational ability</a:t>
            </a:r>
            <a:endParaRPr lang="en-US" sz="1250" dirty="0"/>
          </a:p>
        </p:txBody>
      </p:sp>
      <p:sp>
        <p:nvSpPr>
          <p:cNvPr id="16" name="Text 11"/>
          <p:cNvSpPr/>
          <p:nvPr/>
        </p:nvSpPr>
        <p:spPr>
          <a:xfrm>
            <a:off x="8275320" y="2651760"/>
            <a:ext cx="3154680" cy="914400"/>
          </a:xfrm>
          <a:prstGeom prst="rect">
            <a:avLst/>
          </a:prstGeom>
          <a:noFill/>
          <a:ln/>
        </p:spPr>
        <p:txBody>
          <a:bodyPr wrap="square" rtlCol="0" anchor="t"/>
          <a:lstStyle/>
          <a:p>
            <a:pPr indent="0" marL="0">
              <a:buNone/>
            </a:pPr>
            <a:r>
              <a:rPr lang="en-US" sz="1050" dirty="0">
                <a:solidFill>
                  <a:srgbClr val="2A2E35"/>
                </a:solidFill>
                <a:latin typeface="Calibri" pitchFamily="34" charset="0"/>
                <a:ea typeface="Calibri" pitchFamily="34" charset="-122"/>
                <a:cs typeface="Calibri" pitchFamily="34" charset="-120"/>
              </a:rPr>
              <a:t>Not instruction-tuned or chat-capable; input/output is fixed-format, not free-text.</a:t>
            </a:r>
            <a:endParaRPr lang="en-US" sz="1050" dirty="0"/>
          </a:p>
        </p:txBody>
      </p:sp>
      <p:sp>
        <p:nvSpPr>
          <p:cNvPr id="17" name="Shape 12"/>
          <p:cNvSpPr/>
          <p:nvPr/>
        </p:nvSpPr>
        <p:spPr>
          <a:xfrm>
            <a:off x="548640" y="3822192"/>
            <a:ext cx="3611880" cy="1691640"/>
          </a:xfrm>
          <a:prstGeom prst="roundRect">
            <a:avLst>
              <a:gd name="adj" fmla="val 5405"/>
            </a:avLst>
          </a:prstGeom>
          <a:solidFill>
            <a:srgbClr val="FCF3E3"/>
          </a:solidFill>
          <a:ln/>
        </p:spPr>
      </p:sp>
      <p:pic>
        <p:nvPicPr>
          <p:cNvPr id="18" name="Image 3" descr="/home/claude/icons_accent/grid.png">    </p:cNvPr>
          <p:cNvPicPr>
            <a:picLocks noChangeAspect="1"/>
          </p:cNvPicPr>
          <p:nvPr/>
        </p:nvPicPr>
        <p:blipFill>
          <a:blip r:embed="rId4"/>
          <a:stretch>
            <a:fillRect/>
          </a:stretch>
        </p:blipFill>
        <p:spPr>
          <a:xfrm>
            <a:off x="777240" y="4023360"/>
            <a:ext cx="237744" cy="237744"/>
          </a:xfrm>
          <a:prstGeom prst="rect">
            <a:avLst/>
          </a:prstGeom>
        </p:spPr>
      </p:pic>
      <p:sp>
        <p:nvSpPr>
          <p:cNvPr id="19" name="Text 13"/>
          <p:cNvSpPr/>
          <p:nvPr/>
        </p:nvSpPr>
        <p:spPr>
          <a:xfrm>
            <a:off x="1143000" y="3968496"/>
            <a:ext cx="2834640" cy="502920"/>
          </a:xfrm>
          <a:prstGeom prst="rect">
            <a:avLst/>
          </a:prstGeom>
          <a:noFill/>
          <a:ln/>
        </p:spPr>
        <p:txBody>
          <a:bodyPr wrap="square" rtlCol="0" anchor="t"/>
          <a:lstStyle/>
          <a:p>
            <a:pPr indent="0" marL="0">
              <a:buNone/>
            </a:pPr>
            <a:r>
              <a:rPr lang="en-US" sz="1250" b="1" dirty="0">
                <a:solidFill>
                  <a:srgbClr val="B8791A"/>
                </a:solidFill>
                <a:latin typeface="Calibri" pitchFamily="34" charset="0"/>
                <a:ea typeface="Calibri" pitchFamily="34" charset="-122"/>
                <a:cs typeface="Calibri" pitchFamily="34" charset="-120"/>
              </a:rPr>
              <a:t>Limited world knowledge</a:t>
            </a:r>
            <a:endParaRPr lang="en-US" sz="1250" dirty="0"/>
          </a:p>
        </p:txBody>
      </p:sp>
      <p:sp>
        <p:nvSpPr>
          <p:cNvPr id="20" name="Text 14"/>
          <p:cNvSpPr/>
          <p:nvPr/>
        </p:nvSpPr>
        <p:spPr>
          <a:xfrm>
            <a:off x="777240" y="4507992"/>
            <a:ext cx="3154680" cy="914400"/>
          </a:xfrm>
          <a:prstGeom prst="rect">
            <a:avLst/>
          </a:prstGeom>
          <a:noFill/>
          <a:ln/>
        </p:spPr>
        <p:txBody>
          <a:bodyPr wrap="square" rtlCol="0" anchor="t"/>
          <a:lstStyle/>
          <a:p>
            <a:pPr indent="0" marL="0">
              <a:buNone/>
            </a:pPr>
            <a:r>
              <a:rPr lang="en-US" sz="1050" dirty="0">
                <a:solidFill>
                  <a:srgbClr val="2A2E35"/>
                </a:solidFill>
                <a:latin typeface="Calibri" pitchFamily="34" charset="0"/>
                <a:ea typeface="Calibri" pitchFamily="34" charset="-122"/>
                <a:cs typeface="Calibri" pitchFamily="34" charset="-120"/>
              </a:rPr>
              <a:t>No large-scale pretraining corpus, so no broad factual or commonsense knowledge base.</a:t>
            </a:r>
            <a:endParaRPr lang="en-US" sz="1050" dirty="0"/>
          </a:p>
        </p:txBody>
      </p:sp>
      <p:sp>
        <p:nvSpPr>
          <p:cNvPr id="21" name="Shape 15"/>
          <p:cNvSpPr/>
          <p:nvPr/>
        </p:nvSpPr>
        <p:spPr>
          <a:xfrm>
            <a:off x="4297680" y="3822192"/>
            <a:ext cx="3611880" cy="1691640"/>
          </a:xfrm>
          <a:prstGeom prst="roundRect">
            <a:avLst>
              <a:gd name="adj" fmla="val 5405"/>
            </a:avLst>
          </a:prstGeom>
          <a:solidFill>
            <a:srgbClr val="FCF3E3"/>
          </a:solidFill>
          <a:ln/>
        </p:spPr>
      </p:sp>
      <p:pic>
        <p:nvPicPr>
          <p:cNvPr id="22" name="Image 4" descr="/home/claude/icons_accent/trending.png">    </p:cNvPr>
          <p:cNvPicPr>
            <a:picLocks noChangeAspect="1"/>
          </p:cNvPicPr>
          <p:nvPr/>
        </p:nvPicPr>
        <p:blipFill>
          <a:blip r:embed="rId5"/>
          <a:stretch>
            <a:fillRect/>
          </a:stretch>
        </p:blipFill>
        <p:spPr>
          <a:xfrm>
            <a:off x="4526280" y="4023360"/>
            <a:ext cx="237744" cy="237744"/>
          </a:xfrm>
          <a:prstGeom prst="rect">
            <a:avLst/>
          </a:prstGeom>
        </p:spPr>
      </p:pic>
      <p:sp>
        <p:nvSpPr>
          <p:cNvPr id="23" name="Text 16"/>
          <p:cNvSpPr/>
          <p:nvPr/>
        </p:nvSpPr>
        <p:spPr>
          <a:xfrm>
            <a:off x="4892040" y="3968496"/>
            <a:ext cx="2834640" cy="502920"/>
          </a:xfrm>
          <a:prstGeom prst="rect">
            <a:avLst/>
          </a:prstGeom>
          <a:noFill/>
          <a:ln/>
        </p:spPr>
        <p:txBody>
          <a:bodyPr wrap="square" rtlCol="0" anchor="t"/>
          <a:lstStyle/>
          <a:p>
            <a:pPr indent="0" marL="0">
              <a:buNone/>
            </a:pPr>
            <a:r>
              <a:rPr lang="en-US" sz="1250" b="1" dirty="0">
                <a:solidFill>
                  <a:srgbClr val="B8791A"/>
                </a:solidFill>
                <a:latin typeface="Calibri" pitchFamily="34" charset="0"/>
                <a:ea typeface="Calibri" pitchFamily="34" charset="-122"/>
                <a:cs typeface="Calibri" pitchFamily="34" charset="-120"/>
              </a:rPr>
              <a:t>Unknown scaling behavior</a:t>
            </a:r>
            <a:endParaRPr lang="en-US" sz="1250" dirty="0"/>
          </a:p>
        </p:txBody>
      </p:sp>
      <p:sp>
        <p:nvSpPr>
          <p:cNvPr id="24" name="Text 17"/>
          <p:cNvSpPr/>
          <p:nvPr/>
        </p:nvSpPr>
        <p:spPr>
          <a:xfrm>
            <a:off x="4526280" y="4507992"/>
            <a:ext cx="3154680" cy="914400"/>
          </a:xfrm>
          <a:prstGeom prst="rect">
            <a:avLst/>
          </a:prstGeom>
          <a:noFill/>
          <a:ln/>
        </p:spPr>
        <p:txBody>
          <a:bodyPr wrap="square" rtlCol="0" anchor="t"/>
          <a:lstStyle/>
          <a:p>
            <a:pPr indent="0" marL="0">
              <a:buNone/>
            </a:pPr>
            <a:r>
              <a:rPr lang="en-US" sz="1050" dirty="0">
                <a:solidFill>
                  <a:srgbClr val="2A2E35"/>
                </a:solidFill>
                <a:latin typeface="Calibri" pitchFamily="34" charset="0"/>
                <a:ea typeface="Calibri" pitchFamily="34" charset="-122"/>
                <a:cs typeface="Calibri" pitchFamily="34" charset="-120"/>
              </a:rPr>
              <a:t>Unclear if recursion-based gains hold at web/trillion-token corpus scale.</a:t>
            </a:r>
            <a:endParaRPr lang="en-US" sz="1050" dirty="0"/>
          </a:p>
        </p:txBody>
      </p:sp>
      <p:sp>
        <p:nvSpPr>
          <p:cNvPr id="25" name="Shape 18"/>
          <p:cNvSpPr/>
          <p:nvPr/>
        </p:nvSpPr>
        <p:spPr>
          <a:xfrm>
            <a:off x="8046720" y="3822192"/>
            <a:ext cx="3611880" cy="1691640"/>
          </a:xfrm>
          <a:prstGeom prst="roundRect">
            <a:avLst>
              <a:gd name="adj" fmla="val 5405"/>
            </a:avLst>
          </a:prstGeom>
          <a:solidFill>
            <a:srgbClr val="FCF3E3"/>
          </a:solidFill>
          <a:ln/>
        </p:spPr>
      </p:sp>
      <p:pic>
        <p:nvPicPr>
          <p:cNvPr id="26" name="Image 5" descr="/home/claude/icons_accent/activity.png">    </p:cNvPr>
          <p:cNvPicPr>
            <a:picLocks noChangeAspect="1"/>
          </p:cNvPicPr>
          <p:nvPr/>
        </p:nvPicPr>
        <p:blipFill>
          <a:blip r:embed="rId6"/>
          <a:stretch>
            <a:fillRect/>
          </a:stretch>
        </p:blipFill>
        <p:spPr>
          <a:xfrm>
            <a:off x="8275320" y="4023360"/>
            <a:ext cx="237744" cy="237744"/>
          </a:xfrm>
          <a:prstGeom prst="rect">
            <a:avLst/>
          </a:prstGeom>
        </p:spPr>
      </p:pic>
      <p:sp>
        <p:nvSpPr>
          <p:cNvPr id="27" name="Text 19"/>
          <p:cNvSpPr/>
          <p:nvPr/>
        </p:nvSpPr>
        <p:spPr>
          <a:xfrm>
            <a:off x="8641080" y="3968496"/>
            <a:ext cx="2834640" cy="502920"/>
          </a:xfrm>
          <a:prstGeom prst="rect">
            <a:avLst/>
          </a:prstGeom>
          <a:noFill/>
          <a:ln/>
        </p:spPr>
        <p:txBody>
          <a:bodyPr wrap="square" rtlCol="0" anchor="t"/>
          <a:lstStyle/>
          <a:p>
            <a:pPr indent="0" marL="0">
              <a:buNone/>
            </a:pPr>
            <a:r>
              <a:rPr lang="en-US" sz="1250" b="1" dirty="0">
                <a:solidFill>
                  <a:srgbClr val="B8791A"/>
                </a:solidFill>
                <a:latin typeface="Calibri" pitchFamily="34" charset="0"/>
                <a:ea typeface="Calibri" pitchFamily="34" charset="-122"/>
                <a:cs typeface="Calibri" pitchFamily="34" charset="-120"/>
              </a:rPr>
              <a:t>Different training regimes</a:t>
            </a:r>
            <a:endParaRPr lang="en-US" sz="1250" dirty="0"/>
          </a:p>
        </p:txBody>
      </p:sp>
      <p:sp>
        <p:nvSpPr>
          <p:cNvPr id="28" name="Text 20"/>
          <p:cNvSpPr/>
          <p:nvPr/>
        </p:nvSpPr>
        <p:spPr>
          <a:xfrm>
            <a:off x="8275320" y="4507992"/>
            <a:ext cx="3154680" cy="914400"/>
          </a:xfrm>
          <a:prstGeom prst="rect">
            <a:avLst/>
          </a:prstGeom>
          <a:noFill/>
          <a:ln/>
        </p:spPr>
        <p:txBody>
          <a:bodyPr wrap="square" rtlCol="0" anchor="t"/>
          <a:lstStyle/>
          <a:p>
            <a:pPr indent="0" marL="0">
              <a:buNone/>
            </a:pPr>
            <a:r>
              <a:rPr lang="en-US" sz="1050" dirty="0">
                <a:solidFill>
                  <a:srgbClr val="2A2E35"/>
                </a:solidFill>
                <a:latin typeface="Calibri" pitchFamily="34" charset="0"/>
                <a:ea typeface="Calibri" pitchFamily="34" charset="-122"/>
                <a:cs typeface="Calibri" pitchFamily="34" charset="-120"/>
              </a:rPr>
              <a:t>Benchmark wins rely on heavy task-specific data augmentation vs. LLMs' zero-shot setting.</a:t>
            </a:r>
            <a:endParaRPr lang="en-US" sz="1050" dirty="0"/>
          </a:p>
        </p:txBody>
      </p:sp>
      <p:sp>
        <p:nvSpPr>
          <p:cNvPr id="29" name="Text 21"/>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2F6FED"/>
                </a:solidFill>
                <a:latin typeface="Calibri" pitchFamily="34" charset="0"/>
                <a:ea typeface="Calibri" pitchFamily="34" charset="-122"/>
                <a:cs typeface="Calibri" pitchFamily="34" charset="-120"/>
              </a:rPr>
              <a:t>FUTURE WORK</a:t>
            </a:r>
            <a:endParaRPr lang="en-US" sz="1200" dirty="0"/>
          </a:p>
        </p:txBody>
      </p:sp>
      <p:sp>
        <p:nvSpPr>
          <p:cNvPr id="3" name="Text 1"/>
          <p:cNvSpPr/>
          <p:nvPr/>
        </p:nvSpPr>
        <p:spPr>
          <a:xfrm>
            <a:off x="548640" y="658368"/>
            <a:ext cx="11064240" cy="68580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Challenges &amp; Future Research Directions</a:t>
            </a:r>
            <a:endParaRPr lang="en-US" sz="3000" dirty="0"/>
          </a:p>
        </p:txBody>
      </p:sp>
      <p:sp>
        <p:nvSpPr>
          <p:cNvPr id="4" name="Shape 2"/>
          <p:cNvSpPr/>
          <p:nvPr/>
        </p:nvSpPr>
        <p:spPr>
          <a:xfrm>
            <a:off x="1920240" y="1920240"/>
            <a:ext cx="8321040" cy="0"/>
          </a:xfrm>
          <a:prstGeom prst="line">
            <a:avLst/>
          </a:prstGeom>
          <a:noFill/>
          <a:ln w="31750">
            <a:solidFill>
              <a:srgbClr val="D7DEEC"/>
            </a:solidFill>
            <a:prstDash val="solid"/>
          </a:ln>
        </p:spPr>
      </p:sp>
      <p:sp>
        <p:nvSpPr>
          <p:cNvPr id="5" name="Shape 3"/>
          <p:cNvSpPr/>
          <p:nvPr/>
        </p:nvSpPr>
        <p:spPr>
          <a:xfrm>
            <a:off x="1792224" y="1792224"/>
            <a:ext cx="256032" cy="256032"/>
          </a:xfrm>
          <a:prstGeom prst="ellipse">
            <a:avLst/>
          </a:prstGeom>
          <a:solidFill>
            <a:srgbClr val="2F6FED"/>
          </a:solidFill>
          <a:ln w="25400">
            <a:solidFill>
              <a:srgbClr val="FFFFFF"/>
            </a:solidFill>
            <a:prstDash val="solid"/>
          </a:ln>
        </p:spPr>
      </p:sp>
      <p:sp>
        <p:nvSpPr>
          <p:cNvPr id="6" name="Shape 4"/>
          <p:cNvSpPr/>
          <p:nvPr/>
        </p:nvSpPr>
        <p:spPr>
          <a:xfrm>
            <a:off x="1920240" y="2048256"/>
            <a:ext cx="0" cy="374904"/>
          </a:xfrm>
          <a:prstGeom prst="line">
            <a:avLst/>
          </a:prstGeom>
          <a:noFill/>
          <a:ln w="19050">
            <a:solidFill>
              <a:srgbClr val="D7DEEC"/>
            </a:solidFill>
            <a:prstDash val="solid"/>
          </a:ln>
        </p:spPr>
      </p:sp>
      <p:sp>
        <p:nvSpPr>
          <p:cNvPr id="7" name="Shape 5"/>
          <p:cNvSpPr/>
          <p:nvPr/>
        </p:nvSpPr>
        <p:spPr>
          <a:xfrm>
            <a:off x="640080" y="2423160"/>
            <a:ext cx="2560320" cy="2011680"/>
          </a:xfrm>
          <a:prstGeom prst="roundRect">
            <a:avLst>
              <a:gd name="adj" fmla="val 3636"/>
            </a:avLst>
          </a:prstGeom>
          <a:solidFill>
            <a:srgbClr val="F4F6FB"/>
          </a:solidFill>
          <a:ln w="12700">
            <a:solidFill>
              <a:srgbClr val="E3E7EF"/>
            </a:solidFill>
            <a:prstDash val="solid"/>
          </a:ln>
        </p:spPr>
      </p:sp>
      <p:sp>
        <p:nvSpPr>
          <p:cNvPr id="8" name="Text 6"/>
          <p:cNvSpPr/>
          <p:nvPr/>
        </p:nvSpPr>
        <p:spPr>
          <a:xfrm>
            <a:off x="731520" y="2560320"/>
            <a:ext cx="2377440" cy="594360"/>
          </a:xfrm>
          <a:prstGeom prst="rect">
            <a:avLst/>
          </a:prstGeom>
          <a:noFill/>
          <a:ln/>
        </p:spPr>
        <p:txBody>
          <a:bodyPr wrap="square" rtlCol="0" anchor="t"/>
          <a:lstStyle/>
          <a:p>
            <a:pPr algn="ctr" indent="0" marL="0">
              <a:buNone/>
            </a:pPr>
            <a:r>
              <a:rPr lang="en-US" sz="1200" b="1" dirty="0">
                <a:solidFill>
                  <a:srgbClr val="1E2761"/>
                </a:solidFill>
                <a:latin typeface="Calibri" pitchFamily="34" charset="0"/>
                <a:ea typeface="Calibri" pitchFamily="34" charset="-122"/>
                <a:cs typeface="Calibri" pitchFamily="34" charset="-120"/>
              </a:rPr>
              <a:t>Scaling to Language Models</a:t>
            </a:r>
            <a:endParaRPr lang="en-US" sz="1200" dirty="0"/>
          </a:p>
        </p:txBody>
      </p:sp>
      <p:sp>
        <p:nvSpPr>
          <p:cNvPr id="9" name="Text 7"/>
          <p:cNvSpPr/>
          <p:nvPr/>
        </p:nvSpPr>
        <p:spPr>
          <a:xfrm>
            <a:off x="777240" y="3200400"/>
            <a:ext cx="2286000" cy="1143000"/>
          </a:xfrm>
          <a:prstGeom prst="rect">
            <a:avLst/>
          </a:prstGeom>
          <a:noFill/>
          <a:ln/>
        </p:spPr>
        <p:txBody>
          <a:bodyPr wrap="square" rtlCol="0" anchor="t"/>
          <a:lstStyle/>
          <a:p>
            <a:pPr algn="ctr" indent="0" marL="0">
              <a:buNone/>
            </a:pPr>
            <a:r>
              <a:rPr lang="en-US" sz="1000" dirty="0">
                <a:solidFill>
                  <a:srgbClr val="5A6472"/>
                </a:solidFill>
                <a:latin typeface="Calibri" pitchFamily="34" charset="0"/>
                <a:ea typeface="Calibri" pitchFamily="34" charset="-122"/>
                <a:cs typeface="Calibri" pitchFamily="34" charset="-120"/>
              </a:rPr>
              <a:t>Extending recursive reasoning beyond fixed-grid puzzle domains to open-ended natural language tasks.</a:t>
            </a:r>
            <a:endParaRPr lang="en-US" sz="1000" dirty="0"/>
          </a:p>
        </p:txBody>
      </p:sp>
      <p:sp>
        <p:nvSpPr>
          <p:cNvPr id="10" name="Shape 8"/>
          <p:cNvSpPr/>
          <p:nvPr/>
        </p:nvSpPr>
        <p:spPr>
          <a:xfrm>
            <a:off x="4565904" y="1792224"/>
            <a:ext cx="256032" cy="256032"/>
          </a:xfrm>
          <a:prstGeom prst="ellipse">
            <a:avLst/>
          </a:prstGeom>
          <a:solidFill>
            <a:srgbClr val="2F6FED"/>
          </a:solidFill>
          <a:ln w="25400">
            <a:solidFill>
              <a:srgbClr val="FFFFFF"/>
            </a:solidFill>
            <a:prstDash val="solid"/>
          </a:ln>
        </p:spPr>
      </p:sp>
      <p:sp>
        <p:nvSpPr>
          <p:cNvPr id="11" name="Shape 9"/>
          <p:cNvSpPr/>
          <p:nvPr/>
        </p:nvSpPr>
        <p:spPr>
          <a:xfrm>
            <a:off x="4693920" y="2048256"/>
            <a:ext cx="0" cy="374904"/>
          </a:xfrm>
          <a:prstGeom prst="line">
            <a:avLst/>
          </a:prstGeom>
          <a:noFill/>
          <a:ln w="19050">
            <a:solidFill>
              <a:srgbClr val="D7DEEC"/>
            </a:solidFill>
            <a:prstDash val="solid"/>
          </a:ln>
        </p:spPr>
      </p:sp>
      <p:sp>
        <p:nvSpPr>
          <p:cNvPr id="12" name="Shape 10"/>
          <p:cNvSpPr/>
          <p:nvPr/>
        </p:nvSpPr>
        <p:spPr>
          <a:xfrm>
            <a:off x="3413760" y="2423160"/>
            <a:ext cx="2560320" cy="2011680"/>
          </a:xfrm>
          <a:prstGeom prst="roundRect">
            <a:avLst>
              <a:gd name="adj" fmla="val 3636"/>
            </a:avLst>
          </a:prstGeom>
          <a:solidFill>
            <a:srgbClr val="F4F6FB"/>
          </a:solidFill>
          <a:ln w="12700">
            <a:solidFill>
              <a:srgbClr val="E3E7EF"/>
            </a:solidFill>
            <a:prstDash val="solid"/>
          </a:ln>
        </p:spPr>
      </p:sp>
      <p:sp>
        <p:nvSpPr>
          <p:cNvPr id="13" name="Text 11"/>
          <p:cNvSpPr/>
          <p:nvPr/>
        </p:nvSpPr>
        <p:spPr>
          <a:xfrm>
            <a:off x="3505200" y="2560320"/>
            <a:ext cx="2377440" cy="594360"/>
          </a:xfrm>
          <a:prstGeom prst="rect">
            <a:avLst/>
          </a:prstGeom>
          <a:noFill/>
          <a:ln/>
        </p:spPr>
        <p:txBody>
          <a:bodyPr wrap="square" rtlCol="0" anchor="t"/>
          <a:lstStyle/>
          <a:p>
            <a:pPr algn="ctr" indent="0" marL="0">
              <a:buNone/>
            </a:pPr>
            <a:r>
              <a:rPr lang="en-US" sz="1200" b="1" dirty="0">
                <a:solidFill>
                  <a:srgbClr val="1E2761"/>
                </a:solidFill>
                <a:latin typeface="Calibri" pitchFamily="34" charset="0"/>
                <a:ea typeface="Calibri" pitchFamily="34" charset="-122"/>
                <a:cs typeface="Calibri" pitchFamily="34" charset="-120"/>
              </a:rPr>
              <a:t>Hybrid Transformer + Mamba + HRM</a:t>
            </a:r>
            <a:endParaRPr lang="en-US" sz="1200" dirty="0"/>
          </a:p>
        </p:txBody>
      </p:sp>
      <p:sp>
        <p:nvSpPr>
          <p:cNvPr id="14" name="Text 12"/>
          <p:cNvSpPr/>
          <p:nvPr/>
        </p:nvSpPr>
        <p:spPr>
          <a:xfrm>
            <a:off x="3550920" y="3200400"/>
            <a:ext cx="2286000" cy="1143000"/>
          </a:xfrm>
          <a:prstGeom prst="rect">
            <a:avLst/>
          </a:prstGeom>
          <a:noFill/>
          <a:ln/>
        </p:spPr>
        <p:txBody>
          <a:bodyPr wrap="square" rtlCol="0" anchor="t"/>
          <a:lstStyle/>
          <a:p>
            <a:pPr algn="ctr" indent="0" marL="0">
              <a:buNone/>
            </a:pPr>
            <a:r>
              <a:rPr lang="en-US" sz="1000" dirty="0">
                <a:solidFill>
                  <a:srgbClr val="5A6472"/>
                </a:solidFill>
                <a:latin typeface="Calibri" pitchFamily="34" charset="0"/>
                <a:ea typeface="Calibri" pitchFamily="34" charset="-122"/>
                <a:cs typeface="Calibri" pitchFamily="34" charset="-120"/>
              </a:rPr>
              <a:t>Combining state-space (Mamba) efficiency with attention and hierarchical recurrence.</a:t>
            </a:r>
            <a:endParaRPr lang="en-US" sz="1000" dirty="0"/>
          </a:p>
        </p:txBody>
      </p:sp>
      <p:sp>
        <p:nvSpPr>
          <p:cNvPr id="15" name="Shape 13"/>
          <p:cNvSpPr/>
          <p:nvPr/>
        </p:nvSpPr>
        <p:spPr>
          <a:xfrm>
            <a:off x="7339584" y="1792224"/>
            <a:ext cx="256032" cy="256032"/>
          </a:xfrm>
          <a:prstGeom prst="ellipse">
            <a:avLst/>
          </a:prstGeom>
          <a:solidFill>
            <a:srgbClr val="2F6FED"/>
          </a:solidFill>
          <a:ln w="25400">
            <a:solidFill>
              <a:srgbClr val="FFFFFF"/>
            </a:solidFill>
            <a:prstDash val="solid"/>
          </a:ln>
        </p:spPr>
      </p:sp>
      <p:sp>
        <p:nvSpPr>
          <p:cNvPr id="16" name="Shape 14"/>
          <p:cNvSpPr/>
          <p:nvPr/>
        </p:nvSpPr>
        <p:spPr>
          <a:xfrm>
            <a:off x="7467600" y="2048256"/>
            <a:ext cx="0" cy="374904"/>
          </a:xfrm>
          <a:prstGeom prst="line">
            <a:avLst/>
          </a:prstGeom>
          <a:noFill/>
          <a:ln w="19050">
            <a:solidFill>
              <a:srgbClr val="D7DEEC"/>
            </a:solidFill>
            <a:prstDash val="solid"/>
          </a:ln>
        </p:spPr>
      </p:sp>
      <p:sp>
        <p:nvSpPr>
          <p:cNvPr id="17" name="Shape 15"/>
          <p:cNvSpPr/>
          <p:nvPr/>
        </p:nvSpPr>
        <p:spPr>
          <a:xfrm>
            <a:off x="6187440" y="2423160"/>
            <a:ext cx="2560320" cy="2011680"/>
          </a:xfrm>
          <a:prstGeom prst="roundRect">
            <a:avLst>
              <a:gd name="adj" fmla="val 3636"/>
            </a:avLst>
          </a:prstGeom>
          <a:solidFill>
            <a:srgbClr val="F4F6FB"/>
          </a:solidFill>
          <a:ln w="12700">
            <a:solidFill>
              <a:srgbClr val="E3E7EF"/>
            </a:solidFill>
            <a:prstDash val="solid"/>
          </a:ln>
        </p:spPr>
      </p:sp>
      <p:sp>
        <p:nvSpPr>
          <p:cNvPr id="18" name="Text 16"/>
          <p:cNvSpPr/>
          <p:nvPr/>
        </p:nvSpPr>
        <p:spPr>
          <a:xfrm>
            <a:off x="6278880" y="2560320"/>
            <a:ext cx="2377440" cy="594360"/>
          </a:xfrm>
          <a:prstGeom prst="rect">
            <a:avLst/>
          </a:prstGeom>
          <a:noFill/>
          <a:ln/>
        </p:spPr>
        <p:txBody>
          <a:bodyPr wrap="square" rtlCol="0" anchor="t"/>
          <a:lstStyle/>
          <a:p>
            <a:pPr algn="ctr" indent="0" marL="0">
              <a:buNone/>
            </a:pPr>
            <a:r>
              <a:rPr lang="en-US" sz="1200" b="1" dirty="0">
                <a:solidFill>
                  <a:srgbClr val="1E2761"/>
                </a:solidFill>
                <a:latin typeface="Calibri" pitchFamily="34" charset="0"/>
                <a:ea typeface="Calibri" pitchFamily="34" charset="-122"/>
                <a:cs typeface="Calibri" pitchFamily="34" charset="-120"/>
              </a:rPr>
              <a:t>Tiny Recursive Models for LLMs</a:t>
            </a:r>
            <a:endParaRPr lang="en-US" sz="1200" dirty="0"/>
          </a:p>
        </p:txBody>
      </p:sp>
      <p:sp>
        <p:nvSpPr>
          <p:cNvPr id="19" name="Text 17"/>
          <p:cNvSpPr/>
          <p:nvPr/>
        </p:nvSpPr>
        <p:spPr>
          <a:xfrm>
            <a:off x="6324600" y="3200400"/>
            <a:ext cx="2286000" cy="1143000"/>
          </a:xfrm>
          <a:prstGeom prst="rect">
            <a:avLst/>
          </a:prstGeom>
          <a:noFill/>
          <a:ln/>
        </p:spPr>
        <p:txBody>
          <a:bodyPr wrap="square" rtlCol="0" anchor="t"/>
          <a:lstStyle/>
          <a:p>
            <a:pPr algn="ctr" indent="0" marL="0">
              <a:buNone/>
            </a:pPr>
            <a:r>
              <a:rPr lang="en-US" sz="1000" dirty="0">
                <a:solidFill>
                  <a:srgbClr val="5A6472"/>
                </a:solidFill>
                <a:latin typeface="Calibri" pitchFamily="34" charset="0"/>
                <a:ea typeface="Calibri" pitchFamily="34" charset="-122"/>
                <a:cs typeface="Calibri" pitchFamily="34" charset="-120"/>
              </a:rPr>
              <a:t>Exploring whether TRM-style recursion can augment or replace CoT in larger LLMs.</a:t>
            </a:r>
            <a:endParaRPr lang="en-US" sz="1000" dirty="0"/>
          </a:p>
        </p:txBody>
      </p:sp>
      <p:sp>
        <p:nvSpPr>
          <p:cNvPr id="20" name="Shape 18"/>
          <p:cNvSpPr/>
          <p:nvPr/>
        </p:nvSpPr>
        <p:spPr>
          <a:xfrm>
            <a:off x="10113264" y="1792224"/>
            <a:ext cx="256032" cy="256032"/>
          </a:xfrm>
          <a:prstGeom prst="ellipse">
            <a:avLst/>
          </a:prstGeom>
          <a:solidFill>
            <a:srgbClr val="2F6FED"/>
          </a:solidFill>
          <a:ln w="25400">
            <a:solidFill>
              <a:srgbClr val="FFFFFF"/>
            </a:solidFill>
            <a:prstDash val="solid"/>
          </a:ln>
        </p:spPr>
      </p:sp>
      <p:sp>
        <p:nvSpPr>
          <p:cNvPr id="21" name="Shape 19"/>
          <p:cNvSpPr/>
          <p:nvPr/>
        </p:nvSpPr>
        <p:spPr>
          <a:xfrm>
            <a:off x="10241280" y="2048256"/>
            <a:ext cx="0" cy="374904"/>
          </a:xfrm>
          <a:prstGeom prst="line">
            <a:avLst/>
          </a:prstGeom>
          <a:noFill/>
          <a:ln w="19050">
            <a:solidFill>
              <a:srgbClr val="D7DEEC"/>
            </a:solidFill>
            <a:prstDash val="solid"/>
          </a:ln>
        </p:spPr>
      </p:sp>
      <p:sp>
        <p:nvSpPr>
          <p:cNvPr id="22" name="Shape 20"/>
          <p:cNvSpPr/>
          <p:nvPr/>
        </p:nvSpPr>
        <p:spPr>
          <a:xfrm>
            <a:off x="8961120" y="2423160"/>
            <a:ext cx="2560320" cy="2011680"/>
          </a:xfrm>
          <a:prstGeom prst="roundRect">
            <a:avLst>
              <a:gd name="adj" fmla="val 3636"/>
            </a:avLst>
          </a:prstGeom>
          <a:solidFill>
            <a:srgbClr val="F4F6FB"/>
          </a:solidFill>
          <a:ln w="12700">
            <a:solidFill>
              <a:srgbClr val="E3E7EF"/>
            </a:solidFill>
            <a:prstDash val="solid"/>
          </a:ln>
        </p:spPr>
      </p:sp>
      <p:sp>
        <p:nvSpPr>
          <p:cNvPr id="23" name="Text 21"/>
          <p:cNvSpPr/>
          <p:nvPr/>
        </p:nvSpPr>
        <p:spPr>
          <a:xfrm>
            <a:off x="9052560" y="2560320"/>
            <a:ext cx="2377440" cy="594360"/>
          </a:xfrm>
          <a:prstGeom prst="rect">
            <a:avLst/>
          </a:prstGeom>
          <a:noFill/>
          <a:ln/>
        </p:spPr>
        <p:txBody>
          <a:bodyPr wrap="square" rtlCol="0" anchor="t"/>
          <a:lstStyle/>
          <a:p>
            <a:pPr algn="ctr" indent="0" marL="0">
              <a:buNone/>
            </a:pPr>
            <a:r>
              <a:rPr lang="en-US" sz="1200" b="1" dirty="0">
                <a:solidFill>
                  <a:srgbClr val="1E2761"/>
                </a:solidFill>
                <a:latin typeface="Calibri" pitchFamily="34" charset="0"/>
                <a:ea typeface="Calibri" pitchFamily="34" charset="-122"/>
                <a:cs typeface="Calibri" pitchFamily="34" charset="-120"/>
              </a:rPr>
              <a:t>Open Research Questions</a:t>
            </a:r>
            <a:endParaRPr lang="en-US" sz="1200" dirty="0"/>
          </a:p>
        </p:txBody>
      </p:sp>
      <p:sp>
        <p:nvSpPr>
          <p:cNvPr id="24" name="Text 22"/>
          <p:cNvSpPr/>
          <p:nvPr/>
        </p:nvSpPr>
        <p:spPr>
          <a:xfrm>
            <a:off x="9098280" y="3200400"/>
            <a:ext cx="2286000" cy="1143000"/>
          </a:xfrm>
          <a:prstGeom prst="rect">
            <a:avLst/>
          </a:prstGeom>
          <a:noFill/>
          <a:ln/>
        </p:spPr>
        <p:txBody>
          <a:bodyPr wrap="square" rtlCol="0" anchor="t"/>
          <a:lstStyle/>
          <a:p>
            <a:pPr algn="ctr" indent="0" marL="0">
              <a:buNone/>
            </a:pPr>
            <a:r>
              <a:rPr lang="en-US" sz="1000" dirty="0">
                <a:solidFill>
                  <a:srgbClr val="5A6472"/>
                </a:solidFill>
                <a:latin typeface="Calibri" pitchFamily="34" charset="0"/>
                <a:ea typeface="Calibri" pitchFamily="34" charset="-122"/>
                <a:cs typeface="Calibri" pitchFamily="34" charset="-120"/>
              </a:rPr>
              <a:t>Interpretability of learned circuits; generalization beyond narrow benchmark distributions.</a:t>
            </a:r>
            <a:endParaRPr lang="en-US" sz="1000" dirty="0"/>
          </a:p>
        </p:txBody>
      </p:sp>
      <p:sp>
        <p:nvSpPr>
          <p:cNvPr id="25" name="Text 23"/>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2F6FED"/>
                </a:solidFill>
                <a:latin typeface="Calibri" pitchFamily="34" charset="0"/>
                <a:ea typeface="Calibri" pitchFamily="34" charset="-122"/>
                <a:cs typeface="Calibri" pitchFamily="34" charset="-120"/>
              </a:rPr>
              <a:t>OUR CONTRIBUTION</a:t>
            </a:r>
            <a:endParaRPr lang="en-US" sz="1200" dirty="0"/>
          </a:p>
        </p:txBody>
      </p:sp>
      <p:sp>
        <p:nvSpPr>
          <p:cNvPr id="3" name="Text 1"/>
          <p:cNvSpPr/>
          <p:nvPr/>
        </p:nvSpPr>
        <p:spPr>
          <a:xfrm>
            <a:off x="548640" y="658368"/>
            <a:ext cx="11064240" cy="68580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Our Proposed Mini Project</a:t>
            </a:r>
            <a:endParaRPr lang="en-US" sz="3000" dirty="0"/>
          </a:p>
        </p:txBody>
      </p:sp>
      <p:sp>
        <p:nvSpPr>
          <p:cNvPr id="4" name="Shape 2"/>
          <p:cNvSpPr/>
          <p:nvPr/>
        </p:nvSpPr>
        <p:spPr>
          <a:xfrm>
            <a:off x="548640" y="1463040"/>
            <a:ext cx="11064240" cy="1280160"/>
          </a:xfrm>
          <a:prstGeom prst="roundRect">
            <a:avLst>
              <a:gd name="adj" fmla="val 7143"/>
            </a:avLst>
          </a:prstGeom>
          <a:solidFill>
            <a:srgbClr val="F4F6FB"/>
          </a:solidFill>
          <a:ln w="15875">
            <a:solidFill>
              <a:srgbClr val="2F6FED"/>
            </a:solidFill>
            <a:prstDash val="solid"/>
          </a:ln>
        </p:spPr>
      </p:sp>
      <p:sp>
        <p:nvSpPr>
          <p:cNvPr id="5" name="Text 3"/>
          <p:cNvSpPr/>
          <p:nvPr/>
        </p:nvSpPr>
        <p:spPr>
          <a:xfrm>
            <a:off x="822960" y="1600200"/>
            <a:ext cx="10515600" cy="1005840"/>
          </a:xfrm>
          <a:prstGeom prst="rect">
            <a:avLst/>
          </a:prstGeom>
          <a:noFill/>
          <a:ln/>
        </p:spPr>
        <p:txBody>
          <a:bodyPr wrap="square" rtlCol="0" anchor="ctr"/>
          <a:lstStyle/>
          <a:p>
            <a:pPr indent="0" marL="0">
              <a:buNone/>
            </a:pPr>
            <a:r>
              <a:rPr lang="en-US" sz="1450" i="1" dirty="0">
                <a:solidFill>
                  <a:srgbClr val="1E2761"/>
                </a:solidFill>
                <a:latin typeface="Calibri" pitchFamily="34" charset="0"/>
                <a:ea typeface="Calibri" pitchFamily="34" charset="-122"/>
                <a:cs typeface="Calibri" pitchFamily="34" charset="-120"/>
              </a:rPr>
              <a:t>We propose to investigate mechanistic interpretability in HRM and TRM through architecture analysis and controlled experiments — examining how their recursive latent states evolve and whether recognizable reasoning sub-algorithms emerge on structured benchmark tasks.</a:t>
            </a:r>
            <a:endParaRPr lang="en-US" sz="1450" dirty="0"/>
          </a:p>
        </p:txBody>
      </p:sp>
      <p:sp>
        <p:nvSpPr>
          <p:cNvPr id="6" name="Shape 4"/>
          <p:cNvSpPr/>
          <p:nvPr/>
        </p:nvSpPr>
        <p:spPr>
          <a:xfrm>
            <a:off x="548640" y="3017520"/>
            <a:ext cx="5394960" cy="1600200"/>
          </a:xfrm>
          <a:prstGeom prst="roundRect">
            <a:avLst>
              <a:gd name="adj" fmla="val 5714"/>
            </a:avLst>
          </a:prstGeom>
          <a:solidFill>
            <a:srgbClr val="FFFFFF"/>
          </a:solidFill>
          <a:ln w="12700">
            <a:solidFill>
              <a:srgbClr val="E3E7EF"/>
            </a:solidFill>
            <a:prstDash val="solid"/>
          </a:ln>
          <a:effectLst>
            <a:outerShdw sx="100000" sy="100000" kx="0" ky="0" algn="bl" rotWithShape="0" blurRad="63500" dist="25400" dir="5400000">
              <a:srgbClr val="94A3B8">
                <a:alpha val="20000"/>
              </a:srgbClr>
            </a:outerShdw>
          </a:effectLst>
        </p:spPr>
      </p:sp>
      <p:sp>
        <p:nvSpPr>
          <p:cNvPr id="7" name="Shape 5"/>
          <p:cNvSpPr/>
          <p:nvPr/>
        </p:nvSpPr>
        <p:spPr>
          <a:xfrm>
            <a:off x="777240" y="3246120"/>
            <a:ext cx="457200" cy="457200"/>
          </a:xfrm>
          <a:prstGeom prst="ellipse">
            <a:avLst/>
          </a:prstGeom>
          <a:solidFill>
            <a:srgbClr val="1E2761"/>
          </a:solidFill>
          <a:ln/>
        </p:spPr>
      </p:sp>
      <p:pic>
        <p:nvPicPr>
          <p:cNvPr id="8" name="Image 0" descr="/home/claude/icons_white/book.png">    </p:cNvPr>
          <p:cNvPicPr>
            <a:picLocks noChangeAspect="1"/>
          </p:cNvPicPr>
          <p:nvPr/>
        </p:nvPicPr>
        <p:blipFill>
          <a:blip r:embed="rId1"/>
          <a:stretch>
            <a:fillRect/>
          </a:stretch>
        </p:blipFill>
        <p:spPr>
          <a:xfrm>
            <a:off x="896112" y="3364992"/>
            <a:ext cx="219456" cy="219456"/>
          </a:xfrm>
          <a:prstGeom prst="rect">
            <a:avLst/>
          </a:prstGeom>
        </p:spPr>
      </p:pic>
      <p:sp>
        <p:nvSpPr>
          <p:cNvPr id="9" name="Text 6"/>
          <p:cNvSpPr/>
          <p:nvPr/>
        </p:nvSpPr>
        <p:spPr>
          <a:xfrm>
            <a:off x="1371600" y="3200400"/>
            <a:ext cx="4389120" cy="41148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1.  Literature Review</a:t>
            </a:r>
            <a:endParaRPr lang="en-US" sz="1300" dirty="0"/>
          </a:p>
        </p:txBody>
      </p:sp>
      <p:sp>
        <p:nvSpPr>
          <p:cNvPr id="10" name="Text 7"/>
          <p:cNvSpPr/>
          <p:nvPr/>
        </p:nvSpPr>
        <p:spPr>
          <a:xfrm>
            <a:off x="777240" y="3703320"/>
            <a:ext cx="4937760" cy="822960"/>
          </a:xfrm>
          <a:prstGeom prst="rect">
            <a:avLst/>
          </a:prstGeom>
          <a:noFill/>
          <a:ln/>
        </p:spPr>
        <p:txBody>
          <a:bodyPr wrap="square" rtlCol="0" anchor="t"/>
          <a:lstStyle/>
          <a:p>
            <a:pPr indent="0" marL="0">
              <a:buNone/>
            </a:pPr>
            <a:r>
              <a:rPr lang="en-US" sz="1050" dirty="0">
                <a:solidFill>
                  <a:srgbClr val="5A6472"/>
                </a:solidFill>
                <a:latin typeface="Calibri" pitchFamily="34" charset="0"/>
                <a:ea typeface="Calibri" pitchFamily="34" charset="-122"/>
                <a:cs typeface="Calibri" pitchFamily="34" charset="-120"/>
              </a:rPr>
              <a:t>Consolidate HRM, TRM, and interpretability literature into a structured comparative framework.</a:t>
            </a:r>
            <a:endParaRPr lang="en-US" sz="1050" dirty="0"/>
          </a:p>
        </p:txBody>
      </p:sp>
      <p:sp>
        <p:nvSpPr>
          <p:cNvPr id="11" name="Shape 8"/>
          <p:cNvSpPr/>
          <p:nvPr/>
        </p:nvSpPr>
        <p:spPr>
          <a:xfrm>
            <a:off x="6217920" y="3017520"/>
            <a:ext cx="5394960" cy="1600200"/>
          </a:xfrm>
          <a:prstGeom prst="roundRect">
            <a:avLst>
              <a:gd name="adj" fmla="val 5714"/>
            </a:avLst>
          </a:prstGeom>
          <a:solidFill>
            <a:srgbClr val="FFFFFF"/>
          </a:solidFill>
          <a:ln w="12700">
            <a:solidFill>
              <a:srgbClr val="E3E7EF"/>
            </a:solidFill>
            <a:prstDash val="solid"/>
          </a:ln>
          <a:effectLst>
            <a:outerShdw sx="100000" sy="100000" kx="0" ky="0" algn="bl" rotWithShape="0" blurRad="63500" dist="25400" dir="5400000">
              <a:srgbClr val="94A3B8">
                <a:alpha val="20000"/>
              </a:srgbClr>
            </a:outerShdw>
          </a:effectLst>
        </p:spPr>
      </p:sp>
      <p:sp>
        <p:nvSpPr>
          <p:cNvPr id="12" name="Shape 9"/>
          <p:cNvSpPr/>
          <p:nvPr/>
        </p:nvSpPr>
        <p:spPr>
          <a:xfrm>
            <a:off x="6446520" y="3246120"/>
            <a:ext cx="457200" cy="457200"/>
          </a:xfrm>
          <a:prstGeom prst="ellipse">
            <a:avLst/>
          </a:prstGeom>
          <a:solidFill>
            <a:srgbClr val="1E2761"/>
          </a:solidFill>
          <a:ln/>
        </p:spPr>
      </p:sp>
      <p:pic>
        <p:nvPicPr>
          <p:cNvPr id="13" name="Image 1" descr="/home/claude/icons_white/activity.png">    </p:cNvPr>
          <p:cNvPicPr>
            <a:picLocks noChangeAspect="1"/>
          </p:cNvPicPr>
          <p:nvPr/>
        </p:nvPicPr>
        <p:blipFill>
          <a:blip r:embed="rId2"/>
          <a:stretch>
            <a:fillRect/>
          </a:stretch>
        </p:blipFill>
        <p:spPr>
          <a:xfrm>
            <a:off x="6565392" y="3364992"/>
            <a:ext cx="219456" cy="219456"/>
          </a:xfrm>
          <a:prstGeom prst="rect">
            <a:avLst/>
          </a:prstGeom>
        </p:spPr>
      </p:pic>
      <p:sp>
        <p:nvSpPr>
          <p:cNvPr id="14" name="Text 10"/>
          <p:cNvSpPr/>
          <p:nvPr/>
        </p:nvSpPr>
        <p:spPr>
          <a:xfrm>
            <a:off x="7040880" y="3200400"/>
            <a:ext cx="4389120" cy="41148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2.  Architecture Analysis</a:t>
            </a:r>
            <a:endParaRPr lang="en-US" sz="1300" dirty="0"/>
          </a:p>
        </p:txBody>
      </p:sp>
      <p:sp>
        <p:nvSpPr>
          <p:cNvPr id="15" name="Text 11"/>
          <p:cNvSpPr/>
          <p:nvPr/>
        </p:nvSpPr>
        <p:spPr>
          <a:xfrm>
            <a:off x="6446520" y="3703320"/>
            <a:ext cx="4937760" cy="822960"/>
          </a:xfrm>
          <a:prstGeom prst="rect">
            <a:avLst/>
          </a:prstGeom>
          <a:noFill/>
          <a:ln/>
        </p:spPr>
        <p:txBody>
          <a:bodyPr wrap="square" rtlCol="0" anchor="t"/>
          <a:lstStyle/>
          <a:p>
            <a:pPr indent="0" marL="0">
              <a:buNone/>
            </a:pPr>
            <a:r>
              <a:rPr lang="en-US" sz="1050" dirty="0">
                <a:solidFill>
                  <a:srgbClr val="5A6472"/>
                </a:solidFill>
                <a:latin typeface="Calibri" pitchFamily="34" charset="0"/>
                <a:ea typeface="Calibri" pitchFamily="34" charset="-122"/>
                <a:cs typeface="Calibri" pitchFamily="34" charset="-120"/>
              </a:rPr>
              <a:t>Instrument HRM/TRM checkpoints to log latent state (z_H, z_L) trajectories across recursive steps.</a:t>
            </a:r>
            <a:endParaRPr lang="en-US" sz="1050" dirty="0"/>
          </a:p>
        </p:txBody>
      </p:sp>
      <p:sp>
        <p:nvSpPr>
          <p:cNvPr id="16" name="Shape 12"/>
          <p:cNvSpPr/>
          <p:nvPr/>
        </p:nvSpPr>
        <p:spPr>
          <a:xfrm>
            <a:off x="548640" y="4846320"/>
            <a:ext cx="5394960" cy="1600200"/>
          </a:xfrm>
          <a:prstGeom prst="roundRect">
            <a:avLst>
              <a:gd name="adj" fmla="val 5714"/>
            </a:avLst>
          </a:prstGeom>
          <a:solidFill>
            <a:srgbClr val="FFFFFF"/>
          </a:solidFill>
          <a:ln w="12700">
            <a:solidFill>
              <a:srgbClr val="E3E7EF"/>
            </a:solidFill>
            <a:prstDash val="solid"/>
          </a:ln>
          <a:effectLst>
            <a:outerShdw sx="100000" sy="100000" kx="0" ky="0" algn="bl" rotWithShape="0" blurRad="63500" dist="25400" dir="5400000">
              <a:srgbClr val="94A3B8">
                <a:alpha val="20000"/>
              </a:srgbClr>
            </a:outerShdw>
          </a:effectLst>
        </p:spPr>
      </p:sp>
      <p:sp>
        <p:nvSpPr>
          <p:cNvPr id="17" name="Shape 13"/>
          <p:cNvSpPr/>
          <p:nvPr/>
        </p:nvSpPr>
        <p:spPr>
          <a:xfrm>
            <a:off x="777240" y="5074920"/>
            <a:ext cx="457200" cy="457200"/>
          </a:xfrm>
          <a:prstGeom prst="ellipse">
            <a:avLst/>
          </a:prstGeom>
          <a:solidFill>
            <a:srgbClr val="1E2761"/>
          </a:solidFill>
          <a:ln/>
        </p:spPr>
      </p:sp>
      <p:pic>
        <p:nvPicPr>
          <p:cNvPr id="18" name="Image 2" descr="/home/claude/icons_white/eye.png">    </p:cNvPr>
          <p:cNvPicPr>
            <a:picLocks noChangeAspect="1"/>
          </p:cNvPicPr>
          <p:nvPr/>
        </p:nvPicPr>
        <p:blipFill>
          <a:blip r:embed="rId3"/>
          <a:stretch>
            <a:fillRect/>
          </a:stretch>
        </p:blipFill>
        <p:spPr>
          <a:xfrm>
            <a:off x="896112" y="5193792"/>
            <a:ext cx="219456" cy="219456"/>
          </a:xfrm>
          <a:prstGeom prst="rect">
            <a:avLst/>
          </a:prstGeom>
        </p:spPr>
      </p:pic>
      <p:sp>
        <p:nvSpPr>
          <p:cNvPr id="19" name="Text 14"/>
          <p:cNvSpPr/>
          <p:nvPr/>
        </p:nvSpPr>
        <p:spPr>
          <a:xfrm>
            <a:off x="1371600" y="5029200"/>
            <a:ext cx="4389120" cy="41148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3.  Interpretability Probing</a:t>
            </a:r>
            <a:endParaRPr lang="en-US" sz="1300" dirty="0"/>
          </a:p>
        </p:txBody>
      </p:sp>
      <p:sp>
        <p:nvSpPr>
          <p:cNvPr id="20" name="Text 15"/>
          <p:cNvSpPr/>
          <p:nvPr/>
        </p:nvSpPr>
        <p:spPr>
          <a:xfrm>
            <a:off x="777240" y="5532120"/>
            <a:ext cx="4937760" cy="822960"/>
          </a:xfrm>
          <a:prstGeom prst="rect">
            <a:avLst/>
          </a:prstGeom>
          <a:noFill/>
          <a:ln/>
        </p:spPr>
        <p:txBody>
          <a:bodyPr wrap="square" rtlCol="0" anchor="t"/>
          <a:lstStyle/>
          <a:p>
            <a:pPr indent="0" marL="0">
              <a:buNone/>
            </a:pPr>
            <a:r>
              <a:rPr lang="en-US" sz="1050" dirty="0">
                <a:solidFill>
                  <a:srgbClr val="5A6472"/>
                </a:solidFill>
                <a:latin typeface="Calibri" pitchFamily="34" charset="0"/>
                <a:ea typeface="Calibri" pitchFamily="34" charset="-122"/>
                <a:cs typeface="Calibri" pitchFamily="34" charset="-120"/>
              </a:rPr>
              <a:t>Apply activation analysis / feature visualization to identify candidate sub-algorithms (e.g. constraint propagation).</a:t>
            </a:r>
            <a:endParaRPr lang="en-US" sz="1050" dirty="0"/>
          </a:p>
        </p:txBody>
      </p:sp>
      <p:sp>
        <p:nvSpPr>
          <p:cNvPr id="21" name="Shape 16"/>
          <p:cNvSpPr/>
          <p:nvPr/>
        </p:nvSpPr>
        <p:spPr>
          <a:xfrm>
            <a:off x="6217920" y="4846320"/>
            <a:ext cx="5394960" cy="1600200"/>
          </a:xfrm>
          <a:prstGeom prst="roundRect">
            <a:avLst>
              <a:gd name="adj" fmla="val 5714"/>
            </a:avLst>
          </a:prstGeom>
          <a:solidFill>
            <a:srgbClr val="FFFFFF"/>
          </a:solidFill>
          <a:ln w="12700">
            <a:solidFill>
              <a:srgbClr val="E3E7EF"/>
            </a:solidFill>
            <a:prstDash val="solid"/>
          </a:ln>
          <a:effectLst>
            <a:outerShdw sx="100000" sy="100000" kx="0" ky="0" algn="bl" rotWithShape="0" blurRad="63500" dist="25400" dir="5400000">
              <a:srgbClr val="94A3B8">
                <a:alpha val="20000"/>
              </a:srgbClr>
            </a:outerShdw>
          </a:effectLst>
        </p:spPr>
      </p:sp>
      <p:sp>
        <p:nvSpPr>
          <p:cNvPr id="22" name="Shape 17"/>
          <p:cNvSpPr/>
          <p:nvPr/>
        </p:nvSpPr>
        <p:spPr>
          <a:xfrm>
            <a:off x="6446520" y="5074920"/>
            <a:ext cx="457200" cy="457200"/>
          </a:xfrm>
          <a:prstGeom prst="ellipse">
            <a:avLst/>
          </a:prstGeom>
          <a:solidFill>
            <a:srgbClr val="1E2761"/>
          </a:solidFill>
          <a:ln/>
        </p:spPr>
      </p:sp>
      <p:pic>
        <p:nvPicPr>
          <p:cNvPr id="23" name="Image 3" descr="/home/claude/icons_white/gitbranch.png">    </p:cNvPr>
          <p:cNvPicPr>
            <a:picLocks noChangeAspect="1"/>
          </p:cNvPicPr>
          <p:nvPr/>
        </p:nvPicPr>
        <p:blipFill>
          <a:blip r:embed="rId4"/>
          <a:stretch>
            <a:fillRect/>
          </a:stretch>
        </p:blipFill>
        <p:spPr>
          <a:xfrm>
            <a:off x="6565392" y="5193792"/>
            <a:ext cx="219456" cy="219456"/>
          </a:xfrm>
          <a:prstGeom prst="rect">
            <a:avLst/>
          </a:prstGeom>
        </p:spPr>
      </p:pic>
      <p:sp>
        <p:nvSpPr>
          <p:cNvPr id="24" name="Text 18"/>
          <p:cNvSpPr/>
          <p:nvPr/>
        </p:nvSpPr>
        <p:spPr>
          <a:xfrm>
            <a:off x="7040880" y="5029200"/>
            <a:ext cx="4389120" cy="41148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4.  Comparative Evaluation</a:t>
            </a:r>
            <a:endParaRPr lang="en-US" sz="1300" dirty="0"/>
          </a:p>
        </p:txBody>
      </p:sp>
      <p:sp>
        <p:nvSpPr>
          <p:cNvPr id="25" name="Text 19"/>
          <p:cNvSpPr/>
          <p:nvPr/>
        </p:nvSpPr>
        <p:spPr>
          <a:xfrm>
            <a:off x="6446520" y="5532120"/>
            <a:ext cx="4937760" cy="822960"/>
          </a:xfrm>
          <a:prstGeom prst="rect">
            <a:avLst/>
          </a:prstGeom>
          <a:noFill/>
          <a:ln/>
        </p:spPr>
        <p:txBody>
          <a:bodyPr wrap="square" rtlCol="0" anchor="t"/>
          <a:lstStyle/>
          <a:p>
            <a:pPr indent="0" marL="0">
              <a:buNone/>
            </a:pPr>
            <a:r>
              <a:rPr lang="en-US" sz="1050" dirty="0">
                <a:solidFill>
                  <a:srgbClr val="5A6472"/>
                </a:solidFill>
                <a:latin typeface="Calibri" pitchFamily="34" charset="0"/>
                <a:ea typeface="Calibri" pitchFamily="34" charset="-122"/>
                <a:cs typeface="Calibri" pitchFamily="34" charset="-120"/>
              </a:rPr>
              <a:t>Compare recursive reasoning traces against Transformer chain-of-thought traces on shared puzzle tasks.</a:t>
            </a:r>
            <a:endParaRPr lang="en-US" sz="1050" dirty="0"/>
          </a:p>
        </p:txBody>
      </p:sp>
      <p:sp>
        <p:nvSpPr>
          <p:cNvPr id="26" name="Text 20"/>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2F6FED"/>
                </a:solidFill>
                <a:latin typeface="Calibri" pitchFamily="34" charset="0"/>
                <a:ea typeface="Calibri" pitchFamily="34" charset="-122"/>
                <a:cs typeface="Calibri" pitchFamily="34" charset="-120"/>
              </a:rPr>
              <a:t>CORE MESSAGE</a:t>
            </a:r>
            <a:endParaRPr lang="en-US" sz="1200" dirty="0"/>
          </a:p>
        </p:txBody>
      </p:sp>
      <p:sp>
        <p:nvSpPr>
          <p:cNvPr id="3" name="Text 1"/>
          <p:cNvSpPr/>
          <p:nvPr/>
        </p:nvSpPr>
        <p:spPr>
          <a:xfrm>
            <a:off x="548640" y="658368"/>
            <a:ext cx="11064240" cy="68580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Why HRM and TRM Matter</a:t>
            </a:r>
            <a:endParaRPr lang="en-US" sz="3000" dirty="0"/>
          </a:p>
        </p:txBody>
      </p:sp>
      <p:sp>
        <p:nvSpPr>
          <p:cNvPr id="4" name="Shape 2"/>
          <p:cNvSpPr/>
          <p:nvPr/>
        </p:nvSpPr>
        <p:spPr>
          <a:xfrm>
            <a:off x="548640" y="1600200"/>
            <a:ext cx="5212080" cy="4206240"/>
          </a:xfrm>
          <a:prstGeom prst="roundRect">
            <a:avLst>
              <a:gd name="adj" fmla="val 2609"/>
            </a:avLst>
          </a:prstGeom>
          <a:solidFill>
            <a:srgbClr val="F4F6FB"/>
          </a:solidFill>
          <a:ln/>
        </p:spPr>
      </p:sp>
      <p:sp>
        <p:nvSpPr>
          <p:cNvPr id="5" name="Text 3"/>
          <p:cNvSpPr/>
          <p:nvPr/>
        </p:nvSpPr>
        <p:spPr>
          <a:xfrm>
            <a:off x="548640" y="1783080"/>
            <a:ext cx="5212080" cy="365760"/>
          </a:xfrm>
          <a:prstGeom prst="rect">
            <a:avLst/>
          </a:prstGeom>
          <a:noFill/>
          <a:ln/>
        </p:spPr>
        <p:txBody>
          <a:bodyPr wrap="square" rtlCol="0" anchor="ctr"/>
          <a:lstStyle/>
          <a:p>
            <a:pPr algn="ctr" indent="0" marL="0">
              <a:buNone/>
            </a:pPr>
            <a:r>
              <a:rPr lang="en-US" sz="1300" b="1" spc="200" kern="0" dirty="0">
                <a:solidFill>
                  <a:srgbClr val="5A6472"/>
                </a:solidFill>
                <a:latin typeface="Calibri" pitchFamily="34" charset="0"/>
                <a:ea typeface="Calibri" pitchFamily="34" charset="-122"/>
                <a:cs typeface="Calibri" pitchFamily="34" charset="-120"/>
              </a:rPr>
              <a:t>OLD IDEA</a:t>
            </a:r>
            <a:endParaRPr lang="en-US" sz="1300" dirty="0"/>
          </a:p>
        </p:txBody>
      </p:sp>
      <p:sp>
        <p:nvSpPr>
          <p:cNvPr id="6" name="Shape 4"/>
          <p:cNvSpPr/>
          <p:nvPr/>
        </p:nvSpPr>
        <p:spPr>
          <a:xfrm>
            <a:off x="1280160" y="2331720"/>
            <a:ext cx="3749040" cy="822960"/>
          </a:xfrm>
          <a:prstGeom prst="roundRect">
            <a:avLst>
              <a:gd name="adj" fmla="val 8889"/>
            </a:avLst>
          </a:prstGeom>
          <a:solidFill>
            <a:srgbClr val="E8503A"/>
          </a:solidFill>
          <a:ln/>
        </p:spPr>
      </p:sp>
      <p:sp>
        <p:nvSpPr>
          <p:cNvPr id="7" name="Text 5"/>
          <p:cNvSpPr/>
          <p:nvPr/>
        </p:nvSpPr>
        <p:spPr>
          <a:xfrm>
            <a:off x="1280160" y="2331720"/>
            <a:ext cx="3749040" cy="82296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More Parameters</a:t>
            </a:r>
            <a:endParaRPr lang="en-US" sz="1500" dirty="0"/>
          </a:p>
        </p:txBody>
      </p:sp>
      <p:sp>
        <p:nvSpPr>
          <p:cNvPr id="8" name="Shape 6"/>
          <p:cNvSpPr/>
          <p:nvPr/>
        </p:nvSpPr>
        <p:spPr>
          <a:xfrm>
            <a:off x="3154680" y="3200400"/>
            <a:ext cx="0" cy="502920"/>
          </a:xfrm>
          <a:prstGeom prst="line">
            <a:avLst/>
          </a:prstGeom>
          <a:noFill/>
          <a:ln w="25400">
            <a:solidFill>
              <a:srgbClr val="5A6472"/>
            </a:solidFill>
            <a:prstDash val="solid"/>
            <a:tailEnd type="triangle"/>
          </a:ln>
        </p:spPr>
      </p:sp>
      <p:sp>
        <p:nvSpPr>
          <p:cNvPr id="9" name="Shape 7"/>
          <p:cNvSpPr/>
          <p:nvPr/>
        </p:nvSpPr>
        <p:spPr>
          <a:xfrm>
            <a:off x="1280160" y="3749040"/>
            <a:ext cx="3749040" cy="822960"/>
          </a:xfrm>
          <a:prstGeom prst="roundRect">
            <a:avLst>
              <a:gd name="adj" fmla="val 8889"/>
            </a:avLst>
          </a:prstGeom>
          <a:solidFill>
            <a:srgbClr val="F3D3C9"/>
          </a:solidFill>
          <a:ln/>
        </p:spPr>
      </p:sp>
      <p:sp>
        <p:nvSpPr>
          <p:cNvPr id="10" name="Text 8"/>
          <p:cNvSpPr/>
          <p:nvPr/>
        </p:nvSpPr>
        <p:spPr>
          <a:xfrm>
            <a:off x="1280160" y="3749040"/>
            <a:ext cx="3749040" cy="822960"/>
          </a:xfrm>
          <a:prstGeom prst="rect">
            <a:avLst/>
          </a:prstGeom>
          <a:noFill/>
          <a:ln/>
        </p:spPr>
        <p:txBody>
          <a:bodyPr wrap="square" rtlCol="0" anchor="ctr"/>
          <a:lstStyle/>
          <a:p>
            <a:pPr algn="ctr" indent="0" marL="0">
              <a:buNone/>
            </a:pPr>
            <a:r>
              <a:rPr lang="en-US" sz="1500" b="1" dirty="0">
                <a:solidFill>
                  <a:srgbClr val="8A2E1B"/>
                </a:solidFill>
                <a:latin typeface="Calibri" pitchFamily="34" charset="0"/>
                <a:ea typeface="Calibri" pitchFamily="34" charset="-122"/>
                <a:cs typeface="Calibri" pitchFamily="34" charset="-120"/>
              </a:rPr>
              <a:t>Better Performance</a:t>
            </a:r>
            <a:endParaRPr lang="en-US" sz="1500" dirty="0"/>
          </a:p>
        </p:txBody>
      </p:sp>
      <p:sp>
        <p:nvSpPr>
          <p:cNvPr id="11" name="Text 9"/>
          <p:cNvSpPr/>
          <p:nvPr/>
        </p:nvSpPr>
        <p:spPr>
          <a:xfrm>
            <a:off x="914400" y="4800600"/>
            <a:ext cx="4480560" cy="822960"/>
          </a:xfrm>
          <a:prstGeom prst="rect">
            <a:avLst/>
          </a:prstGeom>
          <a:noFill/>
          <a:ln/>
        </p:spPr>
        <p:txBody>
          <a:bodyPr wrap="square" rtlCol="0" anchor="t"/>
          <a:lstStyle/>
          <a:p>
            <a:pPr algn="ctr" indent="0" marL="0">
              <a:buNone/>
            </a:pPr>
            <a:r>
              <a:rPr lang="en-US" sz="1100" i="1" dirty="0">
                <a:solidFill>
                  <a:srgbClr val="5A6472"/>
                </a:solidFill>
                <a:latin typeface="Calibri" pitchFamily="34" charset="0"/>
                <a:ea typeface="Calibri" pitchFamily="34" charset="-122"/>
                <a:cs typeface="Calibri" pitchFamily="34" charset="-120"/>
              </a:rPr>
              <a:t>Scale as the primary lever — bigger models, more data, more compute.</a:t>
            </a:r>
            <a:endParaRPr lang="en-US" sz="1100" dirty="0"/>
          </a:p>
        </p:txBody>
      </p:sp>
      <p:sp>
        <p:nvSpPr>
          <p:cNvPr id="12" name="Shape 10"/>
          <p:cNvSpPr/>
          <p:nvPr/>
        </p:nvSpPr>
        <p:spPr>
          <a:xfrm>
            <a:off x="6035040" y="1600200"/>
            <a:ext cx="5577840" cy="4206240"/>
          </a:xfrm>
          <a:prstGeom prst="roundRect">
            <a:avLst>
              <a:gd name="adj" fmla="val 2609"/>
            </a:avLst>
          </a:prstGeom>
          <a:solidFill>
            <a:srgbClr val="EAF0FE"/>
          </a:solidFill>
          <a:ln w="15875">
            <a:solidFill>
              <a:srgbClr val="2F6FED"/>
            </a:solidFill>
            <a:prstDash val="solid"/>
          </a:ln>
        </p:spPr>
      </p:sp>
      <p:sp>
        <p:nvSpPr>
          <p:cNvPr id="13" name="Text 11"/>
          <p:cNvSpPr/>
          <p:nvPr/>
        </p:nvSpPr>
        <p:spPr>
          <a:xfrm>
            <a:off x="6035040" y="1783080"/>
            <a:ext cx="5577840" cy="365760"/>
          </a:xfrm>
          <a:prstGeom prst="rect">
            <a:avLst/>
          </a:prstGeom>
          <a:noFill/>
          <a:ln/>
        </p:spPr>
        <p:txBody>
          <a:bodyPr wrap="square" rtlCol="0" anchor="ctr"/>
          <a:lstStyle/>
          <a:p>
            <a:pPr algn="ctr" indent="0" marL="0">
              <a:buNone/>
            </a:pPr>
            <a:r>
              <a:rPr lang="en-US" sz="1300" b="1" spc="200" kern="0" dirty="0">
                <a:solidFill>
                  <a:srgbClr val="2F6FED"/>
                </a:solidFill>
                <a:latin typeface="Calibri" pitchFamily="34" charset="0"/>
                <a:ea typeface="Calibri" pitchFamily="34" charset="-122"/>
                <a:cs typeface="Calibri" pitchFamily="34" charset="-120"/>
              </a:rPr>
              <a:t>NEW IDEA</a:t>
            </a:r>
            <a:endParaRPr lang="en-US" sz="1300" dirty="0"/>
          </a:p>
        </p:txBody>
      </p:sp>
      <p:sp>
        <p:nvSpPr>
          <p:cNvPr id="14" name="Shape 12"/>
          <p:cNvSpPr/>
          <p:nvPr/>
        </p:nvSpPr>
        <p:spPr>
          <a:xfrm>
            <a:off x="6858000" y="2331720"/>
            <a:ext cx="3931920" cy="822960"/>
          </a:xfrm>
          <a:prstGeom prst="roundRect">
            <a:avLst>
              <a:gd name="adj" fmla="val 8889"/>
            </a:avLst>
          </a:prstGeom>
          <a:solidFill>
            <a:srgbClr val="1E2761"/>
          </a:solidFill>
          <a:ln/>
        </p:spPr>
      </p:sp>
      <p:sp>
        <p:nvSpPr>
          <p:cNvPr id="15" name="Text 13"/>
          <p:cNvSpPr/>
          <p:nvPr/>
        </p:nvSpPr>
        <p:spPr>
          <a:xfrm>
            <a:off x="6858000" y="2331720"/>
            <a:ext cx="3931920" cy="82296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Better Computation</a:t>
            </a:r>
            <a:endParaRPr lang="en-US" sz="1500" dirty="0"/>
          </a:p>
        </p:txBody>
      </p:sp>
      <p:sp>
        <p:nvSpPr>
          <p:cNvPr id="16" name="Shape 14"/>
          <p:cNvSpPr/>
          <p:nvPr/>
        </p:nvSpPr>
        <p:spPr>
          <a:xfrm>
            <a:off x="8823960" y="3200400"/>
            <a:ext cx="0" cy="502920"/>
          </a:xfrm>
          <a:prstGeom prst="line">
            <a:avLst/>
          </a:prstGeom>
          <a:noFill/>
          <a:ln w="25400">
            <a:solidFill>
              <a:srgbClr val="2F6FED"/>
            </a:solidFill>
            <a:prstDash val="solid"/>
            <a:tailEnd type="triangle"/>
          </a:ln>
        </p:spPr>
      </p:sp>
      <p:sp>
        <p:nvSpPr>
          <p:cNvPr id="17" name="Shape 15"/>
          <p:cNvSpPr/>
          <p:nvPr/>
        </p:nvSpPr>
        <p:spPr>
          <a:xfrm>
            <a:off x="6858000" y="3749040"/>
            <a:ext cx="3931920" cy="822960"/>
          </a:xfrm>
          <a:prstGeom prst="roundRect">
            <a:avLst>
              <a:gd name="adj" fmla="val 8889"/>
            </a:avLst>
          </a:prstGeom>
          <a:solidFill>
            <a:srgbClr val="2F6FED"/>
          </a:solidFill>
          <a:ln/>
        </p:spPr>
      </p:sp>
      <p:sp>
        <p:nvSpPr>
          <p:cNvPr id="18" name="Text 16"/>
          <p:cNvSpPr/>
          <p:nvPr/>
        </p:nvSpPr>
        <p:spPr>
          <a:xfrm>
            <a:off x="6858000" y="3749040"/>
            <a:ext cx="3931920" cy="82296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Better Reasoning</a:t>
            </a:r>
            <a:endParaRPr lang="en-US" sz="1500" dirty="0"/>
          </a:p>
        </p:txBody>
      </p:sp>
      <p:sp>
        <p:nvSpPr>
          <p:cNvPr id="19" name="Text 17"/>
          <p:cNvSpPr/>
          <p:nvPr/>
        </p:nvSpPr>
        <p:spPr>
          <a:xfrm>
            <a:off x="6492240" y="4800600"/>
            <a:ext cx="4663440" cy="822960"/>
          </a:xfrm>
          <a:prstGeom prst="rect">
            <a:avLst/>
          </a:prstGeom>
          <a:noFill/>
          <a:ln/>
        </p:spPr>
        <p:txBody>
          <a:bodyPr wrap="square" rtlCol="0" anchor="t"/>
          <a:lstStyle/>
          <a:p>
            <a:pPr algn="ctr" indent="0" marL="0">
              <a:buNone/>
            </a:pPr>
            <a:r>
              <a:rPr lang="en-US" sz="1100" i="1" dirty="0">
                <a:solidFill>
                  <a:srgbClr val="1E2761"/>
                </a:solidFill>
                <a:latin typeface="Calibri" pitchFamily="34" charset="0"/>
                <a:ea typeface="Calibri" pitchFamily="34" charset="-122"/>
                <a:cs typeface="Calibri" pitchFamily="34" charset="-120"/>
              </a:rPr>
              <a:t>Recursion and recurrence as a lever — small models, structured computation, test-time compute.</a:t>
            </a:r>
            <a:endParaRPr lang="en-US" sz="1100" dirty="0"/>
          </a:p>
        </p:txBody>
      </p:sp>
      <p:sp>
        <p:nvSpPr>
          <p:cNvPr id="20" name="Text 18"/>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280160" y="4754880"/>
            <a:ext cx="4114800" cy="4114800"/>
          </a:xfrm>
          <a:prstGeom prst="ellipse">
            <a:avLst/>
          </a:prstGeom>
          <a:solidFill>
            <a:srgbClr val="26306E"/>
          </a:solidFill>
          <a:ln/>
        </p:spPr>
      </p:sp>
      <p:sp>
        <p:nvSpPr>
          <p:cNvPr id="3" name="Text 1"/>
          <p:cNvSpPr/>
          <p:nvPr/>
        </p:nvSpPr>
        <p:spPr>
          <a:xfrm>
            <a:off x="548640" y="502920"/>
            <a:ext cx="5486400" cy="320040"/>
          </a:xfrm>
          <a:prstGeom prst="rect">
            <a:avLst/>
          </a:prstGeom>
          <a:noFill/>
          <a:ln/>
        </p:spPr>
        <p:txBody>
          <a:bodyPr wrap="square" rtlCol="0" anchor="ctr"/>
          <a:lstStyle/>
          <a:p>
            <a:pPr indent="0" marL="0">
              <a:buNone/>
            </a:pPr>
            <a:r>
              <a:rPr lang="en-US" sz="1200" b="1" spc="200" kern="0" dirty="0">
                <a:solidFill>
                  <a:srgbClr val="2F6FED"/>
                </a:solidFill>
                <a:latin typeface="Calibri" pitchFamily="34" charset="0"/>
                <a:ea typeface="Calibri" pitchFamily="34" charset="-122"/>
                <a:cs typeface="Calibri" pitchFamily="34" charset="-120"/>
              </a:rPr>
              <a:t>CONCLUSION</a:t>
            </a:r>
            <a:endParaRPr lang="en-US" sz="1200" dirty="0"/>
          </a:p>
        </p:txBody>
      </p:sp>
      <p:sp>
        <p:nvSpPr>
          <p:cNvPr id="4" name="Text 2"/>
          <p:cNvSpPr/>
          <p:nvPr/>
        </p:nvSpPr>
        <p:spPr>
          <a:xfrm>
            <a:off x="548640" y="777240"/>
            <a:ext cx="91440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Key Takeaways</a:t>
            </a:r>
            <a:endParaRPr lang="en-US" sz="3000" dirty="0"/>
          </a:p>
        </p:txBody>
      </p:sp>
      <p:sp>
        <p:nvSpPr>
          <p:cNvPr id="5" name="Shape 3"/>
          <p:cNvSpPr/>
          <p:nvPr/>
        </p:nvSpPr>
        <p:spPr>
          <a:xfrm>
            <a:off x="594360" y="1737360"/>
            <a:ext cx="146304" cy="146304"/>
          </a:xfrm>
          <a:prstGeom prst="ellipse">
            <a:avLst/>
          </a:prstGeom>
          <a:solidFill>
            <a:srgbClr val="2F6FED"/>
          </a:solidFill>
          <a:ln/>
        </p:spPr>
      </p:sp>
      <p:sp>
        <p:nvSpPr>
          <p:cNvPr id="6" name="Text 4"/>
          <p:cNvSpPr/>
          <p:nvPr/>
        </p:nvSpPr>
        <p:spPr>
          <a:xfrm>
            <a:off x="960120" y="1554480"/>
            <a:ext cx="10424160" cy="868680"/>
          </a:xfrm>
          <a:prstGeom prst="rect">
            <a:avLst/>
          </a:prstGeom>
          <a:noFill/>
          <a:ln/>
        </p:spPr>
        <p:txBody>
          <a:bodyPr wrap="square" rtlCol="0" anchor="t"/>
          <a:lstStyle/>
          <a:p>
            <a:pPr indent="0" marL="0">
              <a:lnSpc>
                <a:spcPct val="110000"/>
              </a:lnSpc>
              <a:buNone/>
            </a:pPr>
            <a:r>
              <a:rPr lang="en-US" sz="1350" dirty="0">
                <a:solidFill>
                  <a:srgbClr val="CADCFC"/>
                </a:solidFill>
                <a:latin typeface="Calibri" pitchFamily="34" charset="0"/>
                <a:ea typeface="Calibri" pitchFamily="34" charset="-122"/>
                <a:cs typeface="Calibri" pitchFamily="34" charset="-120"/>
              </a:rPr>
              <a:t>HRM and TRM show that recurrent, recursive latent computation can rival or exceed far larger LLMs' reported scores on specific structured reasoning benchmarks (ARC, Sudoku, Maze), using orders of magnitude fewer parameters — but this should not be read as general language superiority.</a:t>
            </a:r>
            <a:endParaRPr lang="en-US" sz="1350" dirty="0"/>
          </a:p>
        </p:txBody>
      </p:sp>
      <p:sp>
        <p:nvSpPr>
          <p:cNvPr id="7" name="Shape 5"/>
          <p:cNvSpPr/>
          <p:nvPr/>
        </p:nvSpPr>
        <p:spPr>
          <a:xfrm>
            <a:off x="594360" y="2834640"/>
            <a:ext cx="146304" cy="146304"/>
          </a:xfrm>
          <a:prstGeom prst="ellipse">
            <a:avLst/>
          </a:prstGeom>
          <a:solidFill>
            <a:srgbClr val="2F6FED"/>
          </a:solidFill>
          <a:ln/>
        </p:spPr>
      </p:sp>
      <p:sp>
        <p:nvSpPr>
          <p:cNvPr id="8" name="Text 6"/>
          <p:cNvSpPr/>
          <p:nvPr/>
        </p:nvSpPr>
        <p:spPr>
          <a:xfrm>
            <a:off x="960120" y="2651760"/>
            <a:ext cx="10424160" cy="868680"/>
          </a:xfrm>
          <a:prstGeom prst="rect">
            <a:avLst/>
          </a:prstGeom>
          <a:noFill/>
          <a:ln/>
        </p:spPr>
        <p:txBody>
          <a:bodyPr wrap="square" rtlCol="0" anchor="t"/>
          <a:lstStyle/>
          <a:p>
            <a:pPr indent="0" marL="0">
              <a:lnSpc>
                <a:spcPct val="110000"/>
              </a:lnSpc>
              <a:buNone/>
            </a:pPr>
            <a:r>
              <a:rPr lang="en-US" sz="1350" dirty="0">
                <a:solidFill>
                  <a:srgbClr val="CADCFC"/>
                </a:solidFill>
                <a:latin typeface="Calibri" pitchFamily="34" charset="0"/>
                <a:ea typeface="Calibri" pitchFamily="34" charset="-122"/>
                <a:cs typeface="Calibri" pitchFamily="34" charset="-120"/>
              </a:rPr>
              <a:t>Mechanistic interpretability provides the toolkit needed to understand why these small models reason well — and whether that reasoning is robust or benchmark-specific.</a:t>
            </a:r>
            <a:endParaRPr lang="en-US" sz="1350" dirty="0"/>
          </a:p>
        </p:txBody>
      </p:sp>
      <p:sp>
        <p:nvSpPr>
          <p:cNvPr id="9" name="Shape 7"/>
          <p:cNvSpPr/>
          <p:nvPr/>
        </p:nvSpPr>
        <p:spPr>
          <a:xfrm>
            <a:off x="594360" y="3931920"/>
            <a:ext cx="146304" cy="146304"/>
          </a:xfrm>
          <a:prstGeom prst="ellipse">
            <a:avLst/>
          </a:prstGeom>
          <a:solidFill>
            <a:srgbClr val="2F6FED"/>
          </a:solidFill>
          <a:ln/>
        </p:spPr>
      </p:sp>
      <p:sp>
        <p:nvSpPr>
          <p:cNvPr id="10" name="Text 8"/>
          <p:cNvSpPr/>
          <p:nvPr/>
        </p:nvSpPr>
        <p:spPr>
          <a:xfrm>
            <a:off x="960120" y="3749040"/>
            <a:ext cx="10424160" cy="868680"/>
          </a:xfrm>
          <a:prstGeom prst="rect">
            <a:avLst/>
          </a:prstGeom>
          <a:noFill/>
          <a:ln/>
        </p:spPr>
        <p:txBody>
          <a:bodyPr wrap="square" rtlCol="0" anchor="t"/>
          <a:lstStyle/>
          <a:p>
            <a:pPr indent="0" marL="0">
              <a:lnSpc>
                <a:spcPct val="110000"/>
              </a:lnSpc>
              <a:buNone/>
            </a:pPr>
            <a:r>
              <a:rPr lang="en-US" sz="1350" dirty="0">
                <a:solidFill>
                  <a:srgbClr val="CADCFC"/>
                </a:solidFill>
                <a:latin typeface="Calibri" pitchFamily="34" charset="0"/>
                <a:ea typeface="Calibri" pitchFamily="34" charset="-122"/>
                <a:cs typeface="Calibri" pitchFamily="34" charset="-120"/>
              </a:rPr>
              <a:t>Neither architecture is yet an established replacement for general-purpose LLMs; both remain narrow, task-specific reasoners trained under very different regimes than the LLMs they are compared against.</a:t>
            </a:r>
            <a:endParaRPr lang="en-US" sz="1350" dirty="0"/>
          </a:p>
        </p:txBody>
      </p:sp>
      <p:sp>
        <p:nvSpPr>
          <p:cNvPr id="11" name="Shape 9"/>
          <p:cNvSpPr/>
          <p:nvPr/>
        </p:nvSpPr>
        <p:spPr>
          <a:xfrm>
            <a:off x="594360" y="5029200"/>
            <a:ext cx="146304" cy="146304"/>
          </a:xfrm>
          <a:prstGeom prst="ellipse">
            <a:avLst/>
          </a:prstGeom>
          <a:solidFill>
            <a:srgbClr val="2F6FED"/>
          </a:solidFill>
          <a:ln/>
        </p:spPr>
      </p:sp>
      <p:sp>
        <p:nvSpPr>
          <p:cNvPr id="12" name="Text 10"/>
          <p:cNvSpPr/>
          <p:nvPr/>
        </p:nvSpPr>
        <p:spPr>
          <a:xfrm>
            <a:off x="960120" y="4846320"/>
            <a:ext cx="10424160" cy="868680"/>
          </a:xfrm>
          <a:prstGeom prst="rect">
            <a:avLst/>
          </a:prstGeom>
          <a:noFill/>
          <a:ln/>
        </p:spPr>
        <p:txBody>
          <a:bodyPr wrap="square" rtlCol="0" anchor="t"/>
          <a:lstStyle/>
          <a:p>
            <a:pPr indent="0" marL="0">
              <a:lnSpc>
                <a:spcPct val="110000"/>
              </a:lnSpc>
              <a:buNone/>
            </a:pPr>
            <a:r>
              <a:rPr lang="en-US" sz="1350" dirty="0">
                <a:solidFill>
                  <a:srgbClr val="CADCFC"/>
                </a:solidFill>
                <a:latin typeface="Calibri" pitchFamily="34" charset="0"/>
                <a:ea typeface="Calibri" pitchFamily="34" charset="-122"/>
                <a:cs typeface="Calibri" pitchFamily="34" charset="-120"/>
              </a:rPr>
              <a:t>The path forward likely combines scale (LLMs), efficient recursion (HRM/TRM), and interpretability tools to build reasoning systems that are both capable and understandable.</a:t>
            </a:r>
            <a:endParaRPr lang="en-US" sz="1350" dirty="0"/>
          </a:p>
        </p:txBody>
      </p:sp>
      <p:sp>
        <p:nvSpPr>
          <p:cNvPr id="13" name="Text 11"/>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2F6FED"/>
                </a:solidFill>
                <a:latin typeface="Calibri" pitchFamily="34" charset="0"/>
                <a:ea typeface="Calibri" pitchFamily="34" charset="-122"/>
                <a:cs typeface="Calibri" pitchFamily="34" charset="-120"/>
              </a:rPr>
              <a:t>REFERENCES</a:t>
            </a:r>
            <a:endParaRPr lang="en-US" sz="1200" dirty="0"/>
          </a:p>
        </p:txBody>
      </p:sp>
      <p:sp>
        <p:nvSpPr>
          <p:cNvPr id="3" name="Text 1"/>
          <p:cNvSpPr/>
          <p:nvPr/>
        </p:nvSpPr>
        <p:spPr>
          <a:xfrm>
            <a:off x="548640" y="658368"/>
            <a:ext cx="11064240" cy="68580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References (IEEE Style)</a:t>
            </a:r>
            <a:endParaRPr lang="en-US" sz="3000" dirty="0"/>
          </a:p>
        </p:txBody>
      </p:sp>
      <p:sp>
        <p:nvSpPr>
          <p:cNvPr id="4" name="Text 2"/>
          <p:cNvSpPr/>
          <p:nvPr/>
        </p:nvSpPr>
        <p:spPr>
          <a:xfrm>
            <a:off x="548640" y="1417320"/>
            <a:ext cx="10515600" cy="320040"/>
          </a:xfrm>
          <a:prstGeom prst="rect">
            <a:avLst/>
          </a:prstGeom>
          <a:noFill/>
          <a:ln/>
        </p:spPr>
        <p:txBody>
          <a:bodyPr wrap="square" rtlCol="0" anchor="ctr"/>
          <a:lstStyle/>
          <a:p>
            <a:pPr indent="0" marL="0">
              <a:buNone/>
            </a:pPr>
            <a:r>
              <a:rPr lang="en-US" sz="1300" b="1" dirty="0">
                <a:solidFill>
                  <a:srgbClr val="2F6FED"/>
                </a:solidFill>
                <a:latin typeface="Calibri" pitchFamily="34" charset="0"/>
                <a:ea typeface="Calibri" pitchFamily="34" charset="-122"/>
                <a:cs typeface="Calibri" pitchFamily="34" charset="-120"/>
              </a:rPr>
              <a:t>Hierarchical &amp; Recursive Reasoning Models</a:t>
            </a:r>
            <a:endParaRPr lang="en-US" sz="1300" dirty="0"/>
          </a:p>
        </p:txBody>
      </p:sp>
      <p:sp>
        <p:nvSpPr>
          <p:cNvPr id="5" name="Text 3"/>
          <p:cNvSpPr/>
          <p:nvPr/>
        </p:nvSpPr>
        <p:spPr>
          <a:xfrm>
            <a:off x="548640" y="1801368"/>
            <a:ext cx="457200" cy="411480"/>
          </a:xfrm>
          <a:prstGeom prst="rect">
            <a:avLst/>
          </a:prstGeom>
          <a:noFill/>
          <a:ln/>
        </p:spPr>
        <p:txBody>
          <a:bodyPr wrap="square" rtlCol="0" anchor="t"/>
          <a:lstStyle/>
          <a:p>
            <a:pPr indent="0" marL="0">
              <a:buNone/>
            </a:pPr>
            <a:r>
              <a:rPr lang="en-US" sz="1100" b="1" dirty="0">
                <a:solidFill>
                  <a:srgbClr val="1E2761"/>
                </a:solidFill>
                <a:latin typeface="Calibri" pitchFamily="34" charset="0"/>
                <a:ea typeface="Calibri" pitchFamily="34" charset="-122"/>
                <a:cs typeface="Calibri" pitchFamily="34" charset="-120"/>
              </a:rPr>
              <a:t>[1]</a:t>
            </a:r>
            <a:endParaRPr lang="en-US" sz="1100" dirty="0"/>
          </a:p>
        </p:txBody>
      </p:sp>
      <p:sp>
        <p:nvSpPr>
          <p:cNvPr id="6" name="Text 4"/>
          <p:cNvSpPr/>
          <p:nvPr/>
        </p:nvSpPr>
        <p:spPr>
          <a:xfrm>
            <a:off x="1005840" y="1801368"/>
            <a:ext cx="10607040" cy="411480"/>
          </a:xfrm>
          <a:prstGeom prst="rect">
            <a:avLst/>
          </a:prstGeom>
          <a:noFill/>
          <a:ln/>
        </p:spPr>
        <p:txBody>
          <a:bodyPr wrap="square" rtlCol="0" anchor="t"/>
          <a:lstStyle/>
          <a:p>
            <a:pPr indent="0" marL="0">
              <a:lnSpc>
                <a:spcPct val="102000"/>
              </a:lnSpc>
              <a:buNone/>
            </a:pPr>
            <a:r>
              <a:rPr lang="en-US" sz="1100" dirty="0">
                <a:solidFill>
                  <a:srgbClr val="2A2E35"/>
                </a:solidFill>
                <a:latin typeface="Calibri" pitchFamily="34" charset="0"/>
                <a:ea typeface="Calibri" pitchFamily="34" charset="-122"/>
                <a:cs typeface="Calibri" pitchFamily="34" charset="-120"/>
              </a:rPr>
              <a:t>G. Wang et al., “Hierarchical Reasoning Model,” arXiv:2506.21734, 2025.  </a:t>
            </a:r>
            <a:pPr indent="0" marL="0">
              <a:lnSpc>
                <a:spcPct val="102000"/>
              </a:lnSpc>
              <a:buNone/>
            </a:pPr>
            <a:r>
              <a:rPr lang="en-US" sz="1000" u="sng" dirty="0">
                <a:solidFill>
                  <a:srgbClr val="2F6FED"/>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https://arxiv.org/abs/2506.21734</a:t>
            </a:r>
            <a:endParaRPr lang="en-US" sz="1100" dirty="0"/>
          </a:p>
        </p:txBody>
      </p:sp>
      <p:sp>
        <p:nvSpPr>
          <p:cNvPr id="7" name="Text 5"/>
          <p:cNvSpPr/>
          <p:nvPr/>
        </p:nvSpPr>
        <p:spPr>
          <a:xfrm>
            <a:off x="548640" y="2240280"/>
            <a:ext cx="457200" cy="411480"/>
          </a:xfrm>
          <a:prstGeom prst="rect">
            <a:avLst/>
          </a:prstGeom>
          <a:noFill/>
          <a:ln/>
        </p:spPr>
        <p:txBody>
          <a:bodyPr wrap="square" rtlCol="0" anchor="t"/>
          <a:lstStyle/>
          <a:p>
            <a:pPr indent="0" marL="0">
              <a:buNone/>
            </a:pPr>
            <a:r>
              <a:rPr lang="en-US" sz="1100" b="1" dirty="0">
                <a:solidFill>
                  <a:srgbClr val="1E2761"/>
                </a:solidFill>
                <a:latin typeface="Calibri" pitchFamily="34" charset="0"/>
                <a:ea typeface="Calibri" pitchFamily="34" charset="-122"/>
                <a:cs typeface="Calibri" pitchFamily="34" charset="-120"/>
              </a:rPr>
              <a:t>[2]</a:t>
            </a:r>
            <a:endParaRPr lang="en-US" sz="1100" dirty="0"/>
          </a:p>
        </p:txBody>
      </p:sp>
      <p:sp>
        <p:nvSpPr>
          <p:cNvPr id="8" name="Text 6"/>
          <p:cNvSpPr/>
          <p:nvPr/>
        </p:nvSpPr>
        <p:spPr>
          <a:xfrm>
            <a:off x="1005840" y="2240280"/>
            <a:ext cx="10607040" cy="411480"/>
          </a:xfrm>
          <a:prstGeom prst="rect">
            <a:avLst/>
          </a:prstGeom>
          <a:noFill/>
          <a:ln/>
        </p:spPr>
        <p:txBody>
          <a:bodyPr wrap="square" rtlCol="0" anchor="t"/>
          <a:lstStyle/>
          <a:p>
            <a:pPr indent="0" marL="0">
              <a:lnSpc>
                <a:spcPct val="102000"/>
              </a:lnSpc>
              <a:buNone/>
            </a:pPr>
            <a:r>
              <a:rPr lang="en-US" sz="1100" dirty="0">
                <a:solidFill>
                  <a:srgbClr val="2A2E35"/>
                </a:solidFill>
                <a:latin typeface="Calibri" pitchFamily="34" charset="0"/>
                <a:ea typeface="Calibri" pitchFamily="34" charset="-122"/>
                <a:cs typeface="Calibri" pitchFamily="34" charset="-120"/>
              </a:rPr>
              <a:t>A. Jolicoeur-Martineau, “Less is More: Recursive Reasoning with Tiny Networks,” arXiv:2510.04871, 2025.  </a:t>
            </a:r>
            <a:pPr indent="0" marL="0">
              <a:lnSpc>
                <a:spcPct val="102000"/>
              </a:lnSpc>
              <a:buNone/>
            </a:pPr>
            <a:r>
              <a:rPr lang="en-US" sz="1000" u="sng" dirty="0">
                <a:solidFill>
                  <a:srgbClr val="2F6FED"/>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https://arxiv.org/abs/2510.04871</a:t>
            </a:r>
            <a:endParaRPr lang="en-US" sz="1100" dirty="0"/>
          </a:p>
        </p:txBody>
      </p:sp>
      <p:sp>
        <p:nvSpPr>
          <p:cNvPr id="9" name="Text 7"/>
          <p:cNvSpPr/>
          <p:nvPr/>
        </p:nvSpPr>
        <p:spPr>
          <a:xfrm>
            <a:off x="548640" y="2679192"/>
            <a:ext cx="457200" cy="411480"/>
          </a:xfrm>
          <a:prstGeom prst="rect">
            <a:avLst/>
          </a:prstGeom>
          <a:noFill/>
          <a:ln/>
        </p:spPr>
        <p:txBody>
          <a:bodyPr wrap="square" rtlCol="0" anchor="t"/>
          <a:lstStyle/>
          <a:p>
            <a:pPr indent="0" marL="0">
              <a:buNone/>
            </a:pPr>
            <a:r>
              <a:rPr lang="en-US" sz="1100" b="1" dirty="0">
                <a:solidFill>
                  <a:srgbClr val="1E2761"/>
                </a:solidFill>
                <a:latin typeface="Calibri" pitchFamily="34" charset="0"/>
                <a:ea typeface="Calibri" pitchFamily="34" charset="-122"/>
                <a:cs typeface="Calibri" pitchFamily="34" charset="-120"/>
              </a:rPr>
              <a:t>[8]</a:t>
            </a:r>
            <a:endParaRPr lang="en-US" sz="1100" dirty="0"/>
          </a:p>
        </p:txBody>
      </p:sp>
      <p:sp>
        <p:nvSpPr>
          <p:cNvPr id="10" name="Text 8"/>
          <p:cNvSpPr/>
          <p:nvPr/>
        </p:nvSpPr>
        <p:spPr>
          <a:xfrm>
            <a:off x="1005840" y="2679192"/>
            <a:ext cx="10607040" cy="411480"/>
          </a:xfrm>
          <a:prstGeom prst="rect">
            <a:avLst/>
          </a:prstGeom>
          <a:noFill/>
          <a:ln/>
        </p:spPr>
        <p:txBody>
          <a:bodyPr wrap="square" rtlCol="0" anchor="t"/>
          <a:lstStyle/>
          <a:p>
            <a:pPr indent="0" marL="0">
              <a:lnSpc>
                <a:spcPct val="102000"/>
              </a:lnSpc>
              <a:buNone/>
            </a:pPr>
            <a:r>
              <a:rPr lang="en-US" sz="1100" dirty="0">
                <a:solidFill>
                  <a:srgbClr val="2A2E35"/>
                </a:solidFill>
                <a:latin typeface="Calibri" pitchFamily="34" charset="0"/>
                <a:ea typeface="Calibri" pitchFamily="34" charset="-122"/>
                <a:cs typeface="Calibri" pitchFamily="34" charset="-120"/>
              </a:rPr>
              <a:t>“Dynamical Systems Theory Behind a Hierarchical Reasoning Model,” arXiv preprint, 2025.</a:t>
            </a:r>
            <a:endParaRPr lang="en-US" sz="1100" dirty="0"/>
          </a:p>
        </p:txBody>
      </p:sp>
      <p:sp>
        <p:nvSpPr>
          <p:cNvPr id="11" name="Text 9"/>
          <p:cNvSpPr/>
          <p:nvPr/>
        </p:nvSpPr>
        <p:spPr>
          <a:xfrm>
            <a:off x="548640" y="3118104"/>
            <a:ext cx="457200" cy="411480"/>
          </a:xfrm>
          <a:prstGeom prst="rect">
            <a:avLst/>
          </a:prstGeom>
          <a:noFill/>
          <a:ln/>
        </p:spPr>
        <p:txBody>
          <a:bodyPr wrap="square" rtlCol="0" anchor="t"/>
          <a:lstStyle/>
          <a:p>
            <a:pPr indent="0" marL="0">
              <a:buNone/>
            </a:pPr>
            <a:r>
              <a:rPr lang="en-US" sz="1100" b="1" dirty="0">
                <a:solidFill>
                  <a:srgbClr val="1E2761"/>
                </a:solidFill>
                <a:latin typeface="Calibri" pitchFamily="34" charset="0"/>
                <a:ea typeface="Calibri" pitchFamily="34" charset="-122"/>
                <a:cs typeface="Calibri" pitchFamily="34" charset="-120"/>
              </a:rPr>
              <a:t>[9]</a:t>
            </a:r>
            <a:endParaRPr lang="en-US" sz="1100" dirty="0"/>
          </a:p>
        </p:txBody>
      </p:sp>
      <p:sp>
        <p:nvSpPr>
          <p:cNvPr id="12" name="Text 10"/>
          <p:cNvSpPr/>
          <p:nvPr/>
        </p:nvSpPr>
        <p:spPr>
          <a:xfrm>
            <a:off x="1005840" y="3118104"/>
            <a:ext cx="10607040" cy="411480"/>
          </a:xfrm>
          <a:prstGeom prst="rect">
            <a:avLst/>
          </a:prstGeom>
          <a:noFill/>
          <a:ln/>
        </p:spPr>
        <p:txBody>
          <a:bodyPr wrap="square" rtlCol="0" anchor="t"/>
          <a:lstStyle/>
          <a:p>
            <a:pPr indent="0" marL="0">
              <a:lnSpc>
                <a:spcPct val="102000"/>
              </a:lnSpc>
              <a:buNone/>
            </a:pPr>
            <a:r>
              <a:rPr lang="en-US" sz="1100" dirty="0">
                <a:solidFill>
                  <a:srgbClr val="2A2E35"/>
                </a:solidFill>
                <a:latin typeface="Calibri" pitchFamily="34" charset="0"/>
                <a:ea typeface="Calibri" pitchFamily="34" charset="-122"/>
                <a:cs typeface="Calibri" pitchFamily="34" charset="-120"/>
              </a:rPr>
              <a:t>“Form Follows Function: Recursive Stem Model,” arXiv preprint, 2025.</a:t>
            </a:r>
            <a:endParaRPr lang="en-US" sz="1100" dirty="0"/>
          </a:p>
        </p:txBody>
      </p:sp>
      <p:sp>
        <p:nvSpPr>
          <p:cNvPr id="13" name="Text 11"/>
          <p:cNvSpPr/>
          <p:nvPr/>
        </p:nvSpPr>
        <p:spPr>
          <a:xfrm>
            <a:off x="548640" y="3721608"/>
            <a:ext cx="10515600" cy="320040"/>
          </a:xfrm>
          <a:prstGeom prst="rect">
            <a:avLst/>
          </a:prstGeom>
          <a:noFill/>
          <a:ln/>
        </p:spPr>
        <p:txBody>
          <a:bodyPr wrap="square" rtlCol="0" anchor="ctr"/>
          <a:lstStyle/>
          <a:p>
            <a:pPr indent="0" marL="0">
              <a:buNone/>
            </a:pPr>
            <a:r>
              <a:rPr lang="en-US" sz="1300" b="1" dirty="0">
                <a:solidFill>
                  <a:srgbClr val="2F6FED"/>
                </a:solidFill>
                <a:latin typeface="Calibri" pitchFamily="34" charset="0"/>
                <a:ea typeface="Calibri" pitchFamily="34" charset="-122"/>
                <a:cs typeface="Calibri" pitchFamily="34" charset="-120"/>
              </a:rPr>
              <a:t>Mechanistic Interpretability</a:t>
            </a:r>
            <a:endParaRPr lang="en-US" sz="1300" dirty="0"/>
          </a:p>
        </p:txBody>
      </p:sp>
      <p:sp>
        <p:nvSpPr>
          <p:cNvPr id="14" name="Text 12"/>
          <p:cNvSpPr/>
          <p:nvPr/>
        </p:nvSpPr>
        <p:spPr>
          <a:xfrm>
            <a:off x="548640" y="4105656"/>
            <a:ext cx="457200" cy="411480"/>
          </a:xfrm>
          <a:prstGeom prst="rect">
            <a:avLst/>
          </a:prstGeom>
          <a:noFill/>
          <a:ln/>
        </p:spPr>
        <p:txBody>
          <a:bodyPr wrap="square" rtlCol="0" anchor="t"/>
          <a:lstStyle/>
          <a:p>
            <a:pPr indent="0" marL="0">
              <a:buNone/>
            </a:pPr>
            <a:r>
              <a:rPr lang="en-US" sz="1100" b="1" dirty="0">
                <a:solidFill>
                  <a:srgbClr val="1E2761"/>
                </a:solidFill>
                <a:latin typeface="Calibri" pitchFamily="34" charset="0"/>
                <a:ea typeface="Calibri" pitchFamily="34" charset="-122"/>
                <a:cs typeface="Calibri" pitchFamily="34" charset="-120"/>
              </a:rPr>
              <a:t>[3]</a:t>
            </a:r>
            <a:endParaRPr lang="en-US" sz="1100" dirty="0"/>
          </a:p>
        </p:txBody>
      </p:sp>
      <p:sp>
        <p:nvSpPr>
          <p:cNvPr id="15" name="Text 13"/>
          <p:cNvSpPr/>
          <p:nvPr/>
        </p:nvSpPr>
        <p:spPr>
          <a:xfrm>
            <a:off x="1005840" y="4105656"/>
            <a:ext cx="10607040" cy="411480"/>
          </a:xfrm>
          <a:prstGeom prst="rect">
            <a:avLst/>
          </a:prstGeom>
          <a:noFill/>
          <a:ln/>
        </p:spPr>
        <p:txBody>
          <a:bodyPr wrap="square" rtlCol="0" anchor="t"/>
          <a:lstStyle/>
          <a:p>
            <a:pPr indent="0" marL="0">
              <a:lnSpc>
                <a:spcPct val="102000"/>
              </a:lnSpc>
              <a:buNone/>
            </a:pPr>
            <a:r>
              <a:rPr lang="en-US" sz="1100" dirty="0">
                <a:solidFill>
                  <a:srgbClr val="2A2E35"/>
                </a:solidFill>
                <a:latin typeface="Calibri" pitchFamily="34" charset="0"/>
                <a:ea typeface="Calibri" pitchFamily="34" charset="-122"/>
                <a:cs typeface="Calibri" pitchFamily="34" charset="-120"/>
              </a:rPr>
              <a:t>J. Gleave et al., “Compact Proofs of Model Performance via Mechanistic Interpretability,” arXiv:2406.11779, 2024.  </a:t>
            </a:r>
            <a:pPr indent="0" marL="0">
              <a:lnSpc>
                <a:spcPct val="102000"/>
              </a:lnSpc>
              <a:buNone/>
            </a:pPr>
            <a:r>
              <a:rPr lang="en-US" sz="1000" u="sng" dirty="0">
                <a:solidFill>
                  <a:srgbClr val="2F6FED"/>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https://arxiv.org/abs/2406.11779</a:t>
            </a:r>
            <a:endParaRPr lang="en-US" sz="1100" dirty="0"/>
          </a:p>
        </p:txBody>
      </p:sp>
      <p:sp>
        <p:nvSpPr>
          <p:cNvPr id="16" name="Text 14"/>
          <p:cNvSpPr/>
          <p:nvPr/>
        </p:nvSpPr>
        <p:spPr>
          <a:xfrm>
            <a:off x="548640" y="4544568"/>
            <a:ext cx="457200" cy="411480"/>
          </a:xfrm>
          <a:prstGeom prst="rect">
            <a:avLst/>
          </a:prstGeom>
          <a:noFill/>
          <a:ln/>
        </p:spPr>
        <p:txBody>
          <a:bodyPr wrap="square" rtlCol="0" anchor="t"/>
          <a:lstStyle/>
          <a:p>
            <a:pPr indent="0" marL="0">
              <a:buNone/>
            </a:pPr>
            <a:r>
              <a:rPr lang="en-US" sz="1100" b="1" dirty="0">
                <a:solidFill>
                  <a:srgbClr val="1E2761"/>
                </a:solidFill>
                <a:latin typeface="Calibri" pitchFamily="34" charset="0"/>
                <a:ea typeface="Calibri" pitchFamily="34" charset="-122"/>
                <a:cs typeface="Calibri" pitchFamily="34" charset="-120"/>
              </a:rPr>
              <a:t>[4]</a:t>
            </a:r>
            <a:endParaRPr lang="en-US" sz="1100" dirty="0"/>
          </a:p>
        </p:txBody>
      </p:sp>
      <p:sp>
        <p:nvSpPr>
          <p:cNvPr id="17" name="Text 15"/>
          <p:cNvSpPr/>
          <p:nvPr/>
        </p:nvSpPr>
        <p:spPr>
          <a:xfrm>
            <a:off x="1005840" y="4544568"/>
            <a:ext cx="10607040" cy="411480"/>
          </a:xfrm>
          <a:prstGeom prst="rect">
            <a:avLst/>
          </a:prstGeom>
          <a:noFill/>
          <a:ln/>
        </p:spPr>
        <p:txBody>
          <a:bodyPr wrap="square" rtlCol="0" anchor="t"/>
          <a:lstStyle/>
          <a:p>
            <a:pPr indent="0" marL="0">
              <a:lnSpc>
                <a:spcPct val="102000"/>
              </a:lnSpc>
              <a:buNone/>
            </a:pPr>
            <a:r>
              <a:rPr lang="en-US" sz="1100" dirty="0">
                <a:solidFill>
                  <a:srgbClr val="2A2E35"/>
                </a:solidFill>
                <a:latin typeface="Calibri" pitchFamily="34" charset="0"/>
                <a:ea typeface="Calibri" pitchFamily="34" charset="-122"/>
                <a:cs typeface="Calibri" pitchFamily="34" charset="-120"/>
              </a:rPr>
              <a:t>N. Elhage et al., “Toy Models of Superposition,” arXiv:2209.10652, 2022.  </a:t>
            </a:r>
            <a:pPr indent="0" marL="0">
              <a:lnSpc>
                <a:spcPct val="102000"/>
              </a:lnSpc>
              <a:buNone/>
            </a:pPr>
            <a:r>
              <a:rPr lang="en-US" sz="1000" u="sng" dirty="0">
                <a:solidFill>
                  <a:srgbClr val="2F6FED"/>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https://arxiv.org/abs/2209.10652</a:t>
            </a:r>
            <a:endParaRPr lang="en-US" sz="1100" dirty="0"/>
          </a:p>
        </p:txBody>
      </p:sp>
      <p:sp>
        <p:nvSpPr>
          <p:cNvPr id="18" name="Text 16"/>
          <p:cNvSpPr/>
          <p:nvPr/>
        </p:nvSpPr>
        <p:spPr>
          <a:xfrm>
            <a:off x="548640" y="4983480"/>
            <a:ext cx="457200" cy="411480"/>
          </a:xfrm>
          <a:prstGeom prst="rect">
            <a:avLst/>
          </a:prstGeom>
          <a:noFill/>
          <a:ln/>
        </p:spPr>
        <p:txBody>
          <a:bodyPr wrap="square" rtlCol="0" anchor="t"/>
          <a:lstStyle/>
          <a:p>
            <a:pPr indent="0" marL="0">
              <a:buNone/>
            </a:pPr>
            <a:r>
              <a:rPr lang="en-US" sz="1100" b="1" dirty="0">
                <a:solidFill>
                  <a:srgbClr val="1E2761"/>
                </a:solidFill>
                <a:latin typeface="Calibri" pitchFamily="34" charset="0"/>
                <a:ea typeface="Calibri" pitchFamily="34" charset="-122"/>
                <a:cs typeface="Calibri" pitchFamily="34" charset="-120"/>
              </a:rPr>
              <a:t>[5]</a:t>
            </a:r>
            <a:endParaRPr lang="en-US" sz="1100" dirty="0"/>
          </a:p>
        </p:txBody>
      </p:sp>
      <p:sp>
        <p:nvSpPr>
          <p:cNvPr id="19" name="Text 17"/>
          <p:cNvSpPr/>
          <p:nvPr/>
        </p:nvSpPr>
        <p:spPr>
          <a:xfrm>
            <a:off x="1005840" y="4983480"/>
            <a:ext cx="10607040" cy="411480"/>
          </a:xfrm>
          <a:prstGeom prst="rect">
            <a:avLst/>
          </a:prstGeom>
          <a:noFill/>
          <a:ln/>
        </p:spPr>
        <p:txBody>
          <a:bodyPr wrap="square" rtlCol="0" anchor="t"/>
          <a:lstStyle/>
          <a:p>
            <a:pPr indent="0" marL="0">
              <a:lnSpc>
                <a:spcPct val="102000"/>
              </a:lnSpc>
              <a:buNone/>
            </a:pPr>
            <a:r>
              <a:rPr lang="en-US" sz="1100" dirty="0">
                <a:solidFill>
                  <a:srgbClr val="2A2E35"/>
                </a:solidFill>
                <a:latin typeface="Calibri" pitchFamily="34" charset="0"/>
                <a:ea typeface="Calibri" pitchFamily="34" charset="-122"/>
                <a:cs typeface="Calibri" pitchFamily="34" charset="-120"/>
              </a:rPr>
              <a:t>A. Templeton et al., “Towards Monosemanticity: Decomposing Language Models with Dictionary Learning,” arXiv:2309.08600, 2023.  </a:t>
            </a:r>
            <a:pPr indent="0" marL="0">
              <a:lnSpc>
                <a:spcPct val="102000"/>
              </a:lnSpc>
              <a:buNone/>
            </a:pPr>
            <a:r>
              <a:rPr lang="en-US" sz="1000" u="sng" dirty="0">
                <a:solidFill>
                  <a:srgbClr val="2F6FED"/>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https://arxiv.org/abs/2309.08600</a:t>
            </a:r>
            <a:endParaRPr lang="en-US" sz="1100" dirty="0"/>
          </a:p>
        </p:txBody>
      </p:sp>
      <p:sp>
        <p:nvSpPr>
          <p:cNvPr id="20" name="Text 18"/>
          <p:cNvSpPr/>
          <p:nvPr/>
        </p:nvSpPr>
        <p:spPr>
          <a:xfrm>
            <a:off x="548640" y="5422392"/>
            <a:ext cx="457200" cy="411480"/>
          </a:xfrm>
          <a:prstGeom prst="rect">
            <a:avLst/>
          </a:prstGeom>
          <a:noFill/>
          <a:ln/>
        </p:spPr>
        <p:txBody>
          <a:bodyPr wrap="square" rtlCol="0" anchor="t"/>
          <a:lstStyle/>
          <a:p>
            <a:pPr indent="0" marL="0">
              <a:buNone/>
            </a:pPr>
            <a:r>
              <a:rPr lang="en-US" sz="1100" b="1" dirty="0">
                <a:solidFill>
                  <a:srgbClr val="1E2761"/>
                </a:solidFill>
                <a:latin typeface="Calibri" pitchFamily="34" charset="0"/>
                <a:ea typeface="Calibri" pitchFamily="34" charset="-122"/>
                <a:cs typeface="Calibri" pitchFamily="34" charset="-120"/>
              </a:rPr>
              <a:t>[6]</a:t>
            </a:r>
            <a:endParaRPr lang="en-US" sz="1100" dirty="0"/>
          </a:p>
        </p:txBody>
      </p:sp>
      <p:sp>
        <p:nvSpPr>
          <p:cNvPr id="21" name="Text 19"/>
          <p:cNvSpPr/>
          <p:nvPr/>
        </p:nvSpPr>
        <p:spPr>
          <a:xfrm>
            <a:off x="1005840" y="5422392"/>
            <a:ext cx="10607040" cy="411480"/>
          </a:xfrm>
          <a:prstGeom prst="rect">
            <a:avLst/>
          </a:prstGeom>
          <a:noFill/>
          <a:ln/>
        </p:spPr>
        <p:txBody>
          <a:bodyPr wrap="square" rtlCol="0" anchor="t"/>
          <a:lstStyle/>
          <a:p>
            <a:pPr indent="0" marL="0">
              <a:lnSpc>
                <a:spcPct val="102000"/>
              </a:lnSpc>
              <a:buNone/>
            </a:pPr>
            <a:r>
              <a:rPr lang="en-US" sz="1100" dirty="0">
                <a:solidFill>
                  <a:srgbClr val="2A2E35"/>
                </a:solidFill>
                <a:latin typeface="Calibri" pitchFamily="34" charset="0"/>
                <a:ea typeface="Calibri" pitchFamily="34" charset="-122"/>
                <a:cs typeface="Calibri" pitchFamily="34" charset="-120"/>
              </a:rPr>
              <a:t>H. Cunningham et al., “Sparse Autoencoders Find Highly Interpretable Features in Language Models,” arXiv, 2023.</a:t>
            </a:r>
            <a:endParaRPr lang="en-US" sz="1100" dirty="0"/>
          </a:p>
        </p:txBody>
      </p:sp>
      <p:sp>
        <p:nvSpPr>
          <p:cNvPr id="22" name="Text 20"/>
          <p:cNvSpPr/>
          <p:nvPr/>
        </p:nvSpPr>
        <p:spPr>
          <a:xfrm>
            <a:off x="548640" y="5861304"/>
            <a:ext cx="457200" cy="411480"/>
          </a:xfrm>
          <a:prstGeom prst="rect">
            <a:avLst/>
          </a:prstGeom>
          <a:noFill/>
          <a:ln/>
        </p:spPr>
        <p:txBody>
          <a:bodyPr wrap="square" rtlCol="0" anchor="t"/>
          <a:lstStyle/>
          <a:p>
            <a:pPr indent="0" marL="0">
              <a:buNone/>
            </a:pPr>
            <a:r>
              <a:rPr lang="en-US" sz="1100" b="1" dirty="0">
                <a:solidFill>
                  <a:srgbClr val="1E2761"/>
                </a:solidFill>
                <a:latin typeface="Calibri" pitchFamily="34" charset="0"/>
                <a:ea typeface="Calibri" pitchFamily="34" charset="-122"/>
                <a:cs typeface="Calibri" pitchFamily="34" charset="-120"/>
              </a:rPr>
              <a:t>[7]</a:t>
            </a:r>
            <a:endParaRPr lang="en-US" sz="1100" dirty="0"/>
          </a:p>
        </p:txBody>
      </p:sp>
      <p:sp>
        <p:nvSpPr>
          <p:cNvPr id="23" name="Text 21"/>
          <p:cNvSpPr/>
          <p:nvPr/>
        </p:nvSpPr>
        <p:spPr>
          <a:xfrm>
            <a:off x="1005840" y="5861304"/>
            <a:ext cx="10607040" cy="411480"/>
          </a:xfrm>
          <a:prstGeom prst="rect">
            <a:avLst/>
          </a:prstGeom>
          <a:noFill/>
          <a:ln/>
        </p:spPr>
        <p:txBody>
          <a:bodyPr wrap="square" rtlCol="0" anchor="t"/>
          <a:lstStyle/>
          <a:p>
            <a:pPr indent="0" marL="0">
              <a:lnSpc>
                <a:spcPct val="102000"/>
              </a:lnSpc>
              <a:buNone/>
            </a:pPr>
            <a:r>
              <a:rPr lang="en-US" sz="1100" dirty="0">
                <a:solidFill>
                  <a:srgbClr val="2A2E35"/>
                </a:solidFill>
                <a:latin typeface="Calibri" pitchFamily="34" charset="0"/>
                <a:ea typeface="Calibri" pitchFamily="34" charset="-122"/>
                <a:cs typeface="Calibri" pitchFamily="34" charset="-120"/>
              </a:rPr>
              <a:t>N. Elhage et al., “A Mathematical Framework for Transformer Circuits,” Transformer Circuits Thread, 2021.  </a:t>
            </a:r>
            <a:pPr indent="0" marL="0">
              <a:lnSpc>
                <a:spcPct val="102000"/>
              </a:lnSpc>
              <a:buNone/>
            </a:pPr>
            <a:r>
              <a:rPr lang="en-US" sz="1000" u="sng" dirty="0">
                <a:solidFill>
                  <a:srgbClr val="2F6FED"/>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https://transformer-circuits.pub/</a:t>
            </a:r>
            <a:endParaRPr lang="en-US" sz="1100" dirty="0"/>
          </a:p>
        </p:txBody>
      </p:sp>
      <p:sp>
        <p:nvSpPr>
          <p:cNvPr id="24" name="Text 22"/>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961120" y="-1828800"/>
            <a:ext cx="5486400" cy="5486400"/>
          </a:xfrm>
          <a:prstGeom prst="ellipse">
            <a:avLst/>
          </a:prstGeom>
          <a:solidFill>
            <a:srgbClr val="222B63"/>
          </a:solidFill>
          <a:ln/>
        </p:spPr>
      </p:sp>
      <p:pic>
        <p:nvPicPr>
          <p:cNvPr id="3" name="Image 0" descr="/home/claude/icons_white/brain.png">    </p:cNvPr>
          <p:cNvPicPr>
            <a:picLocks noChangeAspect="1"/>
          </p:cNvPicPr>
          <p:nvPr/>
        </p:nvPicPr>
        <p:blipFill>
          <a:blip r:embed="rId1"/>
          <a:stretch>
            <a:fillRect/>
          </a:stretch>
        </p:blipFill>
        <p:spPr>
          <a:xfrm>
            <a:off x="5623560" y="2103120"/>
            <a:ext cx="914400" cy="914400"/>
          </a:xfrm>
          <a:prstGeom prst="rect">
            <a:avLst/>
          </a:prstGeom>
        </p:spPr>
      </p:pic>
      <p:sp>
        <p:nvSpPr>
          <p:cNvPr id="4" name="Text 1"/>
          <p:cNvSpPr/>
          <p:nvPr/>
        </p:nvSpPr>
        <p:spPr>
          <a:xfrm>
            <a:off x="0" y="3200400"/>
            <a:ext cx="12188952" cy="914400"/>
          </a:xfrm>
          <a:prstGeom prst="rect">
            <a:avLst/>
          </a:prstGeom>
          <a:noFill/>
          <a:ln/>
        </p:spPr>
        <p:txBody>
          <a:bodyPr wrap="square"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5" name="Text 2"/>
          <p:cNvSpPr/>
          <p:nvPr/>
        </p:nvSpPr>
        <p:spPr>
          <a:xfrm>
            <a:off x="0" y="4069080"/>
            <a:ext cx="12188952" cy="457200"/>
          </a:xfrm>
          <a:prstGeom prst="rect">
            <a:avLst/>
          </a:prstGeom>
          <a:noFill/>
          <a:ln/>
        </p:spPr>
        <p:txBody>
          <a:bodyPr wrap="square" rtlCol="0" anchor="ctr"/>
          <a:lstStyle/>
          <a:p>
            <a:pPr algn="ctr" indent="0" marL="0">
              <a:buNone/>
            </a:pPr>
            <a:r>
              <a:rPr lang="en-US" sz="1600" i="1" dirty="0">
                <a:solidFill>
                  <a:srgbClr val="CADCFC"/>
                </a:solidFill>
                <a:latin typeface="Calibri" pitchFamily="34" charset="0"/>
                <a:ea typeface="Calibri" pitchFamily="34" charset="-122"/>
                <a:cs typeface="Calibri" pitchFamily="34" charset="-120"/>
              </a:rPr>
              <a:t>Questions &amp; Discussion</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2026-07-12T18:31:37Z</dcterms:created>
  <dcterms:modified xsi:type="dcterms:W3CDTF">2026-07-12T18:31:37Z</dcterms:modified>
</cp:coreProperties>
</file>